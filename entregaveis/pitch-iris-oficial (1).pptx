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sldIdLst>
    <p:sldId id="287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</p:sldIdLst>
  <p:sldSz cx="12192000" cy="6858000"/>
  <p:notesSz cx="6858000" cy="9144000"/>
  <p:embeddedFontLst>
    <p:embeddedFont>
      <p:font typeface="Outfit" panose="020B0604020202020204" charset="0"/>
      <p:regular r:id="rId13"/>
      <p:bold r:id="rId14"/>
    </p:embeddedFont>
    <p:embeddedFont>
      <p:font typeface="Outfit Medium" panose="020B0604020202020204" charset="0"/>
      <p:regular r:id="rId15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Outfi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Outfi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Outfi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Outfi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Outfi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Outfi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Outfi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Outfi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Outfi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1727"/>
    <a:srgbClr val="FFFFFF"/>
    <a:srgbClr val="03AFEF"/>
    <a:srgbClr val="9C4860"/>
    <a:srgbClr val="6D9A00"/>
    <a:srgbClr val="42A7B3"/>
    <a:srgbClr val="06A6D1"/>
    <a:srgbClr val="00618A"/>
    <a:srgbClr val="E2C808"/>
    <a:srgbClr val="F7E0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90" dt="2026-10-18T15:03:47.256"/>
    <p1510:client id="{1FCA576A-F7F3-9441-ED7F-56718C4A0548}" v="32" dt="2026-10-18T05:59:43.802"/>
    <p1510:client id="{608B39A1-8CAB-4A80-9AB4-EA49AE274A47}" v="773" dt="2026-10-18T15:05:59.910"/>
    <p1510:client id="{96C20FD5-7D9F-08BD-2246-45A0C330F978}" v="3" dt="2026-10-18T13:39:58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>
        <a:latin typeface="Outfit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[Sem fala: a capa fica na tela enquanto a dupla se posiciona.]</a:t>
            </a:r>
          </a:p>
          <a:p>
            <a:endParaRPr/>
          </a:p>
          <a:p>
            <a:r>
              <a:t>Quem narra: abre direto no gancho do slide 2, sem 'bom dia, somos o grupo...'.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GANCHO (0:00–0:30)</a:t>
            </a:r>
          </a:p>
          <a:p>
            <a:endParaRPr/>
          </a:p>
          <a:p>
            <a:r>
              <a:t>"Meio-dia, grupo do trabalho: 'bora pedir?'. Vinte mensagens depois, um quer hambúrguer, outra é vegetariana, e a Bia não fala nada, porque só tem 30 reais e não quer dizer isso na frente de todo mundo. No fim, alguém abre o iFood sozinho, monta o carrinho de todo mundo, paga e passa a semana cobrando Pix."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PROBLEMA (0:30–1:00)</a:t>
            </a:r>
          </a:p>
          <a:p>
            <a:endParaRPr/>
          </a:p>
          <a:p>
            <a:r>
              <a:t>"Pedido em grupo tem quatro dores: ninguém decide, as restrições se chocam, ninguém fala de dinheiro em público e uma pessoa vira secretária do grupo. O iFood resolve muito bem o carrinho de uma pessoa. A conversa do grupo ninguém resolve."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SOLUÇÃO (1:00–1:25)</a:t>
            </a:r>
          </a:p>
          <a:p>
            <a:endParaRPr/>
          </a:p>
          <a:p>
            <a:r>
              <a:t>"A Íris é uma agente que vende pelo iFood dentro da conversa. Ela entra no grupo do Telegram, entende o que cada um escreve do seu jeito e consulta o iFood ao vivo pelo MCP: lojas abertas no seu endereço, cardápio, preço, frete e taxa de serviço. Ela monta o pedido do grupo em no máximo duas lojas, mostra quanto cada pessoa paga e, quando o organizador confirma, entrega o carrinho pronto no iFood. A IA entende o grupo, o iFood traz o cardápio real, o código cuida do dinheiro e a pessoa decide."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DEMO AO VIVO (1:25–3:25) · quem pilota troca para o Telegram Desktop</a:t>
            </a:r>
          </a:p>
          <a:p>
            <a:endParaRPr/>
          </a:p>
          <a:p>
            <a:r>
              <a:t>1. Ana: "@foodjam_bot bora pedir?" → [Sim] no privado. Fala: "Aqui a Íris já validou o endereço no iFood."</a:t>
            </a:r>
          </a:p>
          <a:p>
            <a:r>
              <a:t>2. Colar as três mensagens (aparece 👍 em cada uma):</a:t>
            </a:r>
          </a:p>
          <a:p>
            <a:r>
              <a:t>   Caio: "quero um x-bacon" · Ana: "pra mim um x-salada" · Bia: "sou vegetariana, quero um burger sem carne até 30 reais"</a:t>
            </a:r>
          </a:p>
          <a:p>
            <a:r>
              <a:t>3. Ana manda /montar → card. Fala: "São lojas reais, abertas agora, com preço, frete e taxa do iFood, divididos ao centavo. A Bia aparece só como 'aguardando'."</a:t>
            </a:r>
          </a:p>
          <a:p>
            <a:r>
              <a:t>4. Celular da Bia em close: "Seu pedido fica em R$ X… Pode ser?" → [Aceito]. Fala: "Ninguém no grupo viu o limite dela."</a:t>
            </a:r>
          </a:p>
          <a:p>
            <a:r>
              <a:t>5. Ana toca em ✅ Confirmar pedido. Fala: "Um grupo inteiro, um carrinho, menos de dois minutos."</a:t>
            </a:r>
          </a:p>
          <a:p>
            <a:r>
              <a:t>6. Se sobrar tempo: Caio escreve "troca o meu por batata frita" → card novo.</a:t>
            </a:r>
          </a:p>
          <a:p>
            <a:endParaRPr/>
          </a:p>
          <a:p>
            <a:r>
              <a:t>PLANO B: se a rede falhar, rodar o vídeo gravado sem pedir desculpas.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POR QUE DÁ PARA CONFIAR (3:25–4:05)</a:t>
            </a:r>
          </a:p>
          <a:p>
            <a:endParaRPr/>
          </a:p>
          <a:p>
            <a:r>
              <a:t>• "Tudo o que aparece vem do iFood: nada de cardápio inventado. Preço, frete e taxa de serviço são cotados no MCP."</a:t>
            </a:r>
          </a:p>
          <a:p>
            <a:r>
              <a:t>• "A IA nunca calcula valor. O rateio é feito em código, em centavos inteiros, e fecha exatamente com o total do iFood."</a:t>
            </a:r>
          </a:p>
          <a:p>
            <a:r>
              <a:t>• "Restrição alimentar é regra dura: item com carne nem chega ao modelo para quem é vegetariano."</a:t>
            </a:r>
          </a:p>
          <a:p>
            <a:r>
              <a:t>• "O orçamento de cada um nunca entra no prompt e nunca aparece no grupo."</a:t>
            </a:r>
          </a:p>
          <a:p>
            <a:r>
              <a:t>• "Na hora do clique, a Íris consulta o iFood de novo. Se a taxa mudou ou um item acabou, ela avisa em vez de fechar. E clicar duas vezes não gera dois pedidos."</a:t>
            </a:r>
          </a:p>
          <a:p>
            <a:r>
              <a:t>• "Juntar as mensagens do grupo em lote gasta 70% menos tokens. A coleta responde em 441 ms, e temos mais de 600 testes automatizados."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VALOR PARA O IFOOD (4:05–4:40)</a:t>
            </a:r>
          </a:p>
          <a:p>
            <a:endParaRPr/>
          </a:p>
          <a:p>
            <a:r>
              <a:t>"Para o iFood, cada conversa de grupo vira um pedido maior: várias pessoas num carrinho só, gente que nem ia abrir o app entrando pelo chat e lojas que batem o pedido mínimo com folga. E usamos o MCP de verdade, a ponto de trazer cinco feedbacks concretos para o time de engenharia, como a divergência de total no carrinho que encontramos. O MCP do iFood já permite que um agente venda. A Íris mostra como vender para um grupo."</a:t>
            </a:r>
          </a:p>
          <a:p>
            <a:endParaRPr/>
          </a:p>
          <a:p>
            <a:r>
              <a:t>DADO DE MERCADO (Cerca de 25 milhões): fonte iFood, release publicado em 08/12/2025, com dados referentes a novembro de 2025. O texto atribui cerca de 25 milhões de pedidos a aplicativos de mensagens instantâneas no ecossistema iFood. O dado não mede pedidos em grupo especificamente nem representa tração da Íris.</a:t>
            </a:r>
          </a:p>
          <a:p>
            <a:r>
              <a:t>https://institucional.ifood.com.br/releases/ifood-bate-novo-recorde-no-mes-de-novembro-com-180-milhoes-de-pedidos-totais/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FECHAMENTO (4:40–5:00)</a:t>
            </a:r>
          </a:p>
          <a:p>
            <a:endParaRPr/>
          </a:p>
          <a:p>
            <a:r>
              <a:t>"Pedir comida em grupo deveria ser o momento bom do dia. Com a Íris, a conversa já é o pedido no iFood: a IA entende, o código garante, e vocês decidem."</a:t>
            </a:r>
          </a:p>
          <a:p>
            <a:endParaRPr/>
          </a:p>
          <a:p>
            <a:r>
              <a:t>Terminar na frase. Não dizer "é isso, obrigado".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APÊNDICE · use só se a banca perguntar sobre arquitetura.</a:t>
            </a:r>
          </a:p>
          <a:p>
            <a:endParaRPr/>
          </a:p>
          <a:p>
            <a:r>
              <a:t>O core fala com o iFood por uma porta própria (CatalogPort), então o MCP pode evoluir sem quebrar a agente. A IA tem uma cascata de provedores: se um cair, o próximo assume na mesma chamada.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APÊNDICE · respostas curtas para a banca. Não precisa projetar; serve de cola.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89750-C49F-45B8-AFC9-34B59B312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61A93E-35DD-45FF-B08A-F67C8ADDE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0B1F2C-1CB6-4888-9F6E-DC404487C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5C1C-A832-4D16-AE46-5F7C1B4FF66D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0FC7FD-5817-4D73-9327-F00CC3F51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96D904-7A1F-42A3-94B0-1C796972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8E53-14BD-48C9-9736-44FA237FA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466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C51ABD-AD2A-4DDD-B155-1EB4B6568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B74A84-5BF5-4E1F-BC77-721A623DA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3DD278-326B-4CC9-BF74-63E1C6367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5C1C-A832-4D16-AE46-5F7C1B4FF66D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212958-FD82-4761-8FD4-193AF2A79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23A13C-C588-4FF4-B31B-96C2D5F88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8E53-14BD-48C9-9736-44FA237FA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9476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95869-10BF-4A72-BC78-9657A7CE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3AB318-3DE3-49AC-BD40-01A909DEB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CDF8BA-7828-4820-A436-7FDFBBCA9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5C1C-A832-4D16-AE46-5F7C1B4FF66D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B61134-1FB4-47FB-ADB7-E678B29F7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5A687B-82A7-4AF6-9010-76C60FFE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8E53-14BD-48C9-9736-44FA237FA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6568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F65D2E-166F-423D-961C-079C471B2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7C6F92-D9E5-4C1E-AB80-7D679D77A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EF42CC-EA2C-4302-9BD5-FDB9D5334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DA7E3E-63C7-4348-AE8C-35409EC41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5C1C-A832-4D16-AE46-5F7C1B4FF66D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C217D6-D0AD-470F-85A0-D3A2A053E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1A1D2D9-AD6C-4C8A-B95C-39E5C80B0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8E53-14BD-48C9-9736-44FA237FA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391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DED32D-AC60-4B0F-929C-0C1227445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12BF31-3AF7-4FB3-B192-FA90990A3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16BE0D1-19DF-4D3D-AB01-FA954A879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564C76F-CC4F-49D3-A3BC-1647FDDE24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76D4969-F1C7-43EF-A42F-CDDC4FBC79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9D1238-D325-4FC6-ADE0-6B752B793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5C1C-A832-4D16-AE46-5F7C1B4FF66D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414AA14-9D63-439B-9AB0-7A52B351F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10AB3B2-6CDD-41ED-B49F-4BB2B330D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8E53-14BD-48C9-9736-44FA237FA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9006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EAA3D4-E238-494C-991B-BF0C8ACD5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C8F3C6D-BA01-4FDA-848C-B8907D349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5C1C-A832-4D16-AE46-5F7C1B4FF66D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78EE5C0-05E9-45A6-98CB-DDF5BCD1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31B528D-CD64-4DF0-8A4F-9DA771936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8E53-14BD-48C9-9736-44FA237FA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3813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F602978-B652-4A81-BBC2-04F4CA9DB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5C1C-A832-4D16-AE46-5F7C1B4FF66D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EECCEF-37FB-42A9-B9F1-A9155A1E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3C530A-5405-4FFE-953C-A18E51D49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8E53-14BD-48C9-9736-44FA237FA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3844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94628-126D-4546-AFF7-1E3B5D375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5772DF-140B-44C2-A232-CFC5E53C6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D164F6-EB17-4BD2-9DA7-E61FD4A02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F85512-A3CB-46C2-857E-B1F10759E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5C1C-A832-4D16-AE46-5F7C1B4FF66D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186F34-33DA-49D8-B096-0A7A4DFEF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443FEA-FBD4-4819-8CE9-DAFD530F4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8E53-14BD-48C9-9736-44FA237FA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816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AA76A6-36F0-496B-9664-1382CA20D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F167142-8691-4973-996F-5C7CE75B00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67A5F4-7D30-4F76-B281-0F53E6378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8AF96C-08C3-4D7D-A93C-44AA7304D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5C1C-A832-4D16-AE46-5F7C1B4FF66D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2276139-3850-4CAF-8C09-0BD0022F2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E05069-1359-45F9-93ED-24AD8C87B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8E53-14BD-48C9-9736-44FA237FA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893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D4B4B-C6A6-4DC6-9599-5E4713A1B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9B0FECC-898E-41FF-B644-FC2BA5110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BE9F2E-89A0-4AD9-BA99-8A5D57B62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5C1C-A832-4D16-AE46-5F7C1B4FF66D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073DD7-2566-4F55-B265-8FD346657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5E24DD-F18E-40B4-8B5C-C229D1E4C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8E53-14BD-48C9-9736-44FA237FA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0358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CCAFB82-6C64-4BB1-9E95-7CDF98FDE8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B153B7-BC7B-415D-A833-8578B0822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FDEE34-C968-48AA-8C56-3058D85B4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5C1C-A832-4D16-AE46-5F7C1B4FF66D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39E5FE-04AF-4F02-BACF-032A0822B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5D5070-0E6F-49F2-AB61-86785ADD4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8E53-14BD-48C9-9736-44FA237FA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6824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0AB87CB-A5D5-4A24-8AA2-76D05AC16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895F0A-65AB-4709-B823-A5B270D3E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24BB0C-0445-4ED8-BB8C-927AD75091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15C1C-A832-4D16-AE46-5F7C1B4FF66D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01A018-4E14-4880-928E-BAC7D2800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C07562-378B-493A-BEFD-FD65E2787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28E53-14BD-48C9-9736-44FA237FA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8804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utfi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utfi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utfi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utfi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utfi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utfi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utfi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utfi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utfi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utfi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Outfi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Outfi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Outfi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Outfi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Outfi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Outfi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Outfi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Outfi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Outfi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5.svg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135">
            <a:extLst>
              <a:ext uri="{FF2B5EF4-FFF2-40B4-BE49-F238E27FC236}">
                <a16:creationId xmlns:a16="http://schemas.microsoft.com/office/drawing/2014/main" id="{F34EBD64-6C6E-4358-A2E8-0025D54C872D}"/>
              </a:ext>
            </a:extLst>
          </p:cNvPr>
          <p:cNvSpPr/>
          <p:nvPr/>
        </p:nvSpPr>
        <p:spPr>
          <a:xfrm>
            <a:off x="-1" y="0"/>
            <a:ext cx="6823015" cy="6872514"/>
          </a:xfrm>
          <a:prstGeom prst="rect">
            <a:avLst/>
          </a:prstGeom>
          <a:solidFill>
            <a:srgbClr val="E52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13">
            <a:extLst>
              <a:ext uri="{FF2B5EF4-FFF2-40B4-BE49-F238E27FC236}">
                <a16:creationId xmlns:a16="http://schemas.microsoft.com/office/drawing/2014/main" id="{6B21E47A-202B-19EB-447C-7BCED1873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369" y="256474"/>
            <a:ext cx="612371" cy="580823"/>
          </a:xfrm>
          <a:prstGeom prst="rect">
            <a:avLst/>
          </a:prstGeom>
        </p:spPr>
      </p:pic>
      <p:sp>
        <p:nvSpPr>
          <p:cNvPr id="5" name="Forma Livre: Forma 1040">
            <a:extLst>
              <a:ext uri="{FF2B5EF4-FFF2-40B4-BE49-F238E27FC236}">
                <a16:creationId xmlns:a16="http://schemas.microsoft.com/office/drawing/2014/main" id="{3115B775-EA5E-473B-A22B-42393C8CEB85}"/>
              </a:ext>
            </a:extLst>
          </p:cNvPr>
          <p:cNvSpPr/>
          <p:nvPr/>
        </p:nvSpPr>
        <p:spPr>
          <a:xfrm>
            <a:off x="4596" y="0"/>
            <a:ext cx="3423392" cy="6879807"/>
          </a:xfrm>
          <a:custGeom>
            <a:avLst/>
            <a:gdLst>
              <a:gd name="connsiteX0" fmla="*/ 3423393 w 3423392"/>
              <a:gd name="connsiteY0" fmla="*/ 6847217 h 6847216"/>
              <a:gd name="connsiteX1" fmla="*/ 0 w 3423392"/>
              <a:gd name="connsiteY1" fmla="*/ 3423393 h 6847216"/>
              <a:gd name="connsiteX2" fmla="*/ 3423393 w 3423392"/>
              <a:gd name="connsiteY2" fmla="*/ 0 h 6847216"/>
              <a:gd name="connsiteX3" fmla="*/ 3423393 w 3423392"/>
              <a:gd name="connsiteY3" fmla="*/ 6847217 h 6847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392" h="6847216">
                <a:moveTo>
                  <a:pt x="3423393" y="6847217"/>
                </a:moveTo>
                <a:cubicBezTo>
                  <a:pt x="1532914" y="6847217"/>
                  <a:pt x="0" y="5314303"/>
                  <a:pt x="0" y="3423393"/>
                </a:cubicBezTo>
                <a:cubicBezTo>
                  <a:pt x="0" y="1532483"/>
                  <a:pt x="1532914" y="0"/>
                  <a:pt x="3423393" y="0"/>
                </a:cubicBezTo>
                <a:lnTo>
                  <a:pt x="3423393" y="6847217"/>
                </a:lnTo>
                <a:close/>
              </a:path>
            </a:pathLst>
          </a:custGeom>
          <a:solidFill>
            <a:schemeClr val="bg1"/>
          </a:solidFill>
          <a:ln w="43132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" name="Forma Livre: Forma 1041">
            <a:extLst>
              <a:ext uri="{FF2B5EF4-FFF2-40B4-BE49-F238E27FC236}">
                <a16:creationId xmlns:a16="http://schemas.microsoft.com/office/drawing/2014/main" id="{9A19B379-ED93-4C58-9609-09CF6FBBACDF}"/>
              </a:ext>
            </a:extLst>
          </p:cNvPr>
          <p:cNvSpPr/>
          <p:nvPr/>
        </p:nvSpPr>
        <p:spPr>
          <a:xfrm>
            <a:off x="3426263" y="0"/>
            <a:ext cx="3423392" cy="6879807"/>
          </a:xfrm>
          <a:custGeom>
            <a:avLst/>
            <a:gdLst>
              <a:gd name="connsiteX0" fmla="*/ 3423393 w 3423392"/>
              <a:gd name="connsiteY0" fmla="*/ 6847217 h 6847216"/>
              <a:gd name="connsiteX1" fmla="*/ 0 w 3423392"/>
              <a:gd name="connsiteY1" fmla="*/ 3423824 h 6847216"/>
              <a:gd name="connsiteX2" fmla="*/ 3423393 w 3423392"/>
              <a:gd name="connsiteY2" fmla="*/ 0 h 6847216"/>
              <a:gd name="connsiteX3" fmla="*/ 3423393 w 3423392"/>
              <a:gd name="connsiteY3" fmla="*/ 6847217 h 6847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392" h="6847216">
                <a:moveTo>
                  <a:pt x="3423393" y="6847217"/>
                </a:moveTo>
                <a:cubicBezTo>
                  <a:pt x="1532483" y="6847217"/>
                  <a:pt x="0" y="5314303"/>
                  <a:pt x="0" y="3423824"/>
                </a:cubicBezTo>
                <a:cubicBezTo>
                  <a:pt x="0" y="1533345"/>
                  <a:pt x="1532914" y="0"/>
                  <a:pt x="3423393" y="0"/>
                </a:cubicBezTo>
                <a:lnTo>
                  <a:pt x="3423393" y="6847217"/>
                </a:lnTo>
                <a:close/>
              </a:path>
            </a:pathLst>
          </a:custGeom>
          <a:solidFill>
            <a:srgbClr val="9F1727"/>
          </a:solidFill>
          <a:ln w="43132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7" name="Gráfico 1043">
            <a:extLst>
              <a:ext uri="{FF2B5EF4-FFF2-40B4-BE49-F238E27FC236}">
                <a16:creationId xmlns:a16="http://schemas.microsoft.com/office/drawing/2014/main" id="{EDD7AD2A-430B-4484-9313-731D70F305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8396" y="2176555"/>
            <a:ext cx="2911475" cy="2911475"/>
          </a:xfrm>
          <a:prstGeom prst="rect">
            <a:avLst/>
          </a:prstGeom>
        </p:spPr>
      </p:pic>
      <p:sp>
        <p:nvSpPr>
          <p:cNvPr id="8" name="Retângulo 1">
            <a:extLst>
              <a:ext uri="{FF2B5EF4-FFF2-40B4-BE49-F238E27FC236}">
                <a16:creationId xmlns:a16="http://schemas.microsoft.com/office/drawing/2014/main" id="{63B205DB-91F1-0AC2-EBCC-2A752835395F}"/>
              </a:ext>
            </a:extLst>
          </p:cNvPr>
          <p:cNvSpPr/>
          <p:nvPr/>
        </p:nvSpPr>
        <p:spPr>
          <a:xfrm>
            <a:off x="6827957" y="0"/>
            <a:ext cx="5364042" cy="68725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endParaRPr/>
          </a:p>
        </p:txBody>
      </p:sp>
      <p:grpSp>
        <p:nvGrpSpPr>
          <p:cNvPr id="9" name="Agrupar 29">
            <a:extLst>
              <a:ext uri="{FF2B5EF4-FFF2-40B4-BE49-F238E27FC236}">
                <a16:creationId xmlns:a16="http://schemas.microsoft.com/office/drawing/2014/main" id="{6BAEA2C9-B36E-45FC-9E0B-184F997BFDBA}"/>
              </a:ext>
            </a:extLst>
          </p:cNvPr>
          <p:cNvGrpSpPr/>
          <p:nvPr/>
        </p:nvGrpSpPr>
        <p:grpSpPr>
          <a:xfrm>
            <a:off x="10399404" y="5849904"/>
            <a:ext cx="1153521" cy="493946"/>
            <a:chOff x="-2941638" y="5251450"/>
            <a:chExt cx="1868488" cy="8001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8F76F6C-9854-41EB-A26E-58805EBC9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-2941638" y="5251450"/>
              <a:ext cx="1868488" cy="800100"/>
            </a:xfrm>
            <a:custGeom>
              <a:avLst/>
              <a:gdLst>
                <a:gd name="T0" fmla="*/ 1450 w 1844"/>
                <a:gd name="T1" fmla="*/ 788 h 788"/>
                <a:gd name="T2" fmla="*/ 394 w 1844"/>
                <a:gd name="T3" fmla="*/ 788 h 788"/>
                <a:gd name="T4" fmla="*/ 0 w 1844"/>
                <a:gd name="T5" fmla="*/ 394 h 788"/>
                <a:gd name="T6" fmla="*/ 0 w 1844"/>
                <a:gd name="T7" fmla="*/ 394 h 788"/>
                <a:gd name="T8" fmla="*/ 394 w 1844"/>
                <a:gd name="T9" fmla="*/ 0 h 788"/>
                <a:gd name="T10" fmla="*/ 1450 w 1844"/>
                <a:gd name="T11" fmla="*/ 0 h 788"/>
                <a:gd name="T12" fmla="*/ 1844 w 1844"/>
                <a:gd name="T13" fmla="*/ 394 h 788"/>
                <a:gd name="T14" fmla="*/ 1844 w 1844"/>
                <a:gd name="T15" fmla="*/ 394 h 788"/>
                <a:gd name="T16" fmla="*/ 1450 w 1844"/>
                <a:gd name="T17" fmla="*/ 788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44" h="788">
                  <a:moveTo>
                    <a:pt x="1450" y="788"/>
                  </a:moveTo>
                  <a:cubicBezTo>
                    <a:pt x="394" y="788"/>
                    <a:pt x="394" y="788"/>
                    <a:pt x="394" y="788"/>
                  </a:cubicBezTo>
                  <a:cubicBezTo>
                    <a:pt x="176" y="788"/>
                    <a:pt x="0" y="612"/>
                    <a:pt x="0" y="394"/>
                  </a:cubicBezTo>
                  <a:cubicBezTo>
                    <a:pt x="0" y="394"/>
                    <a:pt x="0" y="394"/>
                    <a:pt x="0" y="394"/>
                  </a:cubicBezTo>
                  <a:cubicBezTo>
                    <a:pt x="0" y="177"/>
                    <a:pt x="176" y="0"/>
                    <a:pt x="394" y="0"/>
                  </a:cubicBezTo>
                  <a:cubicBezTo>
                    <a:pt x="1450" y="0"/>
                    <a:pt x="1450" y="0"/>
                    <a:pt x="1450" y="0"/>
                  </a:cubicBezTo>
                  <a:cubicBezTo>
                    <a:pt x="1668" y="0"/>
                    <a:pt x="1844" y="177"/>
                    <a:pt x="1844" y="394"/>
                  </a:cubicBezTo>
                  <a:cubicBezTo>
                    <a:pt x="1844" y="394"/>
                    <a:pt x="1844" y="394"/>
                    <a:pt x="1844" y="394"/>
                  </a:cubicBezTo>
                  <a:cubicBezTo>
                    <a:pt x="1844" y="612"/>
                    <a:pt x="1668" y="788"/>
                    <a:pt x="1450" y="788"/>
                  </a:cubicBezTo>
                  <a:close/>
                </a:path>
              </a:pathLst>
            </a:custGeom>
            <a:noFill/>
            <a:ln w="28575" cap="rnd">
              <a:solidFill>
                <a:srgbClr val="9F1727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4CDB6CEE-BBD7-49DE-BE43-26F572FE3F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522538" y="5651500"/>
              <a:ext cx="1028700" cy="0"/>
            </a:xfrm>
            <a:prstGeom prst="line">
              <a:avLst/>
            </a:prstGeom>
            <a:noFill/>
            <a:ln w="28575" cap="rnd">
              <a:solidFill>
                <a:srgbClr val="9F1727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BAA424C0-DB25-4BCD-9E27-C98CC6DADA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-1673225" y="5495925"/>
              <a:ext cx="179388" cy="152400"/>
            </a:xfrm>
            <a:prstGeom prst="line">
              <a:avLst/>
            </a:prstGeom>
            <a:noFill/>
            <a:ln w="28575" cap="rnd">
              <a:solidFill>
                <a:srgbClr val="9F1727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A8AD32B7-BFCA-4EA0-A232-D51D184F21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1673225" y="5654675"/>
              <a:ext cx="179388" cy="152400"/>
            </a:xfrm>
            <a:prstGeom prst="line">
              <a:avLst/>
            </a:prstGeom>
            <a:noFill/>
            <a:ln w="28575" cap="rnd">
              <a:solidFill>
                <a:srgbClr val="9F1727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</p:grpSp>
      <p:sp>
        <p:nvSpPr>
          <p:cNvPr id="14" name="Freeform 17">
            <a:extLst>
              <a:ext uri="{FF2B5EF4-FFF2-40B4-BE49-F238E27FC236}">
                <a16:creationId xmlns:a16="http://schemas.microsoft.com/office/drawing/2014/main" id="{4D65007D-DF6C-43F9-B915-752E6C2CAB60}"/>
              </a:ext>
            </a:extLst>
          </p:cNvPr>
          <p:cNvSpPr>
            <a:spLocks noEditPoints="1"/>
          </p:cNvSpPr>
          <p:nvPr/>
        </p:nvSpPr>
        <p:spPr bwMode="auto">
          <a:xfrm rot="19800000">
            <a:off x="7296619" y="982180"/>
            <a:ext cx="5010121" cy="1252959"/>
          </a:xfrm>
          <a:custGeom>
            <a:avLst/>
            <a:gdLst>
              <a:gd name="T0" fmla="*/ 3076 w 3199"/>
              <a:gd name="T1" fmla="*/ 863 h 932"/>
              <a:gd name="T2" fmla="*/ 2862 w 3199"/>
              <a:gd name="T3" fmla="*/ 724 h 932"/>
              <a:gd name="T4" fmla="*/ 2707 w 3199"/>
              <a:gd name="T5" fmla="*/ 588 h 932"/>
              <a:gd name="T6" fmla="*/ 2482 w 3199"/>
              <a:gd name="T7" fmla="*/ 460 h 932"/>
              <a:gd name="T8" fmla="*/ 2225 w 3199"/>
              <a:gd name="T9" fmla="*/ 425 h 932"/>
              <a:gd name="T10" fmla="*/ 2126 w 3199"/>
              <a:gd name="T11" fmla="*/ 290 h 932"/>
              <a:gd name="T12" fmla="*/ 1881 w 3199"/>
              <a:gd name="T13" fmla="*/ 93 h 932"/>
              <a:gd name="T14" fmla="*/ 1671 w 3199"/>
              <a:gd name="T15" fmla="*/ 17 h 932"/>
              <a:gd name="T16" fmla="*/ 1453 w 3199"/>
              <a:gd name="T17" fmla="*/ 1 h 932"/>
              <a:gd name="T18" fmla="*/ 1242 w 3199"/>
              <a:gd name="T19" fmla="*/ 46 h 932"/>
              <a:gd name="T20" fmla="*/ 1053 w 3199"/>
              <a:gd name="T21" fmla="*/ 154 h 932"/>
              <a:gd name="T22" fmla="*/ 887 w 3199"/>
              <a:gd name="T23" fmla="*/ 299 h 932"/>
              <a:gd name="T24" fmla="*/ 673 w 3199"/>
              <a:gd name="T25" fmla="*/ 508 h 932"/>
              <a:gd name="T26" fmla="*/ 419 w 3199"/>
              <a:gd name="T27" fmla="*/ 666 h 932"/>
              <a:gd name="T28" fmla="*/ 270 w 3199"/>
              <a:gd name="T29" fmla="*/ 693 h 932"/>
              <a:gd name="T30" fmla="*/ 154 w 3199"/>
              <a:gd name="T31" fmla="*/ 678 h 932"/>
              <a:gd name="T32" fmla="*/ 33 w 3199"/>
              <a:gd name="T33" fmla="*/ 624 h 932"/>
              <a:gd name="T34" fmla="*/ 101 w 3199"/>
              <a:gd name="T35" fmla="*/ 696 h 932"/>
              <a:gd name="T36" fmla="*/ 361 w 3199"/>
              <a:gd name="T37" fmla="*/ 717 h 932"/>
              <a:gd name="T38" fmla="*/ 510 w 3199"/>
              <a:gd name="T39" fmla="*/ 664 h 932"/>
              <a:gd name="T40" fmla="*/ 683 w 3199"/>
              <a:gd name="T41" fmla="*/ 544 h 932"/>
              <a:gd name="T42" fmla="*/ 839 w 3199"/>
              <a:gd name="T43" fmla="*/ 394 h 932"/>
              <a:gd name="T44" fmla="*/ 989 w 3199"/>
              <a:gd name="T45" fmla="*/ 249 h 932"/>
              <a:gd name="T46" fmla="*/ 1202 w 3199"/>
              <a:gd name="T47" fmla="*/ 102 h 932"/>
              <a:gd name="T48" fmla="*/ 1352 w 3199"/>
              <a:gd name="T49" fmla="*/ 47 h 932"/>
              <a:gd name="T50" fmla="*/ 1562 w 3199"/>
              <a:gd name="T51" fmla="*/ 37 h 932"/>
              <a:gd name="T52" fmla="*/ 1761 w 3199"/>
              <a:gd name="T53" fmla="*/ 77 h 932"/>
              <a:gd name="T54" fmla="*/ 2017 w 3199"/>
              <a:gd name="T55" fmla="*/ 229 h 932"/>
              <a:gd name="T56" fmla="*/ 2178 w 3199"/>
              <a:gd name="T57" fmla="*/ 421 h 932"/>
              <a:gd name="T58" fmla="*/ 2131 w 3199"/>
              <a:gd name="T59" fmla="*/ 454 h 932"/>
              <a:gd name="T60" fmla="*/ 1974 w 3199"/>
              <a:gd name="T61" fmla="*/ 574 h 932"/>
              <a:gd name="T62" fmla="*/ 1919 w 3199"/>
              <a:gd name="T63" fmla="*/ 762 h 932"/>
              <a:gd name="T64" fmla="*/ 1960 w 3199"/>
              <a:gd name="T65" fmla="*/ 853 h 932"/>
              <a:gd name="T66" fmla="*/ 2045 w 3199"/>
              <a:gd name="T67" fmla="*/ 918 h 932"/>
              <a:gd name="T68" fmla="*/ 2144 w 3199"/>
              <a:gd name="T69" fmla="*/ 924 h 932"/>
              <a:gd name="T70" fmla="*/ 2227 w 3199"/>
              <a:gd name="T71" fmla="*/ 864 h 932"/>
              <a:gd name="T72" fmla="*/ 2278 w 3199"/>
              <a:gd name="T73" fmla="*/ 565 h 932"/>
              <a:gd name="T74" fmla="*/ 2249 w 3199"/>
              <a:gd name="T75" fmla="*/ 456 h 932"/>
              <a:gd name="T76" fmla="*/ 2483 w 3199"/>
              <a:gd name="T77" fmla="*/ 496 h 932"/>
              <a:gd name="T78" fmla="*/ 2723 w 3199"/>
              <a:gd name="T79" fmla="*/ 646 h 932"/>
              <a:gd name="T80" fmla="*/ 2862 w 3199"/>
              <a:gd name="T81" fmla="*/ 769 h 932"/>
              <a:gd name="T82" fmla="*/ 3035 w 3199"/>
              <a:gd name="T83" fmla="*/ 884 h 932"/>
              <a:gd name="T84" fmla="*/ 3198 w 3199"/>
              <a:gd name="T85" fmla="*/ 915 h 932"/>
              <a:gd name="T86" fmla="*/ 2251 w 3199"/>
              <a:gd name="T87" fmla="*/ 600 h 932"/>
              <a:gd name="T88" fmla="*/ 2258 w 3199"/>
              <a:gd name="T89" fmla="*/ 681 h 932"/>
              <a:gd name="T90" fmla="*/ 2223 w 3199"/>
              <a:gd name="T91" fmla="*/ 809 h 932"/>
              <a:gd name="T92" fmla="*/ 2180 w 3199"/>
              <a:gd name="T93" fmla="*/ 864 h 932"/>
              <a:gd name="T94" fmla="*/ 2146 w 3199"/>
              <a:gd name="T95" fmla="*/ 887 h 932"/>
              <a:gd name="T96" fmla="*/ 2122 w 3199"/>
              <a:gd name="T97" fmla="*/ 895 h 932"/>
              <a:gd name="T98" fmla="*/ 2100 w 3199"/>
              <a:gd name="T99" fmla="*/ 897 h 932"/>
              <a:gd name="T100" fmla="*/ 2066 w 3199"/>
              <a:gd name="T101" fmla="*/ 889 h 932"/>
              <a:gd name="T102" fmla="*/ 2031 w 3199"/>
              <a:gd name="T103" fmla="*/ 872 h 932"/>
              <a:gd name="T104" fmla="*/ 1988 w 3199"/>
              <a:gd name="T105" fmla="*/ 833 h 932"/>
              <a:gd name="T106" fmla="*/ 1959 w 3199"/>
              <a:gd name="T107" fmla="*/ 782 h 932"/>
              <a:gd name="T108" fmla="*/ 1950 w 3199"/>
              <a:gd name="T109" fmla="*/ 712 h 932"/>
              <a:gd name="T110" fmla="*/ 1972 w 3199"/>
              <a:gd name="T111" fmla="*/ 641 h 932"/>
              <a:gd name="T112" fmla="*/ 2077 w 3199"/>
              <a:gd name="T113" fmla="*/ 526 h 932"/>
              <a:gd name="T114" fmla="*/ 2204 w 3199"/>
              <a:gd name="T115" fmla="*/ 469 h 9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199" h="932">
                <a:moveTo>
                  <a:pt x="3192" y="888"/>
                </a:moveTo>
                <a:cubicBezTo>
                  <a:pt x="3192" y="888"/>
                  <a:pt x="3192" y="888"/>
                  <a:pt x="3192" y="888"/>
                </a:cubicBezTo>
                <a:cubicBezTo>
                  <a:pt x="3174" y="886"/>
                  <a:pt x="3155" y="884"/>
                  <a:pt x="3137" y="881"/>
                </a:cubicBezTo>
                <a:cubicBezTo>
                  <a:pt x="3116" y="876"/>
                  <a:pt x="3096" y="870"/>
                  <a:pt x="3076" y="863"/>
                </a:cubicBezTo>
                <a:cubicBezTo>
                  <a:pt x="3056" y="856"/>
                  <a:pt x="3036" y="848"/>
                  <a:pt x="3017" y="838"/>
                </a:cubicBezTo>
                <a:cubicBezTo>
                  <a:pt x="3003" y="831"/>
                  <a:pt x="2990" y="823"/>
                  <a:pt x="2977" y="815"/>
                </a:cubicBezTo>
                <a:cubicBezTo>
                  <a:pt x="2957" y="801"/>
                  <a:pt x="2937" y="787"/>
                  <a:pt x="2918" y="771"/>
                </a:cubicBezTo>
                <a:cubicBezTo>
                  <a:pt x="2899" y="756"/>
                  <a:pt x="2880" y="740"/>
                  <a:pt x="2862" y="724"/>
                </a:cubicBezTo>
                <a:cubicBezTo>
                  <a:pt x="2850" y="713"/>
                  <a:pt x="2838" y="702"/>
                  <a:pt x="2825" y="691"/>
                </a:cubicBezTo>
                <a:cubicBezTo>
                  <a:pt x="2813" y="679"/>
                  <a:pt x="2800" y="668"/>
                  <a:pt x="2787" y="657"/>
                </a:cubicBezTo>
                <a:cubicBezTo>
                  <a:pt x="2773" y="645"/>
                  <a:pt x="2760" y="633"/>
                  <a:pt x="2747" y="621"/>
                </a:cubicBezTo>
                <a:cubicBezTo>
                  <a:pt x="2734" y="609"/>
                  <a:pt x="2720" y="599"/>
                  <a:pt x="2707" y="588"/>
                </a:cubicBezTo>
                <a:cubicBezTo>
                  <a:pt x="2693" y="577"/>
                  <a:pt x="2679" y="566"/>
                  <a:pt x="2665" y="555"/>
                </a:cubicBezTo>
                <a:cubicBezTo>
                  <a:pt x="2652" y="545"/>
                  <a:pt x="2638" y="536"/>
                  <a:pt x="2624" y="527"/>
                </a:cubicBezTo>
                <a:cubicBezTo>
                  <a:pt x="2594" y="508"/>
                  <a:pt x="2564" y="491"/>
                  <a:pt x="2532" y="478"/>
                </a:cubicBezTo>
                <a:cubicBezTo>
                  <a:pt x="2515" y="471"/>
                  <a:pt x="2499" y="465"/>
                  <a:pt x="2482" y="460"/>
                </a:cubicBezTo>
                <a:cubicBezTo>
                  <a:pt x="2464" y="454"/>
                  <a:pt x="2447" y="449"/>
                  <a:pt x="2430" y="445"/>
                </a:cubicBezTo>
                <a:cubicBezTo>
                  <a:pt x="2395" y="436"/>
                  <a:pt x="2359" y="429"/>
                  <a:pt x="2324" y="424"/>
                </a:cubicBezTo>
                <a:cubicBezTo>
                  <a:pt x="2307" y="423"/>
                  <a:pt x="2291" y="422"/>
                  <a:pt x="2274" y="422"/>
                </a:cubicBezTo>
                <a:cubicBezTo>
                  <a:pt x="2258" y="421"/>
                  <a:pt x="2241" y="422"/>
                  <a:pt x="2225" y="425"/>
                </a:cubicBezTo>
                <a:cubicBezTo>
                  <a:pt x="2222" y="424"/>
                  <a:pt x="2220" y="423"/>
                  <a:pt x="2217" y="421"/>
                </a:cubicBezTo>
                <a:cubicBezTo>
                  <a:pt x="2210" y="407"/>
                  <a:pt x="2202" y="393"/>
                  <a:pt x="2193" y="379"/>
                </a:cubicBezTo>
                <a:cubicBezTo>
                  <a:pt x="2182" y="363"/>
                  <a:pt x="2172" y="348"/>
                  <a:pt x="2160" y="333"/>
                </a:cubicBezTo>
                <a:cubicBezTo>
                  <a:pt x="2149" y="319"/>
                  <a:pt x="2138" y="304"/>
                  <a:pt x="2126" y="290"/>
                </a:cubicBezTo>
                <a:cubicBezTo>
                  <a:pt x="2102" y="262"/>
                  <a:pt x="2077" y="236"/>
                  <a:pt x="2050" y="212"/>
                </a:cubicBezTo>
                <a:cubicBezTo>
                  <a:pt x="2036" y="200"/>
                  <a:pt x="2022" y="188"/>
                  <a:pt x="2007" y="177"/>
                </a:cubicBezTo>
                <a:cubicBezTo>
                  <a:pt x="1995" y="167"/>
                  <a:pt x="1983" y="158"/>
                  <a:pt x="1970" y="149"/>
                </a:cubicBezTo>
                <a:cubicBezTo>
                  <a:pt x="1941" y="129"/>
                  <a:pt x="1912" y="110"/>
                  <a:pt x="1881" y="93"/>
                </a:cubicBezTo>
                <a:cubicBezTo>
                  <a:pt x="1862" y="83"/>
                  <a:pt x="1844" y="74"/>
                  <a:pt x="1825" y="66"/>
                </a:cubicBezTo>
                <a:cubicBezTo>
                  <a:pt x="1808" y="58"/>
                  <a:pt x="1791" y="52"/>
                  <a:pt x="1774" y="45"/>
                </a:cubicBezTo>
                <a:cubicBezTo>
                  <a:pt x="1756" y="39"/>
                  <a:pt x="1738" y="34"/>
                  <a:pt x="1720" y="29"/>
                </a:cubicBezTo>
                <a:cubicBezTo>
                  <a:pt x="1704" y="24"/>
                  <a:pt x="1687" y="20"/>
                  <a:pt x="1671" y="17"/>
                </a:cubicBezTo>
                <a:cubicBezTo>
                  <a:pt x="1635" y="10"/>
                  <a:pt x="1599" y="5"/>
                  <a:pt x="1563" y="3"/>
                </a:cubicBezTo>
                <a:cubicBezTo>
                  <a:pt x="1544" y="1"/>
                  <a:pt x="1525" y="1"/>
                  <a:pt x="1506" y="0"/>
                </a:cubicBezTo>
                <a:cubicBezTo>
                  <a:pt x="1502" y="0"/>
                  <a:pt x="1498" y="0"/>
                  <a:pt x="1493" y="0"/>
                </a:cubicBezTo>
                <a:cubicBezTo>
                  <a:pt x="1480" y="0"/>
                  <a:pt x="1466" y="1"/>
                  <a:pt x="1453" y="1"/>
                </a:cubicBezTo>
                <a:cubicBezTo>
                  <a:pt x="1434" y="2"/>
                  <a:pt x="1415" y="4"/>
                  <a:pt x="1397" y="5"/>
                </a:cubicBezTo>
                <a:cubicBezTo>
                  <a:pt x="1379" y="7"/>
                  <a:pt x="1361" y="10"/>
                  <a:pt x="1344" y="14"/>
                </a:cubicBezTo>
                <a:cubicBezTo>
                  <a:pt x="1327" y="17"/>
                  <a:pt x="1310" y="22"/>
                  <a:pt x="1293" y="27"/>
                </a:cubicBezTo>
                <a:cubicBezTo>
                  <a:pt x="1276" y="32"/>
                  <a:pt x="1259" y="39"/>
                  <a:pt x="1242" y="46"/>
                </a:cubicBezTo>
                <a:cubicBezTo>
                  <a:pt x="1225" y="53"/>
                  <a:pt x="1209" y="61"/>
                  <a:pt x="1193" y="69"/>
                </a:cubicBezTo>
                <a:cubicBezTo>
                  <a:pt x="1177" y="77"/>
                  <a:pt x="1161" y="85"/>
                  <a:pt x="1145" y="94"/>
                </a:cubicBezTo>
                <a:cubicBezTo>
                  <a:pt x="1130" y="103"/>
                  <a:pt x="1114" y="112"/>
                  <a:pt x="1100" y="121"/>
                </a:cubicBezTo>
                <a:cubicBezTo>
                  <a:pt x="1084" y="131"/>
                  <a:pt x="1069" y="142"/>
                  <a:pt x="1053" y="154"/>
                </a:cubicBezTo>
                <a:cubicBezTo>
                  <a:pt x="1038" y="165"/>
                  <a:pt x="1024" y="176"/>
                  <a:pt x="1009" y="188"/>
                </a:cubicBezTo>
                <a:cubicBezTo>
                  <a:pt x="995" y="199"/>
                  <a:pt x="981" y="211"/>
                  <a:pt x="968" y="222"/>
                </a:cubicBezTo>
                <a:cubicBezTo>
                  <a:pt x="953" y="235"/>
                  <a:pt x="939" y="248"/>
                  <a:pt x="925" y="261"/>
                </a:cubicBezTo>
                <a:cubicBezTo>
                  <a:pt x="912" y="274"/>
                  <a:pt x="899" y="286"/>
                  <a:pt x="887" y="299"/>
                </a:cubicBezTo>
                <a:cubicBezTo>
                  <a:pt x="861" y="324"/>
                  <a:pt x="836" y="349"/>
                  <a:pt x="811" y="374"/>
                </a:cubicBezTo>
                <a:cubicBezTo>
                  <a:pt x="798" y="387"/>
                  <a:pt x="784" y="400"/>
                  <a:pt x="771" y="413"/>
                </a:cubicBezTo>
                <a:cubicBezTo>
                  <a:pt x="759" y="426"/>
                  <a:pt x="747" y="439"/>
                  <a:pt x="734" y="451"/>
                </a:cubicBezTo>
                <a:cubicBezTo>
                  <a:pt x="714" y="471"/>
                  <a:pt x="693" y="490"/>
                  <a:pt x="673" y="508"/>
                </a:cubicBezTo>
                <a:cubicBezTo>
                  <a:pt x="656" y="522"/>
                  <a:pt x="639" y="536"/>
                  <a:pt x="622" y="549"/>
                </a:cubicBezTo>
                <a:cubicBezTo>
                  <a:pt x="606" y="562"/>
                  <a:pt x="589" y="574"/>
                  <a:pt x="572" y="586"/>
                </a:cubicBezTo>
                <a:cubicBezTo>
                  <a:pt x="546" y="603"/>
                  <a:pt x="520" y="620"/>
                  <a:pt x="492" y="635"/>
                </a:cubicBezTo>
                <a:cubicBezTo>
                  <a:pt x="468" y="647"/>
                  <a:pt x="444" y="657"/>
                  <a:pt x="419" y="666"/>
                </a:cubicBezTo>
                <a:cubicBezTo>
                  <a:pt x="397" y="673"/>
                  <a:pt x="375" y="679"/>
                  <a:pt x="353" y="684"/>
                </a:cubicBezTo>
                <a:cubicBezTo>
                  <a:pt x="343" y="686"/>
                  <a:pt x="334" y="688"/>
                  <a:pt x="324" y="689"/>
                </a:cubicBezTo>
                <a:cubicBezTo>
                  <a:pt x="315" y="690"/>
                  <a:pt x="306" y="691"/>
                  <a:pt x="296" y="692"/>
                </a:cubicBezTo>
                <a:cubicBezTo>
                  <a:pt x="287" y="692"/>
                  <a:pt x="279" y="693"/>
                  <a:pt x="270" y="693"/>
                </a:cubicBezTo>
                <a:cubicBezTo>
                  <a:pt x="259" y="693"/>
                  <a:pt x="248" y="692"/>
                  <a:pt x="238" y="692"/>
                </a:cubicBezTo>
                <a:cubicBezTo>
                  <a:pt x="229" y="691"/>
                  <a:pt x="221" y="691"/>
                  <a:pt x="212" y="689"/>
                </a:cubicBezTo>
                <a:cubicBezTo>
                  <a:pt x="202" y="688"/>
                  <a:pt x="192" y="687"/>
                  <a:pt x="182" y="685"/>
                </a:cubicBezTo>
                <a:cubicBezTo>
                  <a:pt x="173" y="683"/>
                  <a:pt x="163" y="681"/>
                  <a:pt x="154" y="678"/>
                </a:cubicBezTo>
                <a:cubicBezTo>
                  <a:pt x="145" y="675"/>
                  <a:pt x="135" y="672"/>
                  <a:pt x="126" y="669"/>
                </a:cubicBezTo>
                <a:cubicBezTo>
                  <a:pt x="116" y="666"/>
                  <a:pt x="107" y="662"/>
                  <a:pt x="98" y="658"/>
                </a:cubicBezTo>
                <a:cubicBezTo>
                  <a:pt x="88" y="654"/>
                  <a:pt x="78" y="649"/>
                  <a:pt x="69" y="644"/>
                </a:cubicBezTo>
                <a:cubicBezTo>
                  <a:pt x="57" y="638"/>
                  <a:pt x="45" y="631"/>
                  <a:pt x="33" y="624"/>
                </a:cubicBezTo>
                <a:cubicBezTo>
                  <a:pt x="22" y="618"/>
                  <a:pt x="11" y="611"/>
                  <a:pt x="0" y="604"/>
                </a:cubicBezTo>
                <a:cubicBezTo>
                  <a:pt x="0" y="644"/>
                  <a:pt x="0" y="644"/>
                  <a:pt x="0" y="644"/>
                </a:cubicBezTo>
                <a:cubicBezTo>
                  <a:pt x="17" y="655"/>
                  <a:pt x="35" y="665"/>
                  <a:pt x="52" y="674"/>
                </a:cubicBezTo>
                <a:cubicBezTo>
                  <a:pt x="68" y="682"/>
                  <a:pt x="85" y="689"/>
                  <a:pt x="101" y="696"/>
                </a:cubicBezTo>
                <a:cubicBezTo>
                  <a:pt x="117" y="703"/>
                  <a:pt x="134" y="708"/>
                  <a:pt x="150" y="712"/>
                </a:cubicBezTo>
                <a:cubicBezTo>
                  <a:pt x="184" y="721"/>
                  <a:pt x="219" y="726"/>
                  <a:pt x="253" y="726"/>
                </a:cubicBezTo>
                <a:cubicBezTo>
                  <a:pt x="271" y="727"/>
                  <a:pt x="288" y="726"/>
                  <a:pt x="306" y="725"/>
                </a:cubicBezTo>
                <a:cubicBezTo>
                  <a:pt x="324" y="724"/>
                  <a:pt x="343" y="722"/>
                  <a:pt x="361" y="717"/>
                </a:cubicBezTo>
                <a:cubicBezTo>
                  <a:pt x="377" y="714"/>
                  <a:pt x="393" y="710"/>
                  <a:pt x="408" y="705"/>
                </a:cubicBezTo>
                <a:cubicBezTo>
                  <a:pt x="426" y="699"/>
                  <a:pt x="444" y="693"/>
                  <a:pt x="462" y="686"/>
                </a:cubicBezTo>
                <a:cubicBezTo>
                  <a:pt x="471" y="682"/>
                  <a:pt x="479" y="679"/>
                  <a:pt x="487" y="675"/>
                </a:cubicBezTo>
                <a:cubicBezTo>
                  <a:pt x="495" y="672"/>
                  <a:pt x="503" y="668"/>
                  <a:pt x="510" y="664"/>
                </a:cubicBezTo>
                <a:cubicBezTo>
                  <a:pt x="525" y="656"/>
                  <a:pt x="539" y="648"/>
                  <a:pt x="552" y="639"/>
                </a:cubicBezTo>
                <a:cubicBezTo>
                  <a:pt x="568" y="629"/>
                  <a:pt x="583" y="619"/>
                  <a:pt x="598" y="609"/>
                </a:cubicBezTo>
                <a:cubicBezTo>
                  <a:pt x="612" y="599"/>
                  <a:pt x="626" y="589"/>
                  <a:pt x="640" y="578"/>
                </a:cubicBezTo>
                <a:cubicBezTo>
                  <a:pt x="654" y="567"/>
                  <a:pt x="669" y="556"/>
                  <a:pt x="683" y="544"/>
                </a:cubicBezTo>
                <a:cubicBezTo>
                  <a:pt x="696" y="533"/>
                  <a:pt x="709" y="521"/>
                  <a:pt x="722" y="509"/>
                </a:cubicBezTo>
                <a:cubicBezTo>
                  <a:pt x="735" y="497"/>
                  <a:pt x="749" y="484"/>
                  <a:pt x="762" y="471"/>
                </a:cubicBezTo>
                <a:cubicBezTo>
                  <a:pt x="775" y="459"/>
                  <a:pt x="787" y="446"/>
                  <a:pt x="800" y="433"/>
                </a:cubicBezTo>
                <a:cubicBezTo>
                  <a:pt x="813" y="420"/>
                  <a:pt x="826" y="407"/>
                  <a:pt x="839" y="394"/>
                </a:cubicBezTo>
                <a:cubicBezTo>
                  <a:pt x="852" y="382"/>
                  <a:pt x="864" y="369"/>
                  <a:pt x="877" y="357"/>
                </a:cubicBezTo>
                <a:cubicBezTo>
                  <a:pt x="889" y="344"/>
                  <a:pt x="902" y="331"/>
                  <a:pt x="915" y="319"/>
                </a:cubicBezTo>
                <a:cubicBezTo>
                  <a:pt x="928" y="306"/>
                  <a:pt x="941" y="294"/>
                  <a:pt x="954" y="281"/>
                </a:cubicBezTo>
                <a:cubicBezTo>
                  <a:pt x="966" y="270"/>
                  <a:pt x="978" y="259"/>
                  <a:pt x="989" y="249"/>
                </a:cubicBezTo>
                <a:cubicBezTo>
                  <a:pt x="998" y="242"/>
                  <a:pt x="1006" y="234"/>
                  <a:pt x="1015" y="226"/>
                </a:cubicBezTo>
                <a:cubicBezTo>
                  <a:pt x="1026" y="217"/>
                  <a:pt x="1037" y="209"/>
                  <a:pt x="1048" y="200"/>
                </a:cubicBezTo>
                <a:cubicBezTo>
                  <a:pt x="1068" y="185"/>
                  <a:pt x="1088" y="170"/>
                  <a:pt x="1109" y="156"/>
                </a:cubicBezTo>
                <a:cubicBezTo>
                  <a:pt x="1139" y="136"/>
                  <a:pt x="1170" y="119"/>
                  <a:pt x="1202" y="102"/>
                </a:cubicBezTo>
                <a:cubicBezTo>
                  <a:pt x="1215" y="96"/>
                  <a:pt x="1228" y="89"/>
                  <a:pt x="1242" y="83"/>
                </a:cubicBezTo>
                <a:cubicBezTo>
                  <a:pt x="1258" y="76"/>
                  <a:pt x="1274" y="70"/>
                  <a:pt x="1290" y="64"/>
                </a:cubicBezTo>
                <a:cubicBezTo>
                  <a:pt x="1300" y="60"/>
                  <a:pt x="1310" y="57"/>
                  <a:pt x="1320" y="54"/>
                </a:cubicBezTo>
                <a:cubicBezTo>
                  <a:pt x="1331" y="51"/>
                  <a:pt x="1342" y="49"/>
                  <a:pt x="1352" y="47"/>
                </a:cubicBezTo>
                <a:cubicBezTo>
                  <a:pt x="1367" y="44"/>
                  <a:pt x="1381" y="42"/>
                  <a:pt x="1396" y="40"/>
                </a:cubicBezTo>
                <a:cubicBezTo>
                  <a:pt x="1410" y="38"/>
                  <a:pt x="1423" y="37"/>
                  <a:pt x="1437" y="36"/>
                </a:cubicBezTo>
                <a:cubicBezTo>
                  <a:pt x="1457" y="35"/>
                  <a:pt x="1478" y="34"/>
                  <a:pt x="1498" y="34"/>
                </a:cubicBezTo>
                <a:cubicBezTo>
                  <a:pt x="1519" y="34"/>
                  <a:pt x="1540" y="35"/>
                  <a:pt x="1562" y="37"/>
                </a:cubicBezTo>
                <a:cubicBezTo>
                  <a:pt x="1579" y="38"/>
                  <a:pt x="1596" y="40"/>
                  <a:pt x="1613" y="42"/>
                </a:cubicBezTo>
                <a:cubicBezTo>
                  <a:pt x="1631" y="44"/>
                  <a:pt x="1649" y="47"/>
                  <a:pt x="1666" y="51"/>
                </a:cubicBezTo>
                <a:cubicBezTo>
                  <a:pt x="1681" y="54"/>
                  <a:pt x="1696" y="57"/>
                  <a:pt x="1711" y="61"/>
                </a:cubicBezTo>
                <a:cubicBezTo>
                  <a:pt x="1728" y="66"/>
                  <a:pt x="1744" y="71"/>
                  <a:pt x="1761" y="77"/>
                </a:cubicBezTo>
                <a:cubicBezTo>
                  <a:pt x="1786" y="86"/>
                  <a:pt x="1812" y="97"/>
                  <a:pt x="1836" y="108"/>
                </a:cubicBezTo>
                <a:cubicBezTo>
                  <a:pt x="1868" y="125"/>
                  <a:pt x="1899" y="143"/>
                  <a:pt x="1929" y="162"/>
                </a:cubicBezTo>
                <a:cubicBezTo>
                  <a:pt x="1944" y="173"/>
                  <a:pt x="1959" y="183"/>
                  <a:pt x="1973" y="194"/>
                </a:cubicBezTo>
                <a:cubicBezTo>
                  <a:pt x="1988" y="205"/>
                  <a:pt x="2003" y="217"/>
                  <a:pt x="2017" y="229"/>
                </a:cubicBezTo>
                <a:cubicBezTo>
                  <a:pt x="2030" y="240"/>
                  <a:pt x="2042" y="252"/>
                  <a:pt x="2054" y="263"/>
                </a:cubicBezTo>
                <a:cubicBezTo>
                  <a:pt x="2068" y="276"/>
                  <a:pt x="2080" y="289"/>
                  <a:pt x="2092" y="303"/>
                </a:cubicBezTo>
                <a:cubicBezTo>
                  <a:pt x="2116" y="331"/>
                  <a:pt x="2138" y="359"/>
                  <a:pt x="2158" y="389"/>
                </a:cubicBezTo>
                <a:cubicBezTo>
                  <a:pt x="2165" y="399"/>
                  <a:pt x="2172" y="410"/>
                  <a:pt x="2178" y="421"/>
                </a:cubicBezTo>
                <a:cubicBezTo>
                  <a:pt x="2179" y="422"/>
                  <a:pt x="2180" y="424"/>
                  <a:pt x="2181" y="425"/>
                </a:cubicBezTo>
                <a:cubicBezTo>
                  <a:pt x="2183" y="429"/>
                  <a:pt x="2181" y="434"/>
                  <a:pt x="2177" y="435"/>
                </a:cubicBezTo>
                <a:cubicBezTo>
                  <a:pt x="2176" y="436"/>
                  <a:pt x="2176" y="436"/>
                  <a:pt x="2175" y="436"/>
                </a:cubicBezTo>
                <a:cubicBezTo>
                  <a:pt x="2160" y="441"/>
                  <a:pt x="2145" y="447"/>
                  <a:pt x="2131" y="454"/>
                </a:cubicBezTo>
                <a:cubicBezTo>
                  <a:pt x="2117" y="462"/>
                  <a:pt x="2102" y="470"/>
                  <a:pt x="2088" y="479"/>
                </a:cubicBezTo>
                <a:cubicBezTo>
                  <a:pt x="2074" y="487"/>
                  <a:pt x="2060" y="496"/>
                  <a:pt x="2046" y="506"/>
                </a:cubicBezTo>
                <a:cubicBezTo>
                  <a:pt x="2033" y="515"/>
                  <a:pt x="2021" y="526"/>
                  <a:pt x="2009" y="537"/>
                </a:cubicBezTo>
                <a:cubicBezTo>
                  <a:pt x="1997" y="549"/>
                  <a:pt x="1985" y="561"/>
                  <a:pt x="1974" y="574"/>
                </a:cubicBezTo>
                <a:cubicBezTo>
                  <a:pt x="1963" y="588"/>
                  <a:pt x="1954" y="602"/>
                  <a:pt x="1946" y="617"/>
                </a:cubicBezTo>
                <a:cubicBezTo>
                  <a:pt x="1938" y="632"/>
                  <a:pt x="1931" y="647"/>
                  <a:pt x="1925" y="663"/>
                </a:cubicBezTo>
                <a:cubicBezTo>
                  <a:pt x="1920" y="679"/>
                  <a:pt x="1916" y="695"/>
                  <a:pt x="1915" y="712"/>
                </a:cubicBezTo>
                <a:cubicBezTo>
                  <a:pt x="1915" y="729"/>
                  <a:pt x="1916" y="745"/>
                  <a:pt x="1919" y="762"/>
                </a:cubicBezTo>
                <a:cubicBezTo>
                  <a:pt x="1921" y="770"/>
                  <a:pt x="1922" y="777"/>
                  <a:pt x="1925" y="785"/>
                </a:cubicBezTo>
                <a:cubicBezTo>
                  <a:pt x="1927" y="793"/>
                  <a:pt x="1930" y="801"/>
                  <a:pt x="1933" y="809"/>
                </a:cubicBezTo>
                <a:cubicBezTo>
                  <a:pt x="1936" y="816"/>
                  <a:pt x="1941" y="824"/>
                  <a:pt x="1945" y="831"/>
                </a:cubicBezTo>
                <a:cubicBezTo>
                  <a:pt x="1949" y="839"/>
                  <a:pt x="1955" y="846"/>
                  <a:pt x="1960" y="853"/>
                </a:cubicBezTo>
                <a:cubicBezTo>
                  <a:pt x="1963" y="856"/>
                  <a:pt x="1966" y="860"/>
                  <a:pt x="1969" y="863"/>
                </a:cubicBezTo>
                <a:cubicBezTo>
                  <a:pt x="1978" y="872"/>
                  <a:pt x="1988" y="882"/>
                  <a:pt x="1998" y="890"/>
                </a:cubicBezTo>
                <a:cubicBezTo>
                  <a:pt x="2005" y="896"/>
                  <a:pt x="2013" y="901"/>
                  <a:pt x="2020" y="905"/>
                </a:cubicBezTo>
                <a:cubicBezTo>
                  <a:pt x="2028" y="911"/>
                  <a:pt x="2037" y="914"/>
                  <a:pt x="2045" y="918"/>
                </a:cubicBezTo>
                <a:cubicBezTo>
                  <a:pt x="2053" y="922"/>
                  <a:pt x="2062" y="924"/>
                  <a:pt x="2070" y="926"/>
                </a:cubicBezTo>
                <a:cubicBezTo>
                  <a:pt x="2078" y="929"/>
                  <a:pt x="2087" y="930"/>
                  <a:pt x="2095" y="931"/>
                </a:cubicBezTo>
                <a:cubicBezTo>
                  <a:pt x="2104" y="932"/>
                  <a:pt x="2112" y="931"/>
                  <a:pt x="2120" y="930"/>
                </a:cubicBezTo>
                <a:cubicBezTo>
                  <a:pt x="2128" y="929"/>
                  <a:pt x="2136" y="927"/>
                  <a:pt x="2144" y="924"/>
                </a:cubicBezTo>
                <a:cubicBezTo>
                  <a:pt x="2152" y="921"/>
                  <a:pt x="2160" y="918"/>
                  <a:pt x="2167" y="914"/>
                </a:cubicBezTo>
                <a:cubicBezTo>
                  <a:pt x="2175" y="910"/>
                  <a:pt x="2182" y="905"/>
                  <a:pt x="2189" y="900"/>
                </a:cubicBezTo>
                <a:cubicBezTo>
                  <a:pt x="2195" y="896"/>
                  <a:pt x="2201" y="891"/>
                  <a:pt x="2206" y="886"/>
                </a:cubicBezTo>
                <a:cubicBezTo>
                  <a:pt x="2213" y="879"/>
                  <a:pt x="2220" y="872"/>
                  <a:pt x="2227" y="864"/>
                </a:cubicBezTo>
                <a:cubicBezTo>
                  <a:pt x="2237" y="853"/>
                  <a:pt x="2246" y="840"/>
                  <a:pt x="2253" y="826"/>
                </a:cubicBezTo>
                <a:cubicBezTo>
                  <a:pt x="2261" y="809"/>
                  <a:pt x="2268" y="791"/>
                  <a:pt x="2274" y="773"/>
                </a:cubicBezTo>
                <a:cubicBezTo>
                  <a:pt x="2285" y="739"/>
                  <a:pt x="2292" y="704"/>
                  <a:pt x="2293" y="668"/>
                </a:cubicBezTo>
                <a:cubicBezTo>
                  <a:pt x="2293" y="633"/>
                  <a:pt x="2287" y="599"/>
                  <a:pt x="2278" y="565"/>
                </a:cubicBezTo>
                <a:cubicBezTo>
                  <a:pt x="2269" y="533"/>
                  <a:pt x="2256" y="502"/>
                  <a:pt x="2242" y="472"/>
                </a:cubicBezTo>
                <a:cubicBezTo>
                  <a:pt x="2242" y="470"/>
                  <a:pt x="2241" y="468"/>
                  <a:pt x="2240" y="467"/>
                </a:cubicBezTo>
                <a:cubicBezTo>
                  <a:pt x="2238" y="462"/>
                  <a:pt x="2241" y="457"/>
                  <a:pt x="2245" y="457"/>
                </a:cubicBezTo>
                <a:cubicBezTo>
                  <a:pt x="2247" y="457"/>
                  <a:pt x="2248" y="456"/>
                  <a:pt x="2249" y="456"/>
                </a:cubicBezTo>
                <a:cubicBezTo>
                  <a:pt x="2266" y="455"/>
                  <a:pt x="2283" y="456"/>
                  <a:pt x="2301" y="457"/>
                </a:cubicBezTo>
                <a:cubicBezTo>
                  <a:pt x="2314" y="458"/>
                  <a:pt x="2327" y="459"/>
                  <a:pt x="2339" y="461"/>
                </a:cubicBezTo>
                <a:cubicBezTo>
                  <a:pt x="2353" y="463"/>
                  <a:pt x="2367" y="466"/>
                  <a:pt x="2381" y="468"/>
                </a:cubicBezTo>
                <a:cubicBezTo>
                  <a:pt x="2415" y="476"/>
                  <a:pt x="2449" y="485"/>
                  <a:pt x="2483" y="496"/>
                </a:cubicBezTo>
                <a:cubicBezTo>
                  <a:pt x="2506" y="504"/>
                  <a:pt x="2528" y="513"/>
                  <a:pt x="2550" y="523"/>
                </a:cubicBezTo>
                <a:cubicBezTo>
                  <a:pt x="2577" y="537"/>
                  <a:pt x="2603" y="553"/>
                  <a:pt x="2628" y="570"/>
                </a:cubicBezTo>
                <a:cubicBezTo>
                  <a:pt x="2645" y="582"/>
                  <a:pt x="2661" y="595"/>
                  <a:pt x="2677" y="607"/>
                </a:cubicBezTo>
                <a:cubicBezTo>
                  <a:pt x="2692" y="620"/>
                  <a:pt x="2708" y="632"/>
                  <a:pt x="2723" y="646"/>
                </a:cubicBezTo>
                <a:cubicBezTo>
                  <a:pt x="2734" y="655"/>
                  <a:pt x="2744" y="665"/>
                  <a:pt x="2755" y="674"/>
                </a:cubicBezTo>
                <a:cubicBezTo>
                  <a:pt x="2766" y="684"/>
                  <a:pt x="2777" y="693"/>
                  <a:pt x="2787" y="703"/>
                </a:cubicBezTo>
                <a:cubicBezTo>
                  <a:pt x="2800" y="714"/>
                  <a:pt x="2812" y="725"/>
                  <a:pt x="2824" y="736"/>
                </a:cubicBezTo>
                <a:cubicBezTo>
                  <a:pt x="2836" y="747"/>
                  <a:pt x="2849" y="758"/>
                  <a:pt x="2862" y="769"/>
                </a:cubicBezTo>
                <a:cubicBezTo>
                  <a:pt x="2876" y="781"/>
                  <a:pt x="2890" y="793"/>
                  <a:pt x="2904" y="804"/>
                </a:cubicBezTo>
                <a:cubicBezTo>
                  <a:pt x="2918" y="815"/>
                  <a:pt x="2933" y="826"/>
                  <a:pt x="2948" y="836"/>
                </a:cubicBezTo>
                <a:cubicBezTo>
                  <a:pt x="2961" y="845"/>
                  <a:pt x="2975" y="854"/>
                  <a:pt x="2990" y="862"/>
                </a:cubicBezTo>
                <a:cubicBezTo>
                  <a:pt x="3004" y="870"/>
                  <a:pt x="3019" y="877"/>
                  <a:pt x="3035" y="884"/>
                </a:cubicBezTo>
                <a:cubicBezTo>
                  <a:pt x="3051" y="891"/>
                  <a:pt x="3068" y="897"/>
                  <a:pt x="3086" y="902"/>
                </a:cubicBezTo>
                <a:cubicBezTo>
                  <a:pt x="3100" y="907"/>
                  <a:pt x="3114" y="910"/>
                  <a:pt x="3128" y="913"/>
                </a:cubicBezTo>
                <a:cubicBezTo>
                  <a:pt x="3149" y="918"/>
                  <a:pt x="3170" y="920"/>
                  <a:pt x="3190" y="922"/>
                </a:cubicBezTo>
                <a:cubicBezTo>
                  <a:pt x="3194" y="922"/>
                  <a:pt x="3197" y="919"/>
                  <a:pt x="3198" y="915"/>
                </a:cubicBezTo>
                <a:cubicBezTo>
                  <a:pt x="3198" y="908"/>
                  <a:pt x="3199" y="902"/>
                  <a:pt x="3199" y="895"/>
                </a:cubicBezTo>
                <a:cubicBezTo>
                  <a:pt x="3199" y="891"/>
                  <a:pt x="3196" y="888"/>
                  <a:pt x="3192" y="888"/>
                </a:cubicBezTo>
                <a:close/>
                <a:moveTo>
                  <a:pt x="2245" y="574"/>
                </a:moveTo>
                <a:cubicBezTo>
                  <a:pt x="2247" y="583"/>
                  <a:pt x="2249" y="591"/>
                  <a:pt x="2251" y="600"/>
                </a:cubicBezTo>
                <a:cubicBezTo>
                  <a:pt x="2253" y="607"/>
                  <a:pt x="2254" y="614"/>
                  <a:pt x="2255" y="621"/>
                </a:cubicBezTo>
                <a:cubicBezTo>
                  <a:pt x="2256" y="630"/>
                  <a:pt x="2257" y="638"/>
                  <a:pt x="2258" y="646"/>
                </a:cubicBezTo>
                <a:cubicBezTo>
                  <a:pt x="2258" y="652"/>
                  <a:pt x="2258" y="657"/>
                  <a:pt x="2259" y="663"/>
                </a:cubicBezTo>
                <a:cubicBezTo>
                  <a:pt x="2259" y="669"/>
                  <a:pt x="2258" y="675"/>
                  <a:pt x="2258" y="681"/>
                </a:cubicBezTo>
                <a:cubicBezTo>
                  <a:pt x="2258" y="687"/>
                  <a:pt x="2257" y="693"/>
                  <a:pt x="2256" y="699"/>
                </a:cubicBezTo>
                <a:cubicBezTo>
                  <a:pt x="2255" y="707"/>
                  <a:pt x="2254" y="716"/>
                  <a:pt x="2252" y="724"/>
                </a:cubicBezTo>
                <a:cubicBezTo>
                  <a:pt x="2249" y="738"/>
                  <a:pt x="2245" y="751"/>
                  <a:pt x="2241" y="765"/>
                </a:cubicBezTo>
                <a:cubicBezTo>
                  <a:pt x="2236" y="780"/>
                  <a:pt x="2230" y="795"/>
                  <a:pt x="2223" y="809"/>
                </a:cubicBezTo>
                <a:cubicBezTo>
                  <a:pt x="2219" y="816"/>
                  <a:pt x="2215" y="823"/>
                  <a:pt x="2211" y="829"/>
                </a:cubicBezTo>
                <a:cubicBezTo>
                  <a:pt x="2211" y="829"/>
                  <a:pt x="2211" y="829"/>
                  <a:pt x="2211" y="830"/>
                </a:cubicBezTo>
                <a:cubicBezTo>
                  <a:pt x="2208" y="834"/>
                  <a:pt x="2204" y="838"/>
                  <a:pt x="2201" y="842"/>
                </a:cubicBezTo>
                <a:cubicBezTo>
                  <a:pt x="2194" y="850"/>
                  <a:pt x="2187" y="857"/>
                  <a:pt x="2180" y="864"/>
                </a:cubicBezTo>
                <a:cubicBezTo>
                  <a:pt x="2175" y="868"/>
                  <a:pt x="2170" y="872"/>
                  <a:pt x="2164" y="876"/>
                </a:cubicBezTo>
                <a:cubicBezTo>
                  <a:pt x="2164" y="876"/>
                  <a:pt x="2164" y="876"/>
                  <a:pt x="2164" y="876"/>
                </a:cubicBezTo>
                <a:cubicBezTo>
                  <a:pt x="2158" y="880"/>
                  <a:pt x="2152" y="883"/>
                  <a:pt x="2146" y="886"/>
                </a:cubicBezTo>
                <a:cubicBezTo>
                  <a:pt x="2146" y="886"/>
                  <a:pt x="2146" y="886"/>
                  <a:pt x="2146" y="887"/>
                </a:cubicBezTo>
                <a:cubicBezTo>
                  <a:pt x="2142" y="888"/>
                  <a:pt x="2138" y="890"/>
                  <a:pt x="2134" y="892"/>
                </a:cubicBezTo>
                <a:cubicBezTo>
                  <a:pt x="2134" y="892"/>
                  <a:pt x="2133" y="892"/>
                  <a:pt x="2133" y="892"/>
                </a:cubicBezTo>
                <a:cubicBezTo>
                  <a:pt x="2130" y="893"/>
                  <a:pt x="2126" y="894"/>
                  <a:pt x="2122" y="895"/>
                </a:cubicBezTo>
                <a:cubicBezTo>
                  <a:pt x="2122" y="895"/>
                  <a:pt x="2122" y="895"/>
                  <a:pt x="2122" y="895"/>
                </a:cubicBezTo>
                <a:cubicBezTo>
                  <a:pt x="2118" y="896"/>
                  <a:pt x="2115" y="896"/>
                  <a:pt x="2111" y="897"/>
                </a:cubicBezTo>
                <a:cubicBezTo>
                  <a:pt x="2111" y="897"/>
                  <a:pt x="2111" y="897"/>
                  <a:pt x="2111" y="897"/>
                </a:cubicBezTo>
                <a:cubicBezTo>
                  <a:pt x="2108" y="897"/>
                  <a:pt x="2106" y="897"/>
                  <a:pt x="2104" y="897"/>
                </a:cubicBezTo>
                <a:cubicBezTo>
                  <a:pt x="2103" y="897"/>
                  <a:pt x="2101" y="897"/>
                  <a:pt x="2100" y="897"/>
                </a:cubicBezTo>
                <a:cubicBezTo>
                  <a:pt x="2100" y="897"/>
                  <a:pt x="2100" y="897"/>
                  <a:pt x="2099" y="897"/>
                </a:cubicBezTo>
                <a:cubicBezTo>
                  <a:pt x="2095" y="897"/>
                  <a:pt x="2091" y="896"/>
                  <a:pt x="2087" y="895"/>
                </a:cubicBezTo>
                <a:cubicBezTo>
                  <a:pt x="2087" y="895"/>
                  <a:pt x="2087" y="895"/>
                  <a:pt x="2086" y="895"/>
                </a:cubicBezTo>
                <a:cubicBezTo>
                  <a:pt x="2079" y="894"/>
                  <a:pt x="2073" y="892"/>
                  <a:pt x="2066" y="889"/>
                </a:cubicBezTo>
                <a:cubicBezTo>
                  <a:pt x="2062" y="888"/>
                  <a:pt x="2058" y="887"/>
                  <a:pt x="2055" y="885"/>
                </a:cubicBezTo>
                <a:cubicBezTo>
                  <a:pt x="2052" y="884"/>
                  <a:pt x="2048" y="882"/>
                  <a:pt x="2045" y="881"/>
                </a:cubicBezTo>
                <a:cubicBezTo>
                  <a:pt x="2045" y="881"/>
                  <a:pt x="2045" y="880"/>
                  <a:pt x="2045" y="880"/>
                </a:cubicBezTo>
                <a:cubicBezTo>
                  <a:pt x="2040" y="878"/>
                  <a:pt x="2036" y="875"/>
                  <a:pt x="2031" y="872"/>
                </a:cubicBezTo>
                <a:cubicBezTo>
                  <a:pt x="2031" y="872"/>
                  <a:pt x="2031" y="872"/>
                  <a:pt x="2031" y="872"/>
                </a:cubicBezTo>
                <a:cubicBezTo>
                  <a:pt x="2024" y="867"/>
                  <a:pt x="2017" y="861"/>
                  <a:pt x="2011" y="856"/>
                </a:cubicBezTo>
                <a:cubicBezTo>
                  <a:pt x="2003" y="849"/>
                  <a:pt x="1995" y="841"/>
                  <a:pt x="1988" y="833"/>
                </a:cubicBezTo>
                <a:cubicBezTo>
                  <a:pt x="1988" y="833"/>
                  <a:pt x="1988" y="833"/>
                  <a:pt x="1988" y="833"/>
                </a:cubicBezTo>
                <a:cubicBezTo>
                  <a:pt x="1985" y="829"/>
                  <a:pt x="1982" y="825"/>
                  <a:pt x="1979" y="821"/>
                </a:cubicBezTo>
                <a:cubicBezTo>
                  <a:pt x="1979" y="821"/>
                  <a:pt x="1978" y="821"/>
                  <a:pt x="1978" y="820"/>
                </a:cubicBezTo>
                <a:cubicBezTo>
                  <a:pt x="1974" y="814"/>
                  <a:pt x="1971" y="808"/>
                  <a:pt x="1967" y="802"/>
                </a:cubicBezTo>
                <a:cubicBezTo>
                  <a:pt x="1964" y="795"/>
                  <a:pt x="1962" y="789"/>
                  <a:pt x="1959" y="782"/>
                </a:cubicBezTo>
                <a:cubicBezTo>
                  <a:pt x="1957" y="775"/>
                  <a:pt x="1955" y="769"/>
                  <a:pt x="1954" y="762"/>
                </a:cubicBezTo>
                <a:cubicBezTo>
                  <a:pt x="1952" y="752"/>
                  <a:pt x="1950" y="743"/>
                  <a:pt x="1949" y="733"/>
                </a:cubicBezTo>
                <a:cubicBezTo>
                  <a:pt x="1949" y="726"/>
                  <a:pt x="1949" y="719"/>
                  <a:pt x="1949" y="712"/>
                </a:cubicBezTo>
                <a:cubicBezTo>
                  <a:pt x="1949" y="712"/>
                  <a:pt x="1949" y="712"/>
                  <a:pt x="1950" y="712"/>
                </a:cubicBezTo>
                <a:cubicBezTo>
                  <a:pt x="1950" y="705"/>
                  <a:pt x="1951" y="699"/>
                  <a:pt x="1952" y="692"/>
                </a:cubicBezTo>
                <a:cubicBezTo>
                  <a:pt x="1952" y="692"/>
                  <a:pt x="1953" y="692"/>
                  <a:pt x="1953" y="691"/>
                </a:cubicBezTo>
                <a:cubicBezTo>
                  <a:pt x="1954" y="684"/>
                  <a:pt x="1957" y="677"/>
                  <a:pt x="1959" y="670"/>
                </a:cubicBezTo>
                <a:cubicBezTo>
                  <a:pt x="1963" y="660"/>
                  <a:pt x="1967" y="650"/>
                  <a:pt x="1972" y="641"/>
                </a:cubicBezTo>
                <a:cubicBezTo>
                  <a:pt x="1976" y="632"/>
                  <a:pt x="1981" y="623"/>
                  <a:pt x="1986" y="615"/>
                </a:cubicBezTo>
                <a:cubicBezTo>
                  <a:pt x="1992" y="606"/>
                  <a:pt x="1998" y="598"/>
                  <a:pt x="2005" y="590"/>
                </a:cubicBezTo>
                <a:cubicBezTo>
                  <a:pt x="2017" y="577"/>
                  <a:pt x="2030" y="564"/>
                  <a:pt x="2043" y="552"/>
                </a:cubicBezTo>
                <a:cubicBezTo>
                  <a:pt x="2054" y="543"/>
                  <a:pt x="2065" y="534"/>
                  <a:pt x="2077" y="526"/>
                </a:cubicBezTo>
                <a:cubicBezTo>
                  <a:pt x="2100" y="511"/>
                  <a:pt x="2123" y="497"/>
                  <a:pt x="2148" y="484"/>
                </a:cubicBezTo>
                <a:cubicBezTo>
                  <a:pt x="2160" y="479"/>
                  <a:pt x="2171" y="473"/>
                  <a:pt x="2183" y="469"/>
                </a:cubicBezTo>
                <a:cubicBezTo>
                  <a:pt x="2187" y="468"/>
                  <a:pt x="2191" y="466"/>
                  <a:pt x="2196" y="465"/>
                </a:cubicBezTo>
                <a:cubicBezTo>
                  <a:pt x="2199" y="465"/>
                  <a:pt x="2202" y="466"/>
                  <a:pt x="2204" y="469"/>
                </a:cubicBezTo>
                <a:cubicBezTo>
                  <a:pt x="2209" y="480"/>
                  <a:pt x="2214" y="491"/>
                  <a:pt x="2219" y="502"/>
                </a:cubicBezTo>
                <a:cubicBezTo>
                  <a:pt x="2226" y="518"/>
                  <a:pt x="2232" y="534"/>
                  <a:pt x="2237" y="550"/>
                </a:cubicBezTo>
                <a:cubicBezTo>
                  <a:pt x="2240" y="558"/>
                  <a:pt x="2243" y="566"/>
                  <a:pt x="2245" y="574"/>
                </a:cubicBezTo>
                <a:close/>
              </a:path>
            </a:pathLst>
          </a:custGeom>
          <a:solidFill>
            <a:srgbClr val="E5233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D47F3070-5412-439E-B205-F85E9BC78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7676" y="2601271"/>
            <a:ext cx="558025" cy="55874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Freeform 20">
            <a:extLst>
              <a:ext uri="{FF2B5EF4-FFF2-40B4-BE49-F238E27FC236}">
                <a16:creationId xmlns:a16="http://schemas.microsoft.com/office/drawing/2014/main" id="{9485D26D-4EF5-4F4B-8827-74CC0E078FC6}"/>
              </a:ext>
            </a:extLst>
          </p:cNvPr>
          <p:cNvSpPr>
            <a:spLocks/>
          </p:cNvSpPr>
          <p:nvPr/>
        </p:nvSpPr>
        <p:spPr bwMode="auto">
          <a:xfrm>
            <a:off x="7393999" y="2707116"/>
            <a:ext cx="403218" cy="348496"/>
          </a:xfrm>
          <a:custGeom>
            <a:avLst/>
            <a:gdLst>
              <a:gd name="T0" fmla="*/ 280 w 560"/>
              <a:gd name="T1" fmla="*/ 484 h 484"/>
              <a:gd name="T2" fmla="*/ 0 w 560"/>
              <a:gd name="T3" fmla="*/ 484 h 484"/>
              <a:gd name="T4" fmla="*/ 140 w 560"/>
              <a:gd name="T5" fmla="*/ 242 h 484"/>
              <a:gd name="T6" fmla="*/ 280 w 560"/>
              <a:gd name="T7" fmla="*/ 0 h 484"/>
              <a:gd name="T8" fmla="*/ 420 w 560"/>
              <a:gd name="T9" fmla="*/ 242 h 484"/>
              <a:gd name="T10" fmla="*/ 560 w 560"/>
              <a:gd name="T11" fmla="*/ 484 h 484"/>
              <a:gd name="T12" fmla="*/ 280 w 560"/>
              <a:gd name="T13" fmla="*/ 484 h 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0" h="484">
                <a:moveTo>
                  <a:pt x="280" y="484"/>
                </a:moveTo>
                <a:lnTo>
                  <a:pt x="0" y="484"/>
                </a:lnTo>
                <a:lnTo>
                  <a:pt x="140" y="242"/>
                </a:lnTo>
                <a:lnTo>
                  <a:pt x="280" y="0"/>
                </a:lnTo>
                <a:lnTo>
                  <a:pt x="420" y="242"/>
                </a:lnTo>
                <a:lnTo>
                  <a:pt x="560" y="484"/>
                </a:lnTo>
                <a:lnTo>
                  <a:pt x="280" y="484"/>
                </a:lnTo>
                <a:close/>
              </a:path>
            </a:pathLst>
          </a:custGeom>
          <a:solidFill>
            <a:srgbClr val="9F17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9F1727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BCC91388-984B-4FDB-B01C-9DC274D49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5701" y="2601271"/>
            <a:ext cx="2571236" cy="558745"/>
          </a:xfrm>
          <a:prstGeom prst="rect">
            <a:avLst/>
          </a:prstGeom>
          <a:solidFill>
            <a:srgbClr val="E5233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8" name="Imagem 18">
            <a:extLst>
              <a:ext uri="{FF2B5EF4-FFF2-40B4-BE49-F238E27FC236}">
                <a16:creationId xmlns:a16="http://schemas.microsoft.com/office/drawing/2014/main" id="{0823CE0B-70A9-EE59-460A-4F2EA56539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1946" y="2682524"/>
            <a:ext cx="1738745" cy="396240"/>
          </a:xfrm>
          <a:prstGeom prst="rect">
            <a:avLst/>
          </a:prstGeom>
        </p:spPr>
      </p:pic>
      <p:sp>
        <p:nvSpPr>
          <p:cNvPr id="19" name="Google Shape;95;p1">
            <a:extLst>
              <a:ext uri="{FF2B5EF4-FFF2-40B4-BE49-F238E27FC236}">
                <a16:creationId xmlns:a16="http://schemas.microsoft.com/office/drawing/2014/main" id="{3596FD0A-B970-C337-D9D4-B24DA4356B3F}"/>
              </a:ext>
            </a:extLst>
          </p:cNvPr>
          <p:cNvSpPr/>
          <p:nvPr/>
        </p:nvSpPr>
        <p:spPr>
          <a:xfrm>
            <a:off x="11143859" y="327685"/>
            <a:ext cx="100013" cy="100013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sp>
        <p:nvSpPr>
          <p:cNvPr id="20" name="Google Shape;96;p1">
            <a:extLst>
              <a:ext uri="{FF2B5EF4-FFF2-40B4-BE49-F238E27FC236}">
                <a16:creationId xmlns:a16="http://schemas.microsoft.com/office/drawing/2014/main" id="{87B2C98F-7522-4186-BA65-035C70C09D80}"/>
              </a:ext>
            </a:extLst>
          </p:cNvPr>
          <p:cNvSpPr/>
          <p:nvPr/>
        </p:nvSpPr>
        <p:spPr>
          <a:xfrm>
            <a:off x="11398652" y="327685"/>
            <a:ext cx="100013" cy="100013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F1727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sp>
        <p:nvSpPr>
          <p:cNvPr id="21" name="Google Shape;97;p1">
            <a:extLst>
              <a:ext uri="{FF2B5EF4-FFF2-40B4-BE49-F238E27FC236}">
                <a16:creationId xmlns:a16="http://schemas.microsoft.com/office/drawing/2014/main" id="{BE9DE5CF-0804-8216-D935-48216B941DAA}"/>
              </a:ext>
            </a:extLst>
          </p:cNvPr>
          <p:cNvSpPr/>
          <p:nvPr/>
        </p:nvSpPr>
        <p:spPr>
          <a:xfrm>
            <a:off x="11654872" y="327685"/>
            <a:ext cx="100013" cy="100013"/>
          </a:xfrm>
          <a:prstGeom prst="ellipse">
            <a:avLst/>
          </a:prstGeom>
          <a:solidFill>
            <a:srgbClr val="E523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F1727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sp>
        <p:nvSpPr>
          <p:cNvPr id="22" name="Fundo do título"/>
          <p:cNvSpPr/>
          <p:nvPr/>
        </p:nvSpPr>
        <p:spPr>
          <a:xfrm>
            <a:off x="7269480" y="3200400"/>
            <a:ext cx="461772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053"/>
          <p:cNvSpPr txBox="1"/>
          <p:nvPr/>
        </p:nvSpPr>
        <p:spPr>
          <a:xfrm>
            <a:off x="7315200" y="3401568"/>
            <a:ext cx="45262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9F1727"/>
                </a:solidFill>
                <a:latin typeface="Outfit"/>
              </a:rPr>
              <a:t>Íris: a agente que transforma a conversa do grupo em pedido no iFood.</a:t>
            </a:r>
          </a:p>
        </p:txBody>
      </p:sp>
      <p:sp>
        <p:nvSpPr>
          <p:cNvPr id="24" name="TextBox 1054"/>
          <p:cNvSpPr txBox="1"/>
          <p:nvPr/>
        </p:nvSpPr>
        <p:spPr>
          <a:xfrm>
            <a:off x="7315200" y="4846320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52334"/>
                </a:solidFill>
                <a:latin typeface="Outfit"/>
              </a:rPr>
              <a:t>SEMCOMP 29 × iFood 2026 · Desafio Vendendo com Agentes</a:t>
            </a:r>
          </a:p>
        </p:txBody>
      </p:sp>
      <p:sp>
        <p:nvSpPr>
          <p:cNvPr id="25" name="TextBox 1055"/>
          <p:cNvSpPr txBox="1"/>
          <p:nvPr/>
        </p:nvSpPr>
        <p:spPr>
          <a:xfrm>
            <a:off x="7315200" y="5394960"/>
            <a:ext cx="4526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>
                <a:solidFill>
                  <a:srgbClr val="382D30"/>
                </a:solidFill>
                <a:latin typeface="Outfit"/>
              </a:rPr>
              <a:t>Ana Paula · Andrei</a:t>
            </a:r>
            <a:r>
              <a:rPr lang="pt-BR" sz="1400">
                <a:solidFill>
                  <a:srgbClr val="382D30"/>
                </a:solidFill>
              </a:rPr>
              <a:t> </a:t>
            </a:r>
            <a:r>
              <a:rPr sz="1400" b="0">
                <a:solidFill>
                  <a:srgbClr val="382D30"/>
                </a:solidFill>
                <a:latin typeface="Outfit"/>
              </a:rPr>
              <a:t>· Allan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80">
            <a:extLst>
              <a:ext uri="{FF2B5EF4-FFF2-40B4-BE49-F238E27FC236}">
                <a16:creationId xmlns:a16="http://schemas.microsoft.com/office/drawing/2014/main" id="{78E45F71-D26E-4451-B553-8AEE61ECD5D0}"/>
              </a:ext>
            </a:extLst>
          </p:cNvPr>
          <p:cNvGrpSpPr/>
          <p:nvPr/>
        </p:nvGrpSpPr>
        <p:grpSpPr>
          <a:xfrm rot="5400000">
            <a:off x="9513144" y="4281185"/>
            <a:ext cx="2162175" cy="4435644"/>
            <a:chOff x="10366154" y="2431098"/>
            <a:chExt cx="2162175" cy="4435644"/>
          </a:xfrm>
        </p:grpSpPr>
        <p:grpSp>
          <p:nvGrpSpPr>
            <p:cNvPr id="4" name="Agrupar 79">
              <a:extLst>
                <a:ext uri="{FF2B5EF4-FFF2-40B4-BE49-F238E27FC236}">
                  <a16:creationId xmlns:a16="http://schemas.microsoft.com/office/drawing/2014/main" id="{3AE8F97C-C65C-477C-9B4C-A2521758F603}"/>
                </a:ext>
              </a:extLst>
            </p:cNvPr>
            <p:cNvGrpSpPr/>
            <p:nvPr/>
          </p:nvGrpSpPr>
          <p:grpSpPr>
            <a:xfrm>
              <a:off x="10366154" y="2431098"/>
              <a:ext cx="2162175" cy="2163764"/>
              <a:chOff x="7578726" y="-1395413"/>
              <a:chExt cx="2162175" cy="2163764"/>
            </a:xfrm>
            <a:solidFill>
              <a:srgbClr val="E52334">
                <a:alpha val="20000"/>
              </a:srgbClr>
            </a:solidFill>
          </p:grpSpPr>
          <p:sp>
            <p:nvSpPr>
              <p:cNvPr id="5" name="Oval 6">
                <a:extLst>
                  <a:ext uri="{FF2B5EF4-FFF2-40B4-BE49-F238E27FC236}">
                    <a16:creationId xmlns:a16="http://schemas.microsoft.com/office/drawing/2014/main" id="{C90A4C56-635A-41FD-9484-C0CF8679EC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6188" y="-244475"/>
                <a:ext cx="996950" cy="9937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6" name="Freeform 7">
                <a:extLst>
                  <a:ext uri="{FF2B5EF4-FFF2-40B4-BE49-F238E27FC236}">
                    <a16:creationId xmlns:a16="http://schemas.microsoft.com/office/drawing/2014/main" id="{FB49B7CC-B632-482E-B2E6-F64D6BBEEA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8726" y="-1395413"/>
                <a:ext cx="2162175" cy="2163764"/>
              </a:xfrm>
              <a:custGeom>
                <a:avLst/>
                <a:gdLst>
                  <a:gd name="T0" fmla="*/ 1844 w 1860"/>
                  <a:gd name="T1" fmla="*/ 1447 h 1861"/>
                  <a:gd name="T2" fmla="*/ 1424 w 1860"/>
                  <a:gd name="T3" fmla="*/ 989 h 1861"/>
                  <a:gd name="T4" fmla="*/ 1416 w 1860"/>
                  <a:gd name="T5" fmla="*/ 989 h 1861"/>
                  <a:gd name="T6" fmla="*/ 1409 w 1860"/>
                  <a:gd name="T7" fmla="*/ 989 h 1861"/>
                  <a:gd name="T8" fmla="*/ 871 w 1860"/>
                  <a:gd name="T9" fmla="*/ 452 h 1861"/>
                  <a:gd name="T10" fmla="*/ 871 w 1860"/>
                  <a:gd name="T11" fmla="*/ 444 h 1861"/>
                  <a:gd name="T12" fmla="*/ 871 w 1860"/>
                  <a:gd name="T13" fmla="*/ 436 h 1861"/>
                  <a:gd name="T14" fmla="*/ 414 w 1860"/>
                  <a:gd name="T15" fmla="*/ 17 h 1861"/>
                  <a:gd name="T16" fmla="*/ 16 w 1860"/>
                  <a:gd name="T17" fmla="*/ 415 h 1861"/>
                  <a:gd name="T18" fmla="*/ 436 w 1860"/>
                  <a:gd name="T19" fmla="*/ 872 h 1861"/>
                  <a:gd name="T20" fmla="*/ 443 w 1860"/>
                  <a:gd name="T21" fmla="*/ 872 h 1861"/>
                  <a:gd name="T22" fmla="*/ 451 w 1860"/>
                  <a:gd name="T23" fmla="*/ 872 h 1861"/>
                  <a:gd name="T24" fmla="*/ 989 w 1860"/>
                  <a:gd name="T25" fmla="*/ 1410 h 1861"/>
                  <a:gd name="T26" fmla="*/ 989 w 1860"/>
                  <a:gd name="T27" fmla="*/ 1417 h 1861"/>
                  <a:gd name="T28" fmla="*/ 989 w 1860"/>
                  <a:gd name="T29" fmla="*/ 1425 h 1861"/>
                  <a:gd name="T30" fmla="*/ 1446 w 1860"/>
                  <a:gd name="T31" fmla="*/ 1844 h 1861"/>
                  <a:gd name="T32" fmla="*/ 1844 w 1860"/>
                  <a:gd name="T33" fmla="*/ 1447 h 18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60" h="1861">
                    <a:moveTo>
                      <a:pt x="1844" y="1447"/>
                    </a:moveTo>
                    <a:cubicBezTo>
                      <a:pt x="1860" y="1199"/>
                      <a:pt x="1667" y="993"/>
                      <a:pt x="1424" y="989"/>
                    </a:cubicBezTo>
                    <a:cubicBezTo>
                      <a:pt x="1422" y="989"/>
                      <a:pt x="1419" y="989"/>
                      <a:pt x="1416" y="989"/>
                    </a:cubicBezTo>
                    <a:cubicBezTo>
                      <a:pt x="1414" y="989"/>
                      <a:pt x="1411" y="989"/>
                      <a:pt x="1409" y="989"/>
                    </a:cubicBezTo>
                    <a:cubicBezTo>
                      <a:pt x="1114" y="985"/>
                      <a:pt x="875" y="746"/>
                      <a:pt x="871" y="452"/>
                    </a:cubicBezTo>
                    <a:cubicBezTo>
                      <a:pt x="871" y="449"/>
                      <a:pt x="871" y="447"/>
                      <a:pt x="871" y="444"/>
                    </a:cubicBezTo>
                    <a:cubicBezTo>
                      <a:pt x="871" y="442"/>
                      <a:pt x="871" y="439"/>
                      <a:pt x="871" y="436"/>
                    </a:cubicBezTo>
                    <a:cubicBezTo>
                      <a:pt x="867" y="194"/>
                      <a:pt x="661" y="0"/>
                      <a:pt x="414" y="17"/>
                    </a:cubicBezTo>
                    <a:cubicBezTo>
                      <a:pt x="202" y="31"/>
                      <a:pt x="30" y="203"/>
                      <a:pt x="16" y="415"/>
                    </a:cubicBezTo>
                    <a:cubicBezTo>
                      <a:pt x="0" y="662"/>
                      <a:pt x="193" y="868"/>
                      <a:pt x="436" y="872"/>
                    </a:cubicBezTo>
                    <a:cubicBezTo>
                      <a:pt x="438" y="872"/>
                      <a:pt x="441" y="872"/>
                      <a:pt x="443" y="872"/>
                    </a:cubicBezTo>
                    <a:cubicBezTo>
                      <a:pt x="446" y="872"/>
                      <a:pt x="449" y="872"/>
                      <a:pt x="451" y="872"/>
                    </a:cubicBezTo>
                    <a:cubicBezTo>
                      <a:pt x="746" y="876"/>
                      <a:pt x="984" y="1115"/>
                      <a:pt x="989" y="1410"/>
                    </a:cubicBezTo>
                    <a:cubicBezTo>
                      <a:pt x="989" y="1412"/>
                      <a:pt x="989" y="1415"/>
                      <a:pt x="989" y="1417"/>
                    </a:cubicBezTo>
                    <a:cubicBezTo>
                      <a:pt x="989" y="1420"/>
                      <a:pt x="989" y="1422"/>
                      <a:pt x="989" y="1425"/>
                    </a:cubicBezTo>
                    <a:cubicBezTo>
                      <a:pt x="993" y="1667"/>
                      <a:pt x="1199" y="1861"/>
                      <a:pt x="1446" y="1844"/>
                    </a:cubicBezTo>
                    <a:cubicBezTo>
                      <a:pt x="1657" y="1830"/>
                      <a:pt x="1829" y="1658"/>
                      <a:pt x="1844" y="14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7" name="Oval 8">
                <a:extLst>
                  <a:ext uri="{FF2B5EF4-FFF2-40B4-BE49-F238E27FC236}">
                    <a16:creationId xmlns:a16="http://schemas.microsoft.com/office/drawing/2014/main" id="{713D498D-AF2C-4B76-BDD2-F7D9AEDA1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6488" y="-1376363"/>
                <a:ext cx="996950" cy="9953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</p:grpSp>
        <p:grpSp>
          <p:nvGrpSpPr>
            <p:cNvPr id="8" name="Agrupar 81">
              <a:extLst>
                <a:ext uri="{FF2B5EF4-FFF2-40B4-BE49-F238E27FC236}">
                  <a16:creationId xmlns:a16="http://schemas.microsoft.com/office/drawing/2014/main" id="{67F7894D-C27C-46DF-AB3D-39C6DB4E23E5}"/>
                </a:ext>
              </a:extLst>
            </p:cNvPr>
            <p:cNvGrpSpPr/>
            <p:nvPr/>
          </p:nvGrpSpPr>
          <p:grpSpPr>
            <a:xfrm>
              <a:off x="10366154" y="4702978"/>
              <a:ext cx="2162175" cy="2163764"/>
              <a:chOff x="7578726" y="-1395413"/>
              <a:chExt cx="2162175" cy="2163764"/>
            </a:xfrm>
            <a:solidFill>
              <a:srgbClr val="E52334">
                <a:alpha val="20000"/>
              </a:srgbClr>
            </a:solidFill>
          </p:grpSpPr>
          <p:sp>
            <p:nvSpPr>
              <p:cNvPr id="9" name="Oval 6">
                <a:extLst>
                  <a:ext uri="{FF2B5EF4-FFF2-40B4-BE49-F238E27FC236}">
                    <a16:creationId xmlns:a16="http://schemas.microsoft.com/office/drawing/2014/main" id="{0746FCBB-4B9E-46E0-8DFA-7F976C4D66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6188" y="-244475"/>
                <a:ext cx="996950" cy="9937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703201B7-B02C-4345-8B47-D481EC0552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8726" y="-1395413"/>
                <a:ext cx="2162175" cy="2163764"/>
              </a:xfrm>
              <a:custGeom>
                <a:avLst/>
                <a:gdLst>
                  <a:gd name="T0" fmla="*/ 1844 w 1860"/>
                  <a:gd name="T1" fmla="*/ 1447 h 1861"/>
                  <a:gd name="T2" fmla="*/ 1424 w 1860"/>
                  <a:gd name="T3" fmla="*/ 989 h 1861"/>
                  <a:gd name="T4" fmla="*/ 1416 w 1860"/>
                  <a:gd name="T5" fmla="*/ 989 h 1861"/>
                  <a:gd name="T6" fmla="*/ 1409 w 1860"/>
                  <a:gd name="T7" fmla="*/ 989 h 1861"/>
                  <a:gd name="T8" fmla="*/ 871 w 1860"/>
                  <a:gd name="T9" fmla="*/ 452 h 1861"/>
                  <a:gd name="T10" fmla="*/ 871 w 1860"/>
                  <a:gd name="T11" fmla="*/ 444 h 1861"/>
                  <a:gd name="T12" fmla="*/ 871 w 1860"/>
                  <a:gd name="T13" fmla="*/ 436 h 1861"/>
                  <a:gd name="T14" fmla="*/ 414 w 1860"/>
                  <a:gd name="T15" fmla="*/ 17 h 1861"/>
                  <a:gd name="T16" fmla="*/ 16 w 1860"/>
                  <a:gd name="T17" fmla="*/ 415 h 1861"/>
                  <a:gd name="T18" fmla="*/ 436 w 1860"/>
                  <a:gd name="T19" fmla="*/ 872 h 1861"/>
                  <a:gd name="T20" fmla="*/ 443 w 1860"/>
                  <a:gd name="T21" fmla="*/ 872 h 1861"/>
                  <a:gd name="T22" fmla="*/ 451 w 1860"/>
                  <a:gd name="T23" fmla="*/ 872 h 1861"/>
                  <a:gd name="T24" fmla="*/ 989 w 1860"/>
                  <a:gd name="T25" fmla="*/ 1410 h 1861"/>
                  <a:gd name="T26" fmla="*/ 989 w 1860"/>
                  <a:gd name="T27" fmla="*/ 1417 h 1861"/>
                  <a:gd name="T28" fmla="*/ 989 w 1860"/>
                  <a:gd name="T29" fmla="*/ 1425 h 1861"/>
                  <a:gd name="T30" fmla="*/ 1446 w 1860"/>
                  <a:gd name="T31" fmla="*/ 1844 h 1861"/>
                  <a:gd name="T32" fmla="*/ 1844 w 1860"/>
                  <a:gd name="T33" fmla="*/ 1447 h 18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60" h="1861">
                    <a:moveTo>
                      <a:pt x="1844" y="1447"/>
                    </a:moveTo>
                    <a:cubicBezTo>
                      <a:pt x="1860" y="1199"/>
                      <a:pt x="1667" y="993"/>
                      <a:pt x="1424" y="989"/>
                    </a:cubicBezTo>
                    <a:cubicBezTo>
                      <a:pt x="1422" y="989"/>
                      <a:pt x="1419" y="989"/>
                      <a:pt x="1416" y="989"/>
                    </a:cubicBezTo>
                    <a:cubicBezTo>
                      <a:pt x="1414" y="989"/>
                      <a:pt x="1411" y="989"/>
                      <a:pt x="1409" y="989"/>
                    </a:cubicBezTo>
                    <a:cubicBezTo>
                      <a:pt x="1114" y="985"/>
                      <a:pt x="875" y="746"/>
                      <a:pt x="871" y="452"/>
                    </a:cubicBezTo>
                    <a:cubicBezTo>
                      <a:pt x="871" y="449"/>
                      <a:pt x="871" y="447"/>
                      <a:pt x="871" y="444"/>
                    </a:cubicBezTo>
                    <a:cubicBezTo>
                      <a:pt x="871" y="442"/>
                      <a:pt x="871" y="439"/>
                      <a:pt x="871" y="436"/>
                    </a:cubicBezTo>
                    <a:cubicBezTo>
                      <a:pt x="867" y="194"/>
                      <a:pt x="661" y="0"/>
                      <a:pt x="414" y="17"/>
                    </a:cubicBezTo>
                    <a:cubicBezTo>
                      <a:pt x="202" y="31"/>
                      <a:pt x="30" y="203"/>
                      <a:pt x="16" y="415"/>
                    </a:cubicBezTo>
                    <a:cubicBezTo>
                      <a:pt x="0" y="662"/>
                      <a:pt x="193" y="868"/>
                      <a:pt x="436" y="872"/>
                    </a:cubicBezTo>
                    <a:cubicBezTo>
                      <a:pt x="438" y="872"/>
                      <a:pt x="441" y="872"/>
                      <a:pt x="443" y="872"/>
                    </a:cubicBezTo>
                    <a:cubicBezTo>
                      <a:pt x="446" y="872"/>
                      <a:pt x="449" y="872"/>
                      <a:pt x="451" y="872"/>
                    </a:cubicBezTo>
                    <a:cubicBezTo>
                      <a:pt x="746" y="876"/>
                      <a:pt x="984" y="1115"/>
                      <a:pt x="989" y="1410"/>
                    </a:cubicBezTo>
                    <a:cubicBezTo>
                      <a:pt x="989" y="1412"/>
                      <a:pt x="989" y="1415"/>
                      <a:pt x="989" y="1417"/>
                    </a:cubicBezTo>
                    <a:cubicBezTo>
                      <a:pt x="989" y="1420"/>
                      <a:pt x="989" y="1422"/>
                      <a:pt x="989" y="1425"/>
                    </a:cubicBezTo>
                    <a:cubicBezTo>
                      <a:pt x="993" y="1667"/>
                      <a:pt x="1199" y="1861"/>
                      <a:pt x="1446" y="1844"/>
                    </a:cubicBezTo>
                    <a:cubicBezTo>
                      <a:pt x="1657" y="1830"/>
                      <a:pt x="1829" y="1658"/>
                      <a:pt x="1844" y="14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11" name="Oval 8">
                <a:extLst>
                  <a:ext uri="{FF2B5EF4-FFF2-40B4-BE49-F238E27FC236}">
                    <a16:creationId xmlns:a16="http://schemas.microsoft.com/office/drawing/2014/main" id="{DC832EDE-C7B7-4B30-B3AD-CEBEDB0957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6488" y="-1376363"/>
                <a:ext cx="996950" cy="9953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</p:grpSp>
      </p:grpSp>
      <p:grpSp>
        <p:nvGrpSpPr>
          <p:cNvPr id="12" name="Agrupar 14">
            <a:extLst>
              <a:ext uri="{FF2B5EF4-FFF2-40B4-BE49-F238E27FC236}">
                <a16:creationId xmlns:a16="http://schemas.microsoft.com/office/drawing/2014/main" id="{191C49A3-B2DB-4FAE-B7EF-D7AB24718FA2}"/>
              </a:ext>
            </a:extLst>
          </p:cNvPr>
          <p:cNvGrpSpPr/>
          <p:nvPr/>
        </p:nvGrpSpPr>
        <p:grpSpPr>
          <a:xfrm>
            <a:off x="0" y="481866"/>
            <a:ext cx="4663440" cy="851627"/>
            <a:chOff x="783526" y="1421079"/>
            <a:chExt cx="3059643" cy="558745"/>
          </a:xfrm>
        </p:grpSpPr>
        <p:sp>
          <p:nvSpPr>
            <p:cNvPr id="13" name="Rectangle 18">
              <a:extLst>
                <a:ext uri="{FF2B5EF4-FFF2-40B4-BE49-F238E27FC236}">
                  <a16:creationId xmlns:a16="http://schemas.microsoft.com/office/drawing/2014/main" id="{C2FFFE1C-EBFC-492F-A00F-7165D0460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526" y="1421079"/>
              <a:ext cx="558025" cy="558745"/>
            </a:xfrm>
            <a:prstGeom prst="rect">
              <a:avLst/>
            </a:prstGeom>
            <a:solidFill>
              <a:srgbClr val="9F17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E52334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Rectangle 19">
              <a:extLst>
                <a:ext uri="{FF2B5EF4-FFF2-40B4-BE49-F238E27FC236}">
                  <a16:creationId xmlns:a16="http://schemas.microsoft.com/office/drawing/2014/main" id="{4E116990-9416-4A28-9CC4-2AD389867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1551" y="1421079"/>
              <a:ext cx="2501618" cy="558745"/>
            </a:xfrm>
            <a:prstGeom prst="rect">
              <a:avLst/>
            </a:prstGeom>
            <a:solidFill>
              <a:srgbClr val="FC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E52334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srgbClr val="9F1727"/>
                </a:solidFill>
              </a:endParaRPr>
            </a:p>
          </p:txBody>
        </p:sp>
        <p:sp>
          <p:nvSpPr>
            <p:cNvPr id="15" name="Freeform 20">
              <a:extLst>
                <a:ext uri="{FF2B5EF4-FFF2-40B4-BE49-F238E27FC236}">
                  <a16:creationId xmlns:a16="http://schemas.microsoft.com/office/drawing/2014/main" id="{7F37A2D2-09C6-4E7F-B4BC-46A6A8954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59849" y="1526924"/>
              <a:ext cx="403218" cy="348496"/>
            </a:xfrm>
            <a:custGeom>
              <a:avLst/>
              <a:gdLst>
                <a:gd name="T0" fmla="*/ 280 w 560"/>
                <a:gd name="T1" fmla="*/ 484 h 484"/>
                <a:gd name="T2" fmla="*/ 0 w 560"/>
                <a:gd name="T3" fmla="*/ 484 h 484"/>
                <a:gd name="T4" fmla="*/ 140 w 560"/>
                <a:gd name="T5" fmla="*/ 242 h 484"/>
                <a:gd name="T6" fmla="*/ 280 w 560"/>
                <a:gd name="T7" fmla="*/ 0 h 484"/>
                <a:gd name="T8" fmla="*/ 420 w 560"/>
                <a:gd name="T9" fmla="*/ 242 h 484"/>
                <a:gd name="T10" fmla="*/ 560 w 560"/>
                <a:gd name="T11" fmla="*/ 484 h 484"/>
                <a:gd name="T12" fmla="*/ 280 w 560"/>
                <a:gd name="T13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0" h="484">
                  <a:moveTo>
                    <a:pt x="280" y="484"/>
                  </a:moveTo>
                  <a:lnTo>
                    <a:pt x="0" y="484"/>
                  </a:lnTo>
                  <a:lnTo>
                    <a:pt x="140" y="242"/>
                  </a:lnTo>
                  <a:lnTo>
                    <a:pt x="280" y="0"/>
                  </a:lnTo>
                  <a:lnTo>
                    <a:pt x="420" y="242"/>
                  </a:lnTo>
                  <a:lnTo>
                    <a:pt x="560" y="484"/>
                  </a:lnTo>
                  <a:lnTo>
                    <a:pt x="280" y="4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9F1727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</p:grpSp>
      <p:sp>
        <p:nvSpPr>
          <p:cNvPr id="16" name="Título"/>
          <p:cNvSpPr txBox="1"/>
          <p:nvPr/>
        </p:nvSpPr>
        <p:spPr>
          <a:xfrm>
            <a:off x="1051560" y="557784"/>
            <a:ext cx="3291840" cy="7040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>
                <a:solidFill>
                  <a:srgbClr val="9F1727"/>
                </a:solidFill>
                <a:latin typeface="Outfit Medium"/>
              </a:rPr>
              <a:t>“Bora pedir?”</a:t>
            </a:r>
          </a:p>
        </p:txBody>
      </p:sp>
      <p:sp>
        <p:nvSpPr>
          <p:cNvPr id="17" name="Google Shape;95;p1">
            <a:extLst>
              <a:ext uri="{FF2B5EF4-FFF2-40B4-BE49-F238E27FC236}">
                <a16:creationId xmlns:a16="http://schemas.microsoft.com/office/drawing/2014/main" id="{3596FD0A-B970-C337-D9D4-B24DA4356B3F}"/>
              </a:ext>
            </a:extLst>
          </p:cNvPr>
          <p:cNvSpPr/>
          <p:nvPr/>
        </p:nvSpPr>
        <p:spPr>
          <a:xfrm>
            <a:off x="11143859" y="327685"/>
            <a:ext cx="100013" cy="100013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sp>
        <p:nvSpPr>
          <p:cNvPr id="18" name="Google Shape;96;p1">
            <a:extLst>
              <a:ext uri="{FF2B5EF4-FFF2-40B4-BE49-F238E27FC236}">
                <a16:creationId xmlns:a16="http://schemas.microsoft.com/office/drawing/2014/main" id="{87B2C98F-7522-4186-BA65-035C70C09D80}"/>
              </a:ext>
            </a:extLst>
          </p:cNvPr>
          <p:cNvSpPr/>
          <p:nvPr/>
        </p:nvSpPr>
        <p:spPr>
          <a:xfrm>
            <a:off x="11398652" y="327685"/>
            <a:ext cx="100013" cy="100013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F1727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sp>
        <p:nvSpPr>
          <p:cNvPr id="19" name="Google Shape;97;p1">
            <a:extLst>
              <a:ext uri="{FF2B5EF4-FFF2-40B4-BE49-F238E27FC236}">
                <a16:creationId xmlns:a16="http://schemas.microsoft.com/office/drawing/2014/main" id="{BE9DE5CF-0804-8216-D935-48216B941DAA}"/>
              </a:ext>
            </a:extLst>
          </p:cNvPr>
          <p:cNvSpPr/>
          <p:nvPr/>
        </p:nvSpPr>
        <p:spPr>
          <a:xfrm>
            <a:off x="11654872" y="327685"/>
            <a:ext cx="100013" cy="100013"/>
          </a:xfrm>
          <a:prstGeom prst="ellipse">
            <a:avLst/>
          </a:prstGeom>
          <a:solidFill>
            <a:srgbClr val="E523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F1727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pic>
        <p:nvPicPr>
          <p:cNvPr id="20" name="FoodJam wordmark" descr="FoodJa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5480" y="270000"/>
            <a:ext cx="1250000" cy="341314"/>
          </a:xfrm>
          <a:prstGeom prst="rect">
            <a:avLst/>
          </a:prstGeom>
        </p:spPr>
      </p:pic>
      <p:sp>
        <p:nvSpPr>
          <p:cNvPr id="21" name="Rounded Rectangle 128"/>
          <p:cNvSpPr/>
          <p:nvPr/>
        </p:nvSpPr>
        <p:spPr>
          <a:xfrm>
            <a:off x="777240" y="1691640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FC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1">
                <a:solidFill>
                  <a:srgbClr val="9F1727"/>
                </a:solidFill>
                <a:latin typeface="Outfit"/>
              </a:rPr>
              <a:t>12H03 · GRUPO DO TRABALHO</a:t>
            </a:r>
          </a:p>
        </p:txBody>
      </p:sp>
      <p:sp>
        <p:nvSpPr>
          <p:cNvPr id="22" name="TextBox 129"/>
          <p:cNvSpPr txBox="1"/>
          <p:nvPr/>
        </p:nvSpPr>
        <p:spPr>
          <a:xfrm>
            <a:off x="777240" y="237744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9F1727"/>
                </a:solidFill>
                <a:latin typeface="Outfit"/>
              </a:rPr>
              <a:t>Vinte mensagens depois, ninguém pediu nada.</a:t>
            </a:r>
          </a:p>
        </p:txBody>
      </p:sp>
      <p:sp>
        <p:nvSpPr>
          <p:cNvPr id="23" name="TextBox 130"/>
          <p:cNvSpPr txBox="1"/>
          <p:nvPr/>
        </p:nvSpPr>
        <p:spPr>
          <a:xfrm>
            <a:off x="777240" y="3794760"/>
            <a:ext cx="4663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382D30"/>
                </a:solidFill>
                <a:latin typeface="Outfit"/>
              </a:rPr>
              <a:t>E depois de muito debate, alguém monta o carrinho sozinho, paga e passa a semana cobrando Pix.</a:t>
            </a:r>
          </a:p>
        </p:txBody>
      </p:sp>
      <p:sp>
        <p:nvSpPr>
          <p:cNvPr id="24" name="Rounded Rectangle 131"/>
          <p:cNvSpPr/>
          <p:nvPr/>
        </p:nvSpPr>
        <p:spPr>
          <a:xfrm>
            <a:off x="6309360" y="1600200"/>
            <a:ext cx="4206240" cy="868680"/>
          </a:xfrm>
          <a:prstGeom prst="roundRect">
            <a:avLst>
              <a:gd name="adj" fmla="val 3000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" rIns="228600" bIns="27432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Outfit"/>
              </a:rPr>
              <a:t>Caio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Outfit"/>
              </a:rPr>
              <a:t>quero hambúrguer!!</a:t>
            </a:r>
          </a:p>
        </p:txBody>
      </p:sp>
      <p:sp>
        <p:nvSpPr>
          <p:cNvPr id="25" name="Rounded Rectangle 132"/>
          <p:cNvSpPr/>
          <p:nvPr/>
        </p:nvSpPr>
        <p:spPr>
          <a:xfrm>
            <a:off x="6995160" y="2670048"/>
            <a:ext cx="4206240" cy="868680"/>
          </a:xfrm>
          <a:prstGeom prst="roundRect">
            <a:avLst>
              <a:gd name="adj" fmla="val 3000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" rIns="228600" bIns="27432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Outfit"/>
              </a:rPr>
              <a:t>Ana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Outfit"/>
              </a:rPr>
              <a:t>sou vegetariana, lembra</a:t>
            </a:r>
          </a:p>
        </p:txBody>
      </p:sp>
      <p:sp>
        <p:nvSpPr>
          <p:cNvPr id="26" name="Rounded Rectangle 133"/>
          <p:cNvSpPr/>
          <p:nvPr/>
        </p:nvSpPr>
        <p:spPr>
          <a:xfrm>
            <a:off x="6309360" y="3739896"/>
            <a:ext cx="4206240" cy="868680"/>
          </a:xfrm>
          <a:prstGeom prst="roundRect">
            <a:avLst>
              <a:gd name="adj" fmla="val 3000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" rIns="228600" bIns="27432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Outfit"/>
              </a:rPr>
              <a:t>Caio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Outfit"/>
              </a:rPr>
              <a:t>de onde então?</a:t>
            </a:r>
          </a:p>
        </p:txBody>
      </p:sp>
      <p:sp>
        <p:nvSpPr>
          <p:cNvPr id="27" name="Rounded Rectangle 134"/>
          <p:cNvSpPr/>
          <p:nvPr/>
        </p:nvSpPr>
        <p:spPr>
          <a:xfrm>
            <a:off x="6995160" y="4809744"/>
            <a:ext cx="4206240" cy="10972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E523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" rIns="228600" bIns="27432" rtlCol="0" anchor="ctr"/>
          <a:lstStyle/>
          <a:p>
            <a:pPr algn="l"/>
            <a:r>
              <a:rPr sz="1200" b="1">
                <a:solidFill>
                  <a:srgbClr val="9F1727"/>
                </a:solidFill>
                <a:latin typeface="Outfit"/>
              </a:rPr>
              <a:t>Bia</a:t>
            </a:r>
          </a:p>
          <a:p>
            <a:pPr algn="l"/>
            <a:r>
              <a:rPr sz="1700" b="0">
                <a:solidFill>
                  <a:srgbClr val="9F1727"/>
                </a:solidFill>
                <a:latin typeface="Outfit"/>
              </a:rPr>
              <a:t>(só tem R$ 30 e não quer falar no grupo)</a:t>
            </a:r>
          </a:p>
        </p:txBody>
      </p:sp>
      <p:sp>
        <p:nvSpPr>
          <p:cNvPr id="28" name="Rodapé"/>
          <p:cNvSpPr txBox="1"/>
          <p:nvPr/>
        </p:nvSpPr>
        <p:spPr>
          <a:xfrm>
            <a:off x="777240" y="642823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000">
                <a:solidFill>
                  <a:srgbClr val="9F1727"/>
                </a:solidFill>
              </a:rPr>
              <a:t>ÍRIS </a:t>
            </a:r>
            <a:r>
              <a:rPr sz="1000" b="0">
                <a:solidFill>
                  <a:srgbClr val="9F1727"/>
                </a:solidFill>
                <a:latin typeface="Outfit"/>
              </a:rPr>
              <a:t>· </a:t>
            </a:r>
            <a:r>
              <a:rPr lang="pt-BR" sz="1000" err="1">
                <a:solidFill>
                  <a:srgbClr val="9F1727"/>
                </a:solidFill>
              </a:rPr>
              <a:t>FOODJAM</a:t>
            </a:r>
            <a:r>
              <a:rPr lang="pt-BR" sz="1000">
                <a:solidFill>
                  <a:srgbClr val="9F1727"/>
                </a:solidFill>
              </a:rPr>
              <a:t> </a:t>
            </a:r>
            <a:r>
              <a:rPr sz="1000" b="0">
                <a:solidFill>
                  <a:srgbClr val="9F1727"/>
                </a:solidFill>
                <a:latin typeface="Outfit"/>
              </a:rPr>
              <a:t>· SEMCOMP × </a:t>
            </a:r>
            <a:r>
              <a:rPr lang="pt-BR" sz="1000" err="1">
                <a:solidFill>
                  <a:srgbClr val="9F1727"/>
                </a:solidFill>
              </a:rPr>
              <a:t>IFOOD</a:t>
            </a:r>
            <a:r>
              <a:rPr sz="1000" b="0">
                <a:solidFill>
                  <a:srgbClr val="9F1727"/>
                </a:solidFill>
                <a:latin typeface="Outfit"/>
              </a:rPr>
              <a:t> 2026</a:t>
            </a:r>
          </a:p>
        </p:txBody>
      </p:sp>
      <p:sp>
        <p:nvSpPr>
          <p:cNvPr id="29" name="Número"/>
          <p:cNvSpPr txBox="1"/>
          <p:nvPr/>
        </p:nvSpPr>
        <p:spPr>
          <a:xfrm>
            <a:off x="11292840" y="64282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9F1727"/>
                </a:solidFill>
                <a:latin typeface="Outfi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80">
            <a:extLst>
              <a:ext uri="{FF2B5EF4-FFF2-40B4-BE49-F238E27FC236}">
                <a16:creationId xmlns:a16="http://schemas.microsoft.com/office/drawing/2014/main" id="{78E45F71-D26E-4451-B553-8AEE61ECD5D0}"/>
              </a:ext>
            </a:extLst>
          </p:cNvPr>
          <p:cNvGrpSpPr/>
          <p:nvPr/>
        </p:nvGrpSpPr>
        <p:grpSpPr>
          <a:xfrm rot="5400000">
            <a:off x="9513144" y="4281185"/>
            <a:ext cx="2162175" cy="4435644"/>
            <a:chOff x="10366154" y="2431098"/>
            <a:chExt cx="2162175" cy="4435644"/>
          </a:xfrm>
        </p:grpSpPr>
        <p:grpSp>
          <p:nvGrpSpPr>
            <p:cNvPr id="4" name="Agrupar 79">
              <a:extLst>
                <a:ext uri="{FF2B5EF4-FFF2-40B4-BE49-F238E27FC236}">
                  <a16:creationId xmlns:a16="http://schemas.microsoft.com/office/drawing/2014/main" id="{3AE8F97C-C65C-477C-9B4C-A2521758F603}"/>
                </a:ext>
              </a:extLst>
            </p:cNvPr>
            <p:cNvGrpSpPr/>
            <p:nvPr/>
          </p:nvGrpSpPr>
          <p:grpSpPr>
            <a:xfrm>
              <a:off x="10366154" y="2431098"/>
              <a:ext cx="2162175" cy="2163764"/>
              <a:chOff x="7578726" y="-1395413"/>
              <a:chExt cx="2162175" cy="2163764"/>
            </a:xfrm>
            <a:solidFill>
              <a:srgbClr val="E52334">
                <a:alpha val="20000"/>
              </a:srgbClr>
            </a:solidFill>
          </p:grpSpPr>
          <p:sp>
            <p:nvSpPr>
              <p:cNvPr id="5" name="Oval 6">
                <a:extLst>
                  <a:ext uri="{FF2B5EF4-FFF2-40B4-BE49-F238E27FC236}">
                    <a16:creationId xmlns:a16="http://schemas.microsoft.com/office/drawing/2014/main" id="{C90A4C56-635A-41FD-9484-C0CF8679EC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6188" y="-244475"/>
                <a:ext cx="996950" cy="9937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6" name="Freeform 7">
                <a:extLst>
                  <a:ext uri="{FF2B5EF4-FFF2-40B4-BE49-F238E27FC236}">
                    <a16:creationId xmlns:a16="http://schemas.microsoft.com/office/drawing/2014/main" id="{FB49B7CC-B632-482E-B2E6-F64D6BBEEA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8726" y="-1395413"/>
                <a:ext cx="2162175" cy="2163764"/>
              </a:xfrm>
              <a:custGeom>
                <a:avLst/>
                <a:gdLst>
                  <a:gd name="T0" fmla="*/ 1844 w 1860"/>
                  <a:gd name="T1" fmla="*/ 1447 h 1861"/>
                  <a:gd name="T2" fmla="*/ 1424 w 1860"/>
                  <a:gd name="T3" fmla="*/ 989 h 1861"/>
                  <a:gd name="T4" fmla="*/ 1416 w 1860"/>
                  <a:gd name="T5" fmla="*/ 989 h 1861"/>
                  <a:gd name="T6" fmla="*/ 1409 w 1860"/>
                  <a:gd name="T7" fmla="*/ 989 h 1861"/>
                  <a:gd name="T8" fmla="*/ 871 w 1860"/>
                  <a:gd name="T9" fmla="*/ 452 h 1861"/>
                  <a:gd name="T10" fmla="*/ 871 w 1860"/>
                  <a:gd name="T11" fmla="*/ 444 h 1861"/>
                  <a:gd name="T12" fmla="*/ 871 w 1860"/>
                  <a:gd name="T13" fmla="*/ 436 h 1861"/>
                  <a:gd name="T14" fmla="*/ 414 w 1860"/>
                  <a:gd name="T15" fmla="*/ 17 h 1861"/>
                  <a:gd name="T16" fmla="*/ 16 w 1860"/>
                  <a:gd name="T17" fmla="*/ 415 h 1861"/>
                  <a:gd name="T18" fmla="*/ 436 w 1860"/>
                  <a:gd name="T19" fmla="*/ 872 h 1861"/>
                  <a:gd name="T20" fmla="*/ 443 w 1860"/>
                  <a:gd name="T21" fmla="*/ 872 h 1861"/>
                  <a:gd name="T22" fmla="*/ 451 w 1860"/>
                  <a:gd name="T23" fmla="*/ 872 h 1861"/>
                  <a:gd name="T24" fmla="*/ 989 w 1860"/>
                  <a:gd name="T25" fmla="*/ 1410 h 1861"/>
                  <a:gd name="T26" fmla="*/ 989 w 1860"/>
                  <a:gd name="T27" fmla="*/ 1417 h 1861"/>
                  <a:gd name="T28" fmla="*/ 989 w 1860"/>
                  <a:gd name="T29" fmla="*/ 1425 h 1861"/>
                  <a:gd name="T30" fmla="*/ 1446 w 1860"/>
                  <a:gd name="T31" fmla="*/ 1844 h 1861"/>
                  <a:gd name="T32" fmla="*/ 1844 w 1860"/>
                  <a:gd name="T33" fmla="*/ 1447 h 18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60" h="1861">
                    <a:moveTo>
                      <a:pt x="1844" y="1447"/>
                    </a:moveTo>
                    <a:cubicBezTo>
                      <a:pt x="1860" y="1199"/>
                      <a:pt x="1667" y="993"/>
                      <a:pt x="1424" y="989"/>
                    </a:cubicBezTo>
                    <a:cubicBezTo>
                      <a:pt x="1422" y="989"/>
                      <a:pt x="1419" y="989"/>
                      <a:pt x="1416" y="989"/>
                    </a:cubicBezTo>
                    <a:cubicBezTo>
                      <a:pt x="1414" y="989"/>
                      <a:pt x="1411" y="989"/>
                      <a:pt x="1409" y="989"/>
                    </a:cubicBezTo>
                    <a:cubicBezTo>
                      <a:pt x="1114" y="985"/>
                      <a:pt x="875" y="746"/>
                      <a:pt x="871" y="452"/>
                    </a:cubicBezTo>
                    <a:cubicBezTo>
                      <a:pt x="871" y="449"/>
                      <a:pt x="871" y="447"/>
                      <a:pt x="871" y="444"/>
                    </a:cubicBezTo>
                    <a:cubicBezTo>
                      <a:pt x="871" y="442"/>
                      <a:pt x="871" y="439"/>
                      <a:pt x="871" y="436"/>
                    </a:cubicBezTo>
                    <a:cubicBezTo>
                      <a:pt x="867" y="194"/>
                      <a:pt x="661" y="0"/>
                      <a:pt x="414" y="17"/>
                    </a:cubicBezTo>
                    <a:cubicBezTo>
                      <a:pt x="202" y="31"/>
                      <a:pt x="30" y="203"/>
                      <a:pt x="16" y="415"/>
                    </a:cubicBezTo>
                    <a:cubicBezTo>
                      <a:pt x="0" y="662"/>
                      <a:pt x="193" y="868"/>
                      <a:pt x="436" y="872"/>
                    </a:cubicBezTo>
                    <a:cubicBezTo>
                      <a:pt x="438" y="872"/>
                      <a:pt x="441" y="872"/>
                      <a:pt x="443" y="872"/>
                    </a:cubicBezTo>
                    <a:cubicBezTo>
                      <a:pt x="446" y="872"/>
                      <a:pt x="449" y="872"/>
                      <a:pt x="451" y="872"/>
                    </a:cubicBezTo>
                    <a:cubicBezTo>
                      <a:pt x="746" y="876"/>
                      <a:pt x="984" y="1115"/>
                      <a:pt x="989" y="1410"/>
                    </a:cubicBezTo>
                    <a:cubicBezTo>
                      <a:pt x="989" y="1412"/>
                      <a:pt x="989" y="1415"/>
                      <a:pt x="989" y="1417"/>
                    </a:cubicBezTo>
                    <a:cubicBezTo>
                      <a:pt x="989" y="1420"/>
                      <a:pt x="989" y="1422"/>
                      <a:pt x="989" y="1425"/>
                    </a:cubicBezTo>
                    <a:cubicBezTo>
                      <a:pt x="993" y="1667"/>
                      <a:pt x="1199" y="1861"/>
                      <a:pt x="1446" y="1844"/>
                    </a:cubicBezTo>
                    <a:cubicBezTo>
                      <a:pt x="1657" y="1830"/>
                      <a:pt x="1829" y="1658"/>
                      <a:pt x="1844" y="14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7" name="Oval 8">
                <a:extLst>
                  <a:ext uri="{FF2B5EF4-FFF2-40B4-BE49-F238E27FC236}">
                    <a16:creationId xmlns:a16="http://schemas.microsoft.com/office/drawing/2014/main" id="{713D498D-AF2C-4B76-BDD2-F7D9AEDA1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6488" y="-1376363"/>
                <a:ext cx="996950" cy="9953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</p:grpSp>
        <p:grpSp>
          <p:nvGrpSpPr>
            <p:cNvPr id="8" name="Agrupar 81">
              <a:extLst>
                <a:ext uri="{FF2B5EF4-FFF2-40B4-BE49-F238E27FC236}">
                  <a16:creationId xmlns:a16="http://schemas.microsoft.com/office/drawing/2014/main" id="{67F7894D-C27C-46DF-AB3D-39C6DB4E23E5}"/>
                </a:ext>
              </a:extLst>
            </p:cNvPr>
            <p:cNvGrpSpPr/>
            <p:nvPr/>
          </p:nvGrpSpPr>
          <p:grpSpPr>
            <a:xfrm>
              <a:off x="10366154" y="4702978"/>
              <a:ext cx="2162175" cy="2163764"/>
              <a:chOff x="7578726" y="-1395413"/>
              <a:chExt cx="2162175" cy="2163764"/>
            </a:xfrm>
            <a:solidFill>
              <a:srgbClr val="E52334">
                <a:alpha val="20000"/>
              </a:srgbClr>
            </a:solidFill>
          </p:grpSpPr>
          <p:sp>
            <p:nvSpPr>
              <p:cNvPr id="9" name="Oval 6">
                <a:extLst>
                  <a:ext uri="{FF2B5EF4-FFF2-40B4-BE49-F238E27FC236}">
                    <a16:creationId xmlns:a16="http://schemas.microsoft.com/office/drawing/2014/main" id="{0746FCBB-4B9E-46E0-8DFA-7F976C4D66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6188" y="-244475"/>
                <a:ext cx="996950" cy="9937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703201B7-B02C-4345-8B47-D481EC0552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8726" y="-1395413"/>
                <a:ext cx="2162175" cy="2163764"/>
              </a:xfrm>
              <a:custGeom>
                <a:avLst/>
                <a:gdLst>
                  <a:gd name="T0" fmla="*/ 1844 w 1860"/>
                  <a:gd name="T1" fmla="*/ 1447 h 1861"/>
                  <a:gd name="T2" fmla="*/ 1424 w 1860"/>
                  <a:gd name="T3" fmla="*/ 989 h 1861"/>
                  <a:gd name="T4" fmla="*/ 1416 w 1860"/>
                  <a:gd name="T5" fmla="*/ 989 h 1861"/>
                  <a:gd name="T6" fmla="*/ 1409 w 1860"/>
                  <a:gd name="T7" fmla="*/ 989 h 1861"/>
                  <a:gd name="T8" fmla="*/ 871 w 1860"/>
                  <a:gd name="T9" fmla="*/ 452 h 1861"/>
                  <a:gd name="T10" fmla="*/ 871 w 1860"/>
                  <a:gd name="T11" fmla="*/ 444 h 1861"/>
                  <a:gd name="T12" fmla="*/ 871 w 1860"/>
                  <a:gd name="T13" fmla="*/ 436 h 1861"/>
                  <a:gd name="T14" fmla="*/ 414 w 1860"/>
                  <a:gd name="T15" fmla="*/ 17 h 1861"/>
                  <a:gd name="T16" fmla="*/ 16 w 1860"/>
                  <a:gd name="T17" fmla="*/ 415 h 1861"/>
                  <a:gd name="T18" fmla="*/ 436 w 1860"/>
                  <a:gd name="T19" fmla="*/ 872 h 1861"/>
                  <a:gd name="T20" fmla="*/ 443 w 1860"/>
                  <a:gd name="T21" fmla="*/ 872 h 1861"/>
                  <a:gd name="T22" fmla="*/ 451 w 1860"/>
                  <a:gd name="T23" fmla="*/ 872 h 1861"/>
                  <a:gd name="T24" fmla="*/ 989 w 1860"/>
                  <a:gd name="T25" fmla="*/ 1410 h 1861"/>
                  <a:gd name="T26" fmla="*/ 989 w 1860"/>
                  <a:gd name="T27" fmla="*/ 1417 h 1861"/>
                  <a:gd name="T28" fmla="*/ 989 w 1860"/>
                  <a:gd name="T29" fmla="*/ 1425 h 1861"/>
                  <a:gd name="T30" fmla="*/ 1446 w 1860"/>
                  <a:gd name="T31" fmla="*/ 1844 h 1861"/>
                  <a:gd name="T32" fmla="*/ 1844 w 1860"/>
                  <a:gd name="T33" fmla="*/ 1447 h 18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60" h="1861">
                    <a:moveTo>
                      <a:pt x="1844" y="1447"/>
                    </a:moveTo>
                    <a:cubicBezTo>
                      <a:pt x="1860" y="1199"/>
                      <a:pt x="1667" y="993"/>
                      <a:pt x="1424" y="989"/>
                    </a:cubicBezTo>
                    <a:cubicBezTo>
                      <a:pt x="1422" y="989"/>
                      <a:pt x="1419" y="989"/>
                      <a:pt x="1416" y="989"/>
                    </a:cubicBezTo>
                    <a:cubicBezTo>
                      <a:pt x="1414" y="989"/>
                      <a:pt x="1411" y="989"/>
                      <a:pt x="1409" y="989"/>
                    </a:cubicBezTo>
                    <a:cubicBezTo>
                      <a:pt x="1114" y="985"/>
                      <a:pt x="875" y="746"/>
                      <a:pt x="871" y="452"/>
                    </a:cubicBezTo>
                    <a:cubicBezTo>
                      <a:pt x="871" y="449"/>
                      <a:pt x="871" y="447"/>
                      <a:pt x="871" y="444"/>
                    </a:cubicBezTo>
                    <a:cubicBezTo>
                      <a:pt x="871" y="442"/>
                      <a:pt x="871" y="439"/>
                      <a:pt x="871" y="436"/>
                    </a:cubicBezTo>
                    <a:cubicBezTo>
                      <a:pt x="867" y="194"/>
                      <a:pt x="661" y="0"/>
                      <a:pt x="414" y="17"/>
                    </a:cubicBezTo>
                    <a:cubicBezTo>
                      <a:pt x="202" y="31"/>
                      <a:pt x="30" y="203"/>
                      <a:pt x="16" y="415"/>
                    </a:cubicBezTo>
                    <a:cubicBezTo>
                      <a:pt x="0" y="662"/>
                      <a:pt x="193" y="868"/>
                      <a:pt x="436" y="872"/>
                    </a:cubicBezTo>
                    <a:cubicBezTo>
                      <a:pt x="438" y="872"/>
                      <a:pt x="441" y="872"/>
                      <a:pt x="443" y="872"/>
                    </a:cubicBezTo>
                    <a:cubicBezTo>
                      <a:pt x="446" y="872"/>
                      <a:pt x="449" y="872"/>
                      <a:pt x="451" y="872"/>
                    </a:cubicBezTo>
                    <a:cubicBezTo>
                      <a:pt x="746" y="876"/>
                      <a:pt x="984" y="1115"/>
                      <a:pt x="989" y="1410"/>
                    </a:cubicBezTo>
                    <a:cubicBezTo>
                      <a:pt x="989" y="1412"/>
                      <a:pt x="989" y="1415"/>
                      <a:pt x="989" y="1417"/>
                    </a:cubicBezTo>
                    <a:cubicBezTo>
                      <a:pt x="989" y="1420"/>
                      <a:pt x="989" y="1422"/>
                      <a:pt x="989" y="1425"/>
                    </a:cubicBezTo>
                    <a:cubicBezTo>
                      <a:pt x="993" y="1667"/>
                      <a:pt x="1199" y="1861"/>
                      <a:pt x="1446" y="1844"/>
                    </a:cubicBezTo>
                    <a:cubicBezTo>
                      <a:pt x="1657" y="1830"/>
                      <a:pt x="1829" y="1658"/>
                      <a:pt x="1844" y="14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11" name="Oval 8">
                <a:extLst>
                  <a:ext uri="{FF2B5EF4-FFF2-40B4-BE49-F238E27FC236}">
                    <a16:creationId xmlns:a16="http://schemas.microsoft.com/office/drawing/2014/main" id="{DC832EDE-C7B7-4B30-B3AD-CEBEDB0957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6488" y="-1376363"/>
                <a:ext cx="996950" cy="9953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</p:grpSp>
      </p:grpSp>
      <p:grpSp>
        <p:nvGrpSpPr>
          <p:cNvPr id="12" name="Agrupar 14">
            <a:extLst>
              <a:ext uri="{FF2B5EF4-FFF2-40B4-BE49-F238E27FC236}">
                <a16:creationId xmlns:a16="http://schemas.microsoft.com/office/drawing/2014/main" id="{191C49A3-B2DB-4FAE-B7EF-D7AB24718FA2}"/>
              </a:ext>
            </a:extLst>
          </p:cNvPr>
          <p:cNvGrpSpPr/>
          <p:nvPr/>
        </p:nvGrpSpPr>
        <p:grpSpPr>
          <a:xfrm>
            <a:off x="0" y="481866"/>
            <a:ext cx="9052560" cy="851627"/>
            <a:chOff x="783526" y="1421079"/>
            <a:chExt cx="5939308" cy="558745"/>
          </a:xfrm>
        </p:grpSpPr>
        <p:sp>
          <p:nvSpPr>
            <p:cNvPr id="13" name="Rectangle 18">
              <a:extLst>
                <a:ext uri="{FF2B5EF4-FFF2-40B4-BE49-F238E27FC236}">
                  <a16:creationId xmlns:a16="http://schemas.microsoft.com/office/drawing/2014/main" id="{C2FFFE1C-EBFC-492F-A00F-7165D0460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526" y="1421079"/>
              <a:ext cx="558025" cy="558745"/>
            </a:xfrm>
            <a:prstGeom prst="rect">
              <a:avLst/>
            </a:prstGeom>
            <a:solidFill>
              <a:srgbClr val="9F17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E52334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Rectangle 19">
              <a:extLst>
                <a:ext uri="{FF2B5EF4-FFF2-40B4-BE49-F238E27FC236}">
                  <a16:creationId xmlns:a16="http://schemas.microsoft.com/office/drawing/2014/main" id="{4E116990-9416-4A28-9CC4-2AD389867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1551" y="1421079"/>
              <a:ext cx="5381283" cy="558745"/>
            </a:xfrm>
            <a:prstGeom prst="rect">
              <a:avLst/>
            </a:prstGeom>
            <a:solidFill>
              <a:srgbClr val="FC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E52334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srgbClr val="9F1727"/>
                </a:solidFill>
              </a:endParaRPr>
            </a:p>
          </p:txBody>
        </p:sp>
        <p:sp>
          <p:nvSpPr>
            <p:cNvPr id="15" name="Freeform 20">
              <a:extLst>
                <a:ext uri="{FF2B5EF4-FFF2-40B4-BE49-F238E27FC236}">
                  <a16:creationId xmlns:a16="http://schemas.microsoft.com/office/drawing/2014/main" id="{7F37A2D2-09C6-4E7F-B4BC-46A6A8954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59849" y="1526924"/>
              <a:ext cx="403218" cy="348496"/>
            </a:xfrm>
            <a:custGeom>
              <a:avLst/>
              <a:gdLst>
                <a:gd name="T0" fmla="*/ 280 w 560"/>
                <a:gd name="T1" fmla="*/ 484 h 484"/>
                <a:gd name="T2" fmla="*/ 0 w 560"/>
                <a:gd name="T3" fmla="*/ 484 h 484"/>
                <a:gd name="T4" fmla="*/ 140 w 560"/>
                <a:gd name="T5" fmla="*/ 242 h 484"/>
                <a:gd name="T6" fmla="*/ 280 w 560"/>
                <a:gd name="T7" fmla="*/ 0 h 484"/>
                <a:gd name="T8" fmla="*/ 420 w 560"/>
                <a:gd name="T9" fmla="*/ 242 h 484"/>
                <a:gd name="T10" fmla="*/ 560 w 560"/>
                <a:gd name="T11" fmla="*/ 484 h 484"/>
                <a:gd name="T12" fmla="*/ 280 w 560"/>
                <a:gd name="T13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0" h="484">
                  <a:moveTo>
                    <a:pt x="280" y="484"/>
                  </a:moveTo>
                  <a:lnTo>
                    <a:pt x="0" y="484"/>
                  </a:lnTo>
                  <a:lnTo>
                    <a:pt x="140" y="242"/>
                  </a:lnTo>
                  <a:lnTo>
                    <a:pt x="280" y="0"/>
                  </a:lnTo>
                  <a:lnTo>
                    <a:pt x="420" y="242"/>
                  </a:lnTo>
                  <a:lnTo>
                    <a:pt x="560" y="484"/>
                  </a:lnTo>
                  <a:lnTo>
                    <a:pt x="280" y="4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9F1727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</p:grpSp>
      <p:sp>
        <p:nvSpPr>
          <p:cNvPr id="16" name="Título"/>
          <p:cNvSpPr txBox="1"/>
          <p:nvPr/>
        </p:nvSpPr>
        <p:spPr>
          <a:xfrm>
            <a:off x="1051560" y="557784"/>
            <a:ext cx="7680960" cy="7040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>
                <a:solidFill>
                  <a:srgbClr val="9F1727"/>
                </a:solidFill>
                <a:latin typeface="Outfit Medium"/>
              </a:rPr>
              <a:t>Pedido em grupo tem quatro dores</a:t>
            </a:r>
          </a:p>
        </p:txBody>
      </p:sp>
      <p:sp>
        <p:nvSpPr>
          <p:cNvPr id="17" name="Google Shape;95;p1">
            <a:extLst>
              <a:ext uri="{FF2B5EF4-FFF2-40B4-BE49-F238E27FC236}">
                <a16:creationId xmlns:a16="http://schemas.microsoft.com/office/drawing/2014/main" id="{3596FD0A-B970-C337-D9D4-B24DA4356B3F}"/>
              </a:ext>
            </a:extLst>
          </p:cNvPr>
          <p:cNvSpPr/>
          <p:nvPr/>
        </p:nvSpPr>
        <p:spPr>
          <a:xfrm>
            <a:off x="11143859" y="327685"/>
            <a:ext cx="100013" cy="100013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sp>
        <p:nvSpPr>
          <p:cNvPr id="18" name="Google Shape;96;p1">
            <a:extLst>
              <a:ext uri="{FF2B5EF4-FFF2-40B4-BE49-F238E27FC236}">
                <a16:creationId xmlns:a16="http://schemas.microsoft.com/office/drawing/2014/main" id="{87B2C98F-7522-4186-BA65-035C70C09D80}"/>
              </a:ext>
            </a:extLst>
          </p:cNvPr>
          <p:cNvSpPr/>
          <p:nvPr/>
        </p:nvSpPr>
        <p:spPr>
          <a:xfrm>
            <a:off x="11398652" y="327685"/>
            <a:ext cx="100013" cy="100013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F1727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sp>
        <p:nvSpPr>
          <p:cNvPr id="19" name="Google Shape;97;p1">
            <a:extLst>
              <a:ext uri="{FF2B5EF4-FFF2-40B4-BE49-F238E27FC236}">
                <a16:creationId xmlns:a16="http://schemas.microsoft.com/office/drawing/2014/main" id="{BE9DE5CF-0804-8216-D935-48216B941DAA}"/>
              </a:ext>
            </a:extLst>
          </p:cNvPr>
          <p:cNvSpPr/>
          <p:nvPr/>
        </p:nvSpPr>
        <p:spPr>
          <a:xfrm>
            <a:off x="11654872" y="327685"/>
            <a:ext cx="100013" cy="100013"/>
          </a:xfrm>
          <a:prstGeom prst="ellipse">
            <a:avLst/>
          </a:prstGeom>
          <a:solidFill>
            <a:srgbClr val="E523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F1727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pic>
        <p:nvPicPr>
          <p:cNvPr id="20" name="FoodJam wordmark" descr="FoodJa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5480" y="270000"/>
            <a:ext cx="1250000" cy="341314"/>
          </a:xfrm>
          <a:prstGeom prst="rect">
            <a:avLst/>
          </a:prstGeom>
        </p:spPr>
      </p:pic>
      <p:sp>
        <p:nvSpPr>
          <p:cNvPr id="21" name="Rounded Rectangle 128"/>
          <p:cNvSpPr/>
          <p:nvPr/>
        </p:nvSpPr>
        <p:spPr>
          <a:xfrm>
            <a:off x="713232" y="1645920"/>
            <a:ext cx="2551176" cy="3657600"/>
          </a:xfrm>
          <a:prstGeom prst="roundRect">
            <a:avLst>
              <a:gd name="adj" fmla="val 1125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129"/>
          <p:cNvSpPr/>
          <p:nvPr/>
        </p:nvSpPr>
        <p:spPr>
          <a:xfrm>
            <a:off x="2624328" y="1847088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600" b="1">
                <a:solidFill>
                  <a:srgbClr val="E52334"/>
                </a:solidFill>
                <a:latin typeface="Outfit"/>
              </a:rPr>
              <a:t>1</a:t>
            </a:r>
          </a:p>
        </p:txBody>
      </p:sp>
      <p:sp>
        <p:nvSpPr>
          <p:cNvPr id="23" name="TextBox 130"/>
          <p:cNvSpPr txBox="1"/>
          <p:nvPr/>
        </p:nvSpPr>
        <p:spPr>
          <a:xfrm>
            <a:off x="941832" y="182880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Outfit"/>
              </a:rPr>
              <a:t>Ninguém decide</a:t>
            </a:r>
          </a:p>
        </p:txBody>
      </p:sp>
      <p:pic>
        <p:nvPicPr>
          <p:cNvPr id="24" name="FoodJam compare" descr="Ícone comparar opções">
            <a:extLst>
              <a:ext uri="{FF2B5EF4-FFF2-40B4-BE49-F238E27FC236}">
                <a16:creationId xmlns:a16="http://schemas.microsoft.com/office/drawing/2014/main" id="{AB1C921D-ACE3-4E2E-4643-A62CC7CBDC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7864" y="2743200"/>
            <a:ext cx="1591056" cy="1591056"/>
          </a:xfrm>
          <a:custGeom>
            <a:avLst/>
            <a:gdLst>
              <a:gd name="connsiteX0" fmla="*/ 1187074 w 2374148"/>
              <a:gd name="connsiteY0" fmla="*/ 0 h 2374148"/>
              <a:gd name="connsiteX1" fmla="*/ 2374148 w 2374148"/>
              <a:gd name="connsiteY1" fmla="*/ 1187074 h 2374148"/>
              <a:gd name="connsiteX2" fmla="*/ 1187074 w 2374148"/>
              <a:gd name="connsiteY2" fmla="*/ 2374148 h 2374148"/>
              <a:gd name="connsiteX3" fmla="*/ 0 w 2374148"/>
              <a:gd name="connsiteY3" fmla="*/ 1187074 h 2374148"/>
              <a:gd name="connsiteX4" fmla="*/ 1187074 w 2374148"/>
              <a:gd name="connsiteY4" fmla="*/ 0 h 237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4148" h="2374148">
                <a:moveTo>
                  <a:pt x="1187074" y="0"/>
                </a:moveTo>
                <a:cubicBezTo>
                  <a:pt x="1842677" y="0"/>
                  <a:pt x="2374148" y="531471"/>
                  <a:pt x="2374148" y="1187074"/>
                </a:cubicBezTo>
                <a:cubicBezTo>
                  <a:pt x="2374148" y="1842677"/>
                  <a:pt x="1842677" y="2374148"/>
                  <a:pt x="1187074" y="2374148"/>
                </a:cubicBezTo>
                <a:cubicBezTo>
                  <a:pt x="531471" y="2374148"/>
                  <a:pt x="0" y="1842677"/>
                  <a:pt x="0" y="1187074"/>
                </a:cubicBezTo>
                <a:cubicBezTo>
                  <a:pt x="0" y="531471"/>
                  <a:pt x="531471" y="0"/>
                  <a:pt x="1187074" y="0"/>
                </a:cubicBezTo>
                <a:close/>
              </a:path>
            </a:pathLst>
          </a:custGeom>
        </p:spPr>
      </p:pic>
      <p:sp>
        <p:nvSpPr>
          <p:cNvPr id="25" name="Rounded Rectangle 131"/>
          <p:cNvSpPr/>
          <p:nvPr/>
        </p:nvSpPr>
        <p:spPr>
          <a:xfrm>
            <a:off x="987552" y="4462272"/>
            <a:ext cx="2002536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sz="1200" b="0">
                <a:solidFill>
                  <a:srgbClr val="9F1727"/>
                </a:solidFill>
                <a:latin typeface="Outfit"/>
              </a:rPr>
              <a:t>Vinte mensagens e nenhuma escolha.</a:t>
            </a:r>
          </a:p>
        </p:txBody>
      </p:sp>
      <p:sp>
        <p:nvSpPr>
          <p:cNvPr id="26" name="Rounded Rectangle 132"/>
          <p:cNvSpPr/>
          <p:nvPr/>
        </p:nvSpPr>
        <p:spPr>
          <a:xfrm>
            <a:off x="3447288" y="1645920"/>
            <a:ext cx="2551176" cy="3657600"/>
          </a:xfrm>
          <a:prstGeom prst="roundRect">
            <a:avLst>
              <a:gd name="adj" fmla="val 1125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133"/>
          <p:cNvSpPr/>
          <p:nvPr/>
        </p:nvSpPr>
        <p:spPr>
          <a:xfrm>
            <a:off x="5358384" y="1847088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600" b="1">
                <a:solidFill>
                  <a:srgbClr val="E52334"/>
                </a:solidFill>
                <a:latin typeface="Outfit"/>
              </a:rPr>
              <a:t>2</a:t>
            </a:r>
          </a:p>
        </p:txBody>
      </p:sp>
      <p:sp>
        <p:nvSpPr>
          <p:cNvPr id="28" name="TextBox 134"/>
          <p:cNvSpPr txBox="1"/>
          <p:nvPr/>
        </p:nvSpPr>
        <p:spPr>
          <a:xfrm>
            <a:off x="3675888" y="182880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Outfit"/>
              </a:rPr>
              <a:t>Restrições se chocam</a:t>
            </a:r>
          </a:p>
        </p:txBody>
      </p:sp>
      <p:pic>
        <p:nvPicPr>
          <p:cNvPr id="29" name="FoodJam preferences" descr="Ícone preferências">
            <a:extLst>
              <a:ext uri="{FF2B5EF4-FFF2-40B4-BE49-F238E27FC236}">
                <a16:creationId xmlns:a16="http://schemas.microsoft.com/office/drawing/2014/main" id="{2EECAE16-DB92-4772-8B6C-1AFEB21414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1920" y="2743200"/>
            <a:ext cx="1591056" cy="1591056"/>
          </a:xfrm>
          <a:custGeom>
            <a:avLst/>
            <a:gdLst>
              <a:gd name="connsiteX0" fmla="*/ 1187074 w 2374148"/>
              <a:gd name="connsiteY0" fmla="*/ 0 h 2374148"/>
              <a:gd name="connsiteX1" fmla="*/ 2374148 w 2374148"/>
              <a:gd name="connsiteY1" fmla="*/ 1187074 h 2374148"/>
              <a:gd name="connsiteX2" fmla="*/ 1187074 w 2374148"/>
              <a:gd name="connsiteY2" fmla="*/ 2374148 h 2374148"/>
              <a:gd name="connsiteX3" fmla="*/ 0 w 2374148"/>
              <a:gd name="connsiteY3" fmla="*/ 1187074 h 2374148"/>
              <a:gd name="connsiteX4" fmla="*/ 1187074 w 2374148"/>
              <a:gd name="connsiteY4" fmla="*/ 0 h 237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4148" h="2374148">
                <a:moveTo>
                  <a:pt x="1187074" y="0"/>
                </a:moveTo>
                <a:cubicBezTo>
                  <a:pt x="1842677" y="0"/>
                  <a:pt x="2374148" y="531471"/>
                  <a:pt x="2374148" y="1187074"/>
                </a:cubicBezTo>
                <a:cubicBezTo>
                  <a:pt x="2374148" y="1842677"/>
                  <a:pt x="1842677" y="2374148"/>
                  <a:pt x="1187074" y="2374148"/>
                </a:cubicBezTo>
                <a:cubicBezTo>
                  <a:pt x="531471" y="2374148"/>
                  <a:pt x="0" y="1842677"/>
                  <a:pt x="0" y="1187074"/>
                </a:cubicBezTo>
                <a:cubicBezTo>
                  <a:pt x="0" y="531471"/>
                  <a:pt x="531471" y="0"/>
                  <a:pt x="1187074" y="0"/>
                </a:cubicBezTo>
                <a:close/>
              </a:path>
            </a:pathLst>
          </a:custGeom>
        </p:spPr>
      </p:pic>
      <p:sp>
        <p:nvSpPr>
          <p:cNvPr id="30" name="Rounded Rectangle 135"/>
          <p:cNvSpPr/>
          <p:nvPr/>
        </p:nvSpPr>
        <p:spPr>
          <a:xfrm>
            <a:off x="3721608" y="4462272"/>
            <a:ext cx="2002536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sz="1200" b="0">
                <a:solidFill>
                  <a:srgbClr val="9F1727"/>
                </a:solidFill>
                <a:latin typeface="Outfit"/>
              </a:rPr>
              <a:t>Vegetariano, alergia, “sem cebola”.</a:t>
            </a:r>
          </a:p>
        </p:txBody>
      </p:sp>
      <p:sp>
        <p:nvSpPr>
          <p:cNvPr id="31" name="Rounded Rectangle 136"/>
          <p:cNvSpPr/>
          <p:nvPr/>
        </p:nvSpPr>
        <p:spPr>
          <a:xfrm>
            <a:off x="6181344" y="1645920"/>
            <a:ext cx="2551176" cy="3657600"/>
          </a:xfrm>
          <a:prstGeom prst="roundRect">
            <a:avLst>
              <a:gd name="adj" fmla="val 1125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137"/>
          <p:cNvSpPr/>
          <p:nvPr/>
        </p:nvSpPr>
        <p:spPr>
          <a:xfrm>
            <a:off x="8092440" y="1847088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600" b="1">
                <a:solidFill>
                  <a:srgbClr val="E52334"/>
                </a:solidFill>
                <a:latin typeface="Outfit"/>
              </a:rPr>
              <a:t>3</a:t>
            </a:r>
          </a:p>
        </p:txBody>
      </p:sp>
      <p:sp>
        <p:nvSpPr>
          <p:cNvPr id="33" name="TextBox 138"/>
          <p:cNvSpPr txBox="1"/>
          <p:nvPr/>
        </p:nvSpPr>
        <p:spPr>
          <a:xfrm>
            <a:off x="6409944" y="182880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Outfit"/>
              </a:rPr>
              <a:t>Dinheiro é tabu</a:t>
            </a:r>
          </a:p>
        </p:txBody>
      </p:sp>
      <p:pic>
        <p:nvPicPr>
          <p:cNvPr id="34" name="FoodJam budget" descr="Ícone orçamento">
            <a:extLst>
              <a:ext uri="{FF2B5EF4-FFF2-40B4-BE49-F238E27FC236}">
                <a16:creationId xmlns:a16="http://schemas.microsoft.com/office/drawing/2014/main" id="{04158D1A-614E-C7C3-C369-6CB2F4269F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5976" y="2743200"/>
            <a:ext cx="1591056" cy="1591056"/>
          </a:xfrm>
          <a:custGeom>
            <a:avLst/>
            <a:gdLst>
              <a:gd name="connsiteX0" fmla="*/ 1187074 w 2374148"/>
              <a:gd name="connsiteY0" fmla="*/ 0 h 2374148"/>
              <a:gd name="connsiteX1" fmla="*/ 2374148 w 2374148"/>
              <a:gd name="connsiteY1" fmla="*/ 1187074 h 2374148"/>
              <a:gd name="connsiteX2" fmla="*/ 1187074 w 2374148"/>
              <a:gd name="connsiteY2" fmla="*/ 2374148 h 2374148"/>
              <a:gd name="connsiteX3" fmla="*/ 0 w 2374148"/>
              <a:gd name="connsiteY3" fmla="*/ 1187074 h 2374148"/>
              <a:gd name="connsiteX4" fmla="*/ 1187074 w 2374148"/>
              <a:gd name="connsiteY4" fmla="*/ 0 h 237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4148" h="2374148">
                <a:moveTo>
                  <a:pt x="1187074" y="0"/>
                </a:moveTo>
                <a:cubicBezTo>
                  <a:pt x="1842677" y="0"/>
                  <a:pt x="2374148" y="531471"/>
                  <a:pt x="2374148" y="1187074"/>
                </a:cubicBezTo>
                <a:cubicBezTo>
                  <a:pt x="2374148" y="1842677"/>
                  <a:pt x="1842677" y="2374148"/>
                  <a:pt x="1187074" y="2374148"/>
                </a:cubicBezTo>
                <a:cubicBezTo>
                  <a:pt x="531471" y="2374148"/>
                  <a:pt x="0" y="1842677"/>
                  <a:pt x="0" y="1187074"/>
                </a:cubicBezTo>
                <a:cubicBezTo>
                  <a:pt x="0" y="531471"/>
                  <a:pt x="531471" y="0"/>
                  <a:pt x="1187074" y="0"/>
                </a:cubicBezTo>
                <a:close/>
              </a:path>
            </a:pathLst>
          </a:custGeom>
        </p:spPr>
      </p:pic>
      <p:sp>
        <p:nvSpPr>
          <p:cNvPr id="35" name="Rounded Rectangle 139"/>
          <p:cNvSpPr/>
          <p:nvPr/>
        </p:nvSpPr>
        <p:spPr>
          <a:xfrm>
            <a:off x="6455664" y="4462272"/>
            <a:ext cx="2002536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sz="1200" b="0">
                <a:solidFill>
                  <a:srgbClr val="9F1727"/>
                </a:solidFill>
                <a:latin typeface="Outfit"/>
              </a:rPr>
              <a:t>Ninguém fala do próprio limite em público.</a:t>
            </a:r>
          </a:p>
        </p:txBody>
      </p:sp>
      <p:sp>
        <p:nvSpPr>
          <p:cNvPr id="36" name="Rounded Rectangle 140"/>
          <p:cNvSpPr/>
          <p:nvPr/>
        </p:nvSpPr>
        <p:spPr>
          <a:xfrm>
            <a:off x="8915400" y="1645920"/>
            <a:ext cx="2551176" cy="3657600"/>
          </a:xfrm>
          <a:prstGeom prst="roundRect">
            <a:avLst>
              <a:gd name="adj" fmla="val 1125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141"/>
          <p:cNvSpPr/>
          <p:nvPr/>
        </p:nvSpPr>
        <p:spPr>
          <a:xfrm>
            <a:off x="10826496" y="1847088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600" b="1">
                <a:solidFill>
                  <a:srgbClr val="E52334"/>
                </a:solidFill>
                <a:latin typeface="Outfit"/>
              </a:rPr>
              <a:t>4</a:t>
            </a:r>
          </a:p>
        </p:txBody>
      </p:sp>
      <p:sp>
        <p:nvSpPr>
          <p:cNvPr id="38" name="TextBox 142"/>
          <p:cNvSpPr txBox="1"/>
          <p:nvPr/>
        </p:nvSpPr>
        <p:spPr>
          <a:xfrm>
            <a:off x="9144000" y="182880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Outfit"/>
              </a:rPr>
              <a:t>Alguém vira secretário</a:t>
            </a:r>
          </a:p>
        </p:txBody>
      </p:sp>
      <p:pic>
        <p:nvPicPr>
          <p:cNvPr id="39" name="FoodJam organizer" descr="Ícone organizador">
            <a:extLst>
              <a:ext uri="{FF2B5EF4-FFF2-40B4-BE49-F238E27FC236}">
                <a16:creationId xmlns:a16="http://schemas.microsoft.com/office/drawing/2014/main" id="{7C21E8FE-9050-6681-4B63-A3115B4F8F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00032" y="2743200"/>
            <a:ext cx="1591056" cy="1591056"/>
          </a:xfrm>
          <a:custGeom>
            <a:avLst/>
            <a:gdLst>
              <a:gd name="connsiteX0" fmla="*/ 1187074 w 2374148"/>
              <a:gd name="connsiteY0" fmla="*/ 0 h 2374148"/>
              <a:gd name="connsiteX1" fmla="*/ 2374148 w 2374148"/>
              <a:gd name="connsiteY1" fmla="*/ 1187074 h 2374148"/>
              <a:gd name="connsiteX2" fmla="*/ 1187074 w 2374148"/>
              <a:gd name="connsiteY2" fmla="*/ 2374148 h 2374148"/>
              <a:gd name="connsiteX3" fmla="*/ 0 w 2374148"/>
              <a:gd name="connsiteY3" fmla="*/ 1187074 h 2374148"/>
              <a:gd name="connsiteX4" fmla="*/ 1187074 w 2374148"/>
              <a:gd name="connsiteY4" fmla="*/ 0 h 237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4148" h="2374148">
                <a:moveTo>
                  <a:pt x="1187074" y="0"/>
                </a:moveTo>
                <a:cubicBezTo>
                  <a:pt x="1842677" y="0"/>
                  <a:pt x="2374148" y="531471"/>
                  <a:pt x="2374148" y="1187074"/>
                </a:cubicBezTo>
                <a:cubicBezTo>
                  <a:pt x="2374148" y="1842677"/>
                  <a:pt x="1842677" y="2374148"/>
                  <a:pt x="1187074" y="2374148"/>
                </a:cubicBezTo>
                <a:cubicBezTo>
                  <a:pt x="531471" y="2374148"/>
                  <a:pt x="0" y="1842677"/>
                  <a:pt x="0" y="1187074"/>
                </a:cubicBezTo>
                <a:cubicBezTo>
                  <a:pt x="0" y="531471"/>
                  <a:pt x="531471" y="0"/>
                  <a:pt x="1187074" y="0"/>
                </a:cubicBezTo>
                <a:close/>
              </a:path>
            </a:pathLst>
          </a:custGeom>
        </p:spPr>
      </p:pic>
      <p:sp>
        <p:nvSpPr>
          <p:cNvPr id="40" name="Rounded Rectangle 143"/>
          <p:cNvSpPr/>
          <p:nvPr/>
        </p:nvSpPr>
        <p:spPr>
          <a:xfrm>
            <a:off x="9189720" y="4462272"/>
            <a:ext cx="2002536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sz="1200" b="0">
                <a:solidFill>
                  <a:srgbClr val="9F1727"/>
                </a:solidFill>
                <a:latin typeface="Outfit"/>
              </a:rPr>
              <a:t>Monta o carrinho, paga e cobra Pix.</a:t>
            </a:r>
          </a:p>
        </p:txBody>
      </p:sp>
      <p:sp>
        <p:nvSpPr>
          <p:cNvPr id="41" name="Rounded Rectangle 144"/>
          <p:cNvSpPr/>
          <p:nvPr/>
        </p:nvSpPr>
        <p:spPr>
          <a:xfrm>
            <a:off x="713232" y="5486400"/>
            <a:ext cx="8549640" cy="749808"/>
          </a:xfrm>
          <a:prstGeom prst="roundRect">
            <a:avLst>
              <a:gd name="adj" fmla="val 25000"/>
            </a:avLst>
          </a:prstGeom>
          <a:solidFill>
            <a:srgbClr val="FC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" rIns="228600" bIns="27432" rtlCol="0" anchor="ctr"/>
          <a:lstStyle/>
          <a:p>
            <a:r>
              <a:rPr sz="1700" b="1">
                <a:solidFill>
                  <a:srgbClr val="9F1727"/>
                </a:solidFill>
                <a:latin typeface="Outfit"/>
              </a:rPr>
              <a:t>O </a:t>
            </a:r>
            <a:r>
              <a:rPr sz="1700" b="1" err="1">
                <a:solidFill>
                  <a:srgbClr val="9F1727"/>
                </a:solidFill>
                <a:latin typeface="Outfit"/>
              </a:rPr>
              <a:t>iFood</a:t>
            </a:r>
            <a:r>
              <a:rPr sz="1700" b="1">
                <a:solidFill>
                  <a:srgbClr val="9F1727"/>
                </a:solidFill>
                <a:latin typeface="Outfit"/>
              </a:rPr>
              <a:t> resolve o </a:t>
            </a:r>
            <a:r>
              <a:rPr sz="1700" b="1" err="1">
                <a:solidFill>
                  <a:srgbClr val="9F1727"/>
                </a:solidFill>
                <a:latin typeface="Outfit"/>
              </a:rPr>
              <a:t>carrinho</a:t>
            </a:r>
            <a:r>
              <a:rPr sz="1700" b="1">
                <a:solidFill>
                  <a:srgbClr val="9F1727"/>
                </a:solidFill>
                <a:latin typeface="Outfit"/>
              </a:rPr>
              <a:t> de </a:t>
            </a:r>
            <a:r>
              <a:rPr sz="1700" b="1" err="1">
                <a:solidFill>
                  <a:srgbClr val="9F1727"/>
                </a:solidFill>
                <a:latin typeface="Outfit"/>
              </a:rPr>
              <a:t>uma</a:t>
            </a:r>
            <a:r>
              <a:rPr sz="1700" b="1">
                <a:solidFill>
                  <a:srgbClr val="9F1727"/>
                </a:solidFill>
                <a:latin typeface="Outfit"/>
              </a:rPr>
              <a:t> </a:t>
            </a:r>
            <a:r>
              <a:rPr sz="1700" b="1" err="1">
                <a:solidFill>
                  <a:srgbClr val="9F1727"/>
                </a:solidFill>
                <a:latin typeface="Outfit"/>
              </a:rPr>
              <a:t>pessoa</a:t>
            </a:r>
            <a:r>
              <a:rPr sz="1700" b="1">
                <a:solidFill>
                  <a:srgbClr val="9F1727"/>
                </a:solidFill>
                <a:latin typeface="Outfit"/>
              </a:rPr>
              <a:t>. </a:t>
            </a:r>
            <a:r>
              <a:rPr lang="pt-BR" sz="1700" b="1">
                <a:solidFill>
                  <a:srgbClr val="9F1727"/>
                </a:solidFill>
                <a:latin typeface="Outfit"/>
              </a:rPr>
              <a:t>Mas</a:t>
            </a:r>
            <a:r>
              <a:rPr sz="1700" b="1">
                <a:solidFill>
                  <a:srgbClr val="9F1727"/>
                </a:solidFill>
                <a:latin typeface="Outfit"/>
              </a:rPr>
              <a:t> </a:t>
            </a:r>
            <a:r>
              <a:rPr lang="pt-BR" sz="1700" b="1">
                <a:solidFill>
                  <a:srgbClr val="9F1727"/>
                </a:solidFill>
                <a:latin typeface="Outfit"/>
              </a:rPr>
              <a:t>e o pedido </a:t>
            </a:r>
            <a:r>
              <a:rPr sz="1700" b="1">
                <a:solidFill>
                  <a:srgbClr val="9F1727"/>
                </a:solidFill>
                <a:latin typeface="Outfit"/>
              </a:rPr>
              <a:t>do grupo</a:t>
            </a:r>
            <a:r>
              <a:rPr lang="pt-BR" sz="1700" b="1">
                <a:solidFill>
                  <a:srgbClr val="9F1727"/>
                </a:solidFill>
                <a:latin typeface="Outfit"/>
              </a:rPr>
              <a:t>?</a:t>
            </a:r>
          </a:p>
        </p:txBody>
      </p:sp>
      <p:sp>
        <p:nvSpPr>
          <p:cNvPr id="42" name="Rodapé"/>
          <p:cNvSpPr txBox="1"/>
          <p:nvPr/>
        </p:nvSpPr>
        <p:spPr>
          <a:xfrm>
            <a:off x="777240" y="642823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000">
                <a:solidFill>
                  <a:srgbClr val="9F1727"/>
                </a:solidFill>
              </a:rPr>
              <a:t>ÍRIS </a:t>
            </a:r>
            <a:r>
              <a:rPr sz="1000" b="0">
                <a:solidFill>
                  <a:srgbClr val="9F1727"/>
                </a:solidFill>
                <a:latin typeface="Outfit"/>
              </a:rPr>
              <a:t>· </a:t>
            </a:r>
            <a:r>
              <a:rPr lang="pt-BR" sz="1000" err="1">
                <a:solidFill>
                  <a:srgbClr val="9F1727"/>
                </a:solidFill>
              </a:rPr>
              <a:t>FOODJAM</a:t>
            </a:r>
            <a:r>
              <a:rPr lang="pt-BR" sz="1000">
                <a:solidFill>
                  <a:srgbClr val="9F1727"/>
                </a:solidFill>
              </a:rPr>
              <a:t> </a:t>
            </a:r>
            <a:r>
              <a:rPr sz="1000" b="0">
                <a:solidFill>
                  <a:srgbClr val="9F1727"/>
                </a:solidFill>
                <a:latin typeface="Outfit"/>
              </a:rPr>
              <a:t>· SEMCOMP × </a:t>
            </a:r>
            <a:r>
              <a:rPr lang="pt-BR" sz="1000" err="1">
                <a:solidFill>
                  <a:srgbClr val="9F1727"/>
                </a:solidFill>
              </a:rPr>
              <a:t>IFOOD</a:t>
            </a:r>
            <a:r>
              <a:rPr sz="1000" b="0">
                <a:solidFill>
                  <a:srgbClr val="9F1727"/>
                </a:solidFill>
                <a:latin typeface="Outfit"/>
              </a:rPr>
              <a:t> 2026</a:t>
            </a:r>
          </a:p>
        </p:txBody>
      </p:sp>
      <p:sp>
        <p:nvSpPr>
          <p:cNvPr id="43" name="Número"/>
          <p:cNvSpPr txBox="1"/>
          <p:nvPr/>
        </p:nvSpPr>
        <p:spPr>
          <a:xfrm>
            <a:off x="11292840" y="64282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9F1727"/>
                </a:solidFill>
                <a:latin typeface="Outfi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80">
            <a:extLst>
              <a:ext uri="{FF2B5EF4-FFF2-40B4-BE49-F238E27FC236}">
                <a16:creationId xmlns:a16="http://schemas.microsoft.com/office/drawing/2014/main" id="{78E45F71-D26E-4451-B553-8AEE61ECD5D0}"/>
              </a:ext>
            </a:extLst>
          </p:cNvPr>
          <p:cNvGrpSpPr/>
          <p:nvPr/>
        </p:nvGrpSpPr>
        <p:grpSpPr>
          <a:xfrm rot="5400000">
            <a:off x="9513144" y="4281185"/>
            <a:ext cx="2162175" cy="4435644"/>
            <a:chOff x="10366154" y="2431098"/>
            <a:chExt cx="2162175" cy="4435644"/>
          </a:xfrm>
        </p:grpSpPr>
        <p:grpSp>
          <p:nvGrpSpPr>
            <p:cNvPr id="4" name="Agrupar 79">
              <a:extLst>
                <a:ext uri="{FF2B5EF4-FFF2-40B4-BE49-F238E27FC236}">
                  <a16:creationId xmlns:a16="http://schemas.microsoft.com/office/drawing/2014/main" id="{3AE8F97C-C65C-477C-9B4C-A2521758F603}"/>
                </a:ext>
              </a:extLst>
            </p:cNvPr>
            <p:cNvGrpSpPr/>
            <p:nvPr/>
          </p:nvGrpSpPr>
          <p:grpSpPr>
            <a:xfrm>
              <a:off x="10366154" y="2431098"/>
              <a:ext cx="2162175" cy="2163764"/>
              <a:chOff x="7578726" y="-1395413"/>
              <a:chExt cx="2162175" cy="2163764"/>
            </a:xfrm>
            <a:solidFill>
              <a:srgbClr val="E52334">
                <a:alpha val="20000"/>
              </a:srgbClr>
            </a:solidFill>
          </p:grpSpPr>
          <p:sp>
            <p:nvSpPr>
              <p:cNvPr id="5" name="Oval 6">
                <a:extLst>
                  <a:ext uri="{FF2B5EF4-FFF2-40B4-BE49-F238E27FC236}">
                    <a16:creationId xmlns:a16="http://schemas.microsoft.com/office/drawing/2014/main" id="{C90A4C56-635A-41FD-9484-C0CF8679EC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6188" y="-244475"/>
                <a:ext cx="996950" cy="9937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6" name="Freeform 7">
                <a:extLst>
                  <a:ext uri="{FF2B5EF4-FFF2-40B4-BE49-F238E27FC236}">
                    <a16:creationId xmlns:a16="http://schemas.microsoft.com/office/drawing/2014/main" id="{FB49B7CC-B632-482E-B2E6-F64D6BBEEA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8726" y="-1395413"/>
                <a:ext cx="2162175" cy="2163764"/>
              </a:xfrm>
              <a:custGeom>
                <a:avLst/>
                <a:gdLst>
                  <a:gd name="T0" fmla="*/ 1844 w 1860"/>
                  <a:gd name="T1" fmla="*/ 1447 h 1861"/>
                  <a:gd name="T2" fmla="*/ 1424 w 1860"/>
                  <a:gd name="T3" fmla="*/ 989 h 1861"/>
                  <a:gd name="T4" fmla="*/ 1416 w 1860"/>
                  <a:gd name="T5" fmla="*/ 989 h 1861"/>
                  <a:gd name="T6" fmla="*/ 1409 w 1860"/>
                  <a:gd name="T7" fmla="*/ 989 h 1861"/>
                  <a:gd name="T8" fmla="*/ 871 w 1860"/>
                  <a:gd name="T9" fmla="*/ 452 h 1861"/>
                  <a:gd name="T10" fmla="*/ 871 w 1860"/>
                  <a:gd name="T11" fmla="*/ 444 h 1861"/>
                  <a:gd name="T12" fmla="*/ 871 w 1860"/>
                  <a:gd name="T13" fmla="*/ 436 h 1861"/>
                  <a:gd name="T14" fmla="*/ 414 w 1860"/>
                  <a:gd name="T15" fmla="*/ 17 h 1861"/>
                  <a:gd name="T16" fmla="*/ 16 w 1860"/>
                  <a:gd name="T17" fmla="*/ 415 h 1861"/>
                  <a:gd name="T18" fmla="*/ 436 w 1860"/>
                  <a:gd name="T19" fmla="*/ 872 h 1861"/>
                  <a:gd name="T20" fmla="*/ 443 w 1860"/>
                  <a:gd name="T21" fmla="*/ 872 h 1861"/>
                  <a:gd name="T22" fmla="*/ 451 w 1860"/>
                  <a:gd name="T23" fmla="*/ 872 h 1861"/>
                  <a:gd name="T24" fmla="*/ 989 w 1860"/>
                  <a:gd name="T25" fmla="*/ 1410 h 1861"/>
                  <a:gd name="T26" fmla="*/ 989 w 1860"/>
                  <a:gd name="T27" fmla="*/ 1417 h 1861"/>
                  <a:gd name="T28" fmla="*/ 989 w 1860"/>
                  <a:gd name="T29" fmla="*/ 1425 h 1861"/>
                  <a:gd name="T30" fmla="*/ 1446 w 1860"/>
                  <a:gd name="T31" fmla="*/ 1844 h 1861"/>
                  <a:gd name="T32" fmla="*/ 1844 w 1860"/>
                  <a:gd name="T33" fmla="*/ 1447 h 18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60" h="1861">
                    <a:moveTo>
                      <a:pt x="1844" y="1447"/>
                    </a:moveTo>
                    <a:cubicBezTo>
                      <a:pt x="1860" y="1199"/>
                      <a:pt x="1667" y="993"/>
                      <a:pt x="1424" y="989"/>
                    </a:cubicBezTo>
                    <a:cubicBezTo>
                      <a:pt x="1422" y="989"/>
                      <a:pt x="1419" y="989"/>
                      <a:pt x="1416" y="989"/>
                    </a:cubicBezTo>
                    <a:cubicBezTo>
                      <a:pt x="1414" y="989"/>
                      <a:pt x="1411" y="989"/>
                      <a:pt x="1409" y="989"/>
                    </a:cubicBezTo>
                    <a:cubicBezTo>
                      <a:pt x="1114" y="985"/>
                      <a:pt x="875" y="746"/>
                      <a:pt x="871" y="452"/>
                    </a:cubicBezTo>
                    <a:cubicBezTo>
                      <a:pt x="871" y="449"/>
                      <a:pt x="871" y="447"/>
                      <a:pt x="871" y="444"/>
                    </a:cubicBezTo>
                    <a:cubicBezTo>
                      <a:pt x="871" y="442"/>
                      <a:pt x="871" y="439"/>
                      <a:pt x="871" y="436"/>
                    </a:cubicBezTo>
                    <a:cubicBezTo>
                      <a:pt x="867" y="194"/>
                      <a:pt x="661" y="0"/>
                      <a:pt x="414" y="17"/>
                    </a:cubicBezTo>
                    <a:cubicBezTo>
                      <a:pt x="202" y="31"/>
                      <a:pt x="30" y="203"/>
                      <a:pt x="16" y="415"/>
                    </a:cubicBezTo>
                    <a:cubicBezTo>
                      <a:pt x="0" y="662"/>
                      <a:pt x="193" y="868"/>
                      <a:pt x="436" y="872"/>
                    </a:cubicBezTo>
                    <a:cubicBezTo>
                      <a:pt x="438" y="872"/>
                      <a:pt x="441" y="872"/>
                      <a:pt x="443" y="872"/>
                    </a:cubicBezTo>
                    <a:cubicBezTo>
                      <a:pt x="446" y="872"/>
                      <a:pt x="449" y="872"/>
                      <a:pt x="451" y="872"/>
                    </a:cubicBezTo>
                    <a:cubicBezTo>
                      <a:pt x="746" y="876"/>
                      <a:pt x="984" y="1115"/>
                      <a:pt x="989" y="1410"/>
                    </a:cubicBezTo>
                    <a:cubicBezTo>
                      <a:pt x="989" y="1412"/>
                      <a:pt x="989" y="1415"/>
                      <a:pt x="989" y="1417"/>
                    </a:cubicBezTo>
                    <a:cubicBezTo>
                      <a:pt x="989" y="1420"/>
                      <a:pt x="989" y="1422"/>
                      <a:pt x="989" y="1425"/>
                    </a:cubicBezTo>
                    <a:cubicBezTo>
                      <a:pt x="993" y="1667"/>
                      <a:pt x="1199" y="1861"/>
                      <a:pt x="1446" y="1844"/>
                    </a:cubicBezTo>
                    <a:cubicBezTo>
                      <a:pt x="1657" y="1830"/>
                      <a:pt x="1829" y="1658"/>
                      <a:pt x="1844" y="14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7" name="Oval 8">
                <a:extLst>
                  <a:ext uri="{FF2B5EF4-FFF2-40B4-BE49-F238E27FC236}">
                    <a16:creationId xmlns:a16="http://schemas.microsoft.com/office/drawing/2014/main" id="{713D498D-AF2C-4B76-BDD2-F7D9AEDA1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6488" y="-1376363"/>
                <a:ext cx="996950" cy="9953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</p:grpSp>
        <p:grpSp>
          <p:nvGrpSpPr>
            <p:cNvPr id="8" name="Agrupar 81">
              <a:extLst>
                <a:ext uri="{FF2B5EF4-FFF2-40B4-BE49-F238E27FC236}">
                  <a16:creationId xmlns:a16="http://schemas.microsoft.com/office/drawing/2014/main" id="{67F7894D-C27C-46DF-AB3D-39C6DB4E23E5}"/>
                </a:ext>
              </a:extLst>
            </p:cNvPr>
            <p:cNvGrpSpPr/>
            <p:nvPr/>
          </p:nvGrpSpPr>
          <p:grpSpPr>
            <a:xfrm>
              <a:off x="10366154" y="4702978"/>
              <a:ext cx="2162175" cy="2163764"/>
              <a:chOff x="7578726" y="-1395413"/>
              <a:chExt cx="2162175" cy="2163764"/>
            </a:xfrm>
            <a:solidFill>
              <a:srgbClr val="E52334">
                <a:alpha val="20000"/>
              </a:srgbClr>
            </a:solidFill>
          </p:grpSpPr>
          <p:sp>
            <p:nvSpPr>
              <p:cNvPr id="9" name="Oval 6">
                <a:extLst>
                  <a:ext uri="{FF2B5EF4-FFF2-40B4-BE49-F238E27FC236}">
                    <a16:creationId xmlns:a16="http://schemas.microsoft.com/office/drawing/2014/main" id="{0746FCBB-4B9E-46E0-8DFA-7F976C4D66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6188" y="-244475"/>
                <a:ext cx="996950" cy="9937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703201B7-B02C-4345-8B47-D481EC0552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8726" y="-1395413"/>
                <a:ext cx="2162175" cy="2163764"/>
              </a:xfrm>
              <a:custGeom>
                <a:avLst/>
                <a:gdLst>
                  <a:gd name="T0" fmla="*/ 1844 w 1860"/>
                  <a:gd name="T1" fmla="*/ 1447 h 1861"/>
                  <a:gd name="T2" fmla="*/ 1424 w 1860"/>
                  <a:gd name="T3" fmla="*/ 989 h 1861"/>
                  <a:gd name="T4" fmla="*/ 1416 w 1860"/>
                  <a:gd name="T5" fmla="*/ 989 h 1861"/>
                  <a:gd name="T6" fmla="*/ 1409 w 1860"/>
                  <a:gd name="T7" fmla="*/ 989 h 1861"/>
                  <a:gd name="T8" fmla="*/ 871 w 1860"/>
                  <a:gd name="T9" fmla="*/ 452 h 1861"/>
                  <a:gd name="T10" fmla="*/ 871 w 1860"/>
                  <a:gd name="T11" fmla="*/ 444 h 1861"/>
                  <a:gd name="T12" fmla="*/ 871 w 1860"/>
                  <a:gd name="T13" fmla="*/ 436 h 1861"/>
                  <a:gd name="T14" fmla="*/ 414 w 1860"/>
                  <a:gd name="T15" fmla="*/ 17 h 1861"/>
                  <a:gd name="T16" fmla="*/ 16 w 1860"/>
                  <a:gd name="T17" fmla="*/ 415 h 1861"/>
                  <a:gd name="T18" fmla="*/ 436 w 1860"/>
                  <a:gd name="T19" fmla="*/ 872 h 1861"/>
                  <a:gd name="T20" fmla="*/ 443 w 1860"/>
                  <a:gd name="T21" fmla="*/ 872 h 1861"/>
                  <a:gd name="T22" fmla="*/ 451 w 1860"/>
                  <a:gd name="T23" fmla="*/ 872 h 1861"/>
                  <a:gd name="T24" fmla="*/ 989 w 1860"/>
                  <a:gd name="T25" fmla="*/ 1410 h 1861"/>
                  <a:gd name="T26" fmla="*/ 989 w 1860"/>
                  <a:gd name="T27" fmla="*/ 1417 h 1861"/>
                  <a:gd name="T28" fmla="*/ 989 w 1860"/>
                  <a:gd name="T29" fmla="*/ 1425 h 1861"/>
                  <a:gd name="T30" fmla="*/ 1446 w 1860"/>
                  <a:gd name="T31" fmla="*/ 1844 h 1861"/>
                  <a:gd name="T32" fmla="*/ 1844 w 1860"/>
                  <a:gd name="T33" fmla="*/ 1447 h 18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60" h="1861">
                    <a:moveTo>
                      <a:pt x="1844" y="1447"/>
                    </a:moveTo>
                    <a:cubicBezTo>
                      <a:pt x="1860" y="1199"/>
                      <a:pt x="1667" y="993"/>
                      <a:pt x="1424" y="989"/>
                    </a:cubicBezTo>
                    <a:cubicBezTo>
                      <a:pt x="1422" y="989"/>
                      <a:pt x="1419" y="989"/>
                      <a:pt x="1416" y="989"/>
                    </a:cubicBezTo>
                    <a:cubicBezTo>
                      <a:pt x="1414" y="989"/>
                      <a:pt x="1411" y="989"/>
                      <a:pt x="1409" y="989"/>
                    </a:cubicBezTo>
                    <a:cubicBezTo>
                      <a:pt x="1114" y="985"/>
                      <a:pt x="875" y="746"/>
                      <a:pt x="871" y="452"/>
                    </a:cubicBezTo>
                    <a:cubicBezTo>
                      <a:pt x="871" y="449"/>
                      <a:pt x="871" y="447"/>
                      <a:pt x="871" y="444"/>
                    </a:cubicBezTo>
                    <a:cubicBezTo>
                      <a:pt x="871" y="442"/>
                      <a:pt x="871" y="439"/>
                      <a:pt x="871" y="436"/>
                    </a:cubicBezTo>
                    <a:cubicBezTo>
                      <a:pt x="867" y="194"/>
                      <a:pt x="661" y="0"/>
                      <a:pt x="414" y="17"/>
                    </a:cubicBezTo>
                    <a:cubicBezTo>
                      <a:pt x="202" y="31"/>
                      <a:pt x="30" y="203"/>
                      <a:pt x="16" y="415"/>
                    </a:cubicBezTo>
                    <a:cubicBezTo>
                      <a:pt x="0" y="662"/>
                      <a:pt x="193" y="868"/>
                      <a:pt x="436" y="872"/>
                    </a:cubicBezTo>
                    <a:cubicBezTo>
                      <a:pt x="438" y="872"/>
                      <a:pt x="441" y="872"/>
                      <a:pt x="443" y="872"/>
                    </a:cubicBezTo>
                    <a:cubicBezTo>
                      <a:pt x="446" y="872"/>
                      <a:pt x="449" y="872"/>
                      <a:pt x="451" y="872"/>
                    </a:cubicBezTo>
                    <a:cubicBezTo>
                      <a:pt x="746" y="876"/>
                      <a:pt x="984" y="1115"/>
                      <a:pt x="989" y="1410"/>
                    </a:cubicBezTo>
                    <a:cubicBezTo>
                      <a:pt x="989" y="1412"/>
                      <a:pt x="989" y="1415"/>
                      <a:pt x="989" y="1417"/>
                    </a:cubicBezTo>
                    <a:cubicBezTo>
                      <a:pt x="989" y="1420"/>
                      <a:pt x="989" y="1422"/>
                      <a:pt x="989" y="1425"/>
                    </a:cubicBezTo>
                    <a:cubicBezTo>
                      <a:pt x="993" y="1667"/>
                      <a:pt x="1199" y="1861"/>
                      <a:pt x="1446" y="1844"/>
                    </a:cubicBezTo>
                    <a:cubicBezTo>
                      <a:pt x="1657" y="1830"/>
                      <a:pt x="1829" y="1658"/>
                      <a:pt x="1844" y="14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11" name="Oval 8">
                <a:extLst>
                  <a:ext uri="{FF2B5EF4-FFF2-40B4-BE49-F238E27FC236}">
                    <a16:creationId xmlns:a16="http://schemas.microsoft.com/office/drawing/2014/main" id="{DC832EDE-C7B7-4B30-B3AD-CEBEDB0957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6488" y="-1376363"/>
                <a:ext cx="996950" cy="9953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</p:grpSp>
      </p:grpSp>
      <p:grpSp>
        <p:nvGrpSpPr>
          <p:cNvPr id="12" name="Agrupar 14">
            <a:extLst>
              <a:ext uri="{FF2B5EF4-FFF2-40B4-BE49-F238E27FC236}">
                <a16:creationId xmlns:a16="http://schemas.microsoft.com/office/drawing/2014/main" id="{191C49A3-B2DB-4FAE-B7EF-D7AB24718FA2}"/>
              </a:ext>
            </a:extLst>
          </p:cNvPr>
          <p:cNvGrpSpPr/>
          <p:nvPr/>
        </p:nvGrpSpPr>
        <p:grpSpPr>
          <a:xfrm>
            <a:off x="0" y="481866"/>
            <a:ext cx="2286000" cy="851627"/>
            <a:chOff x="783526" y="1421079"/>
            <a:chExt cx="1499825" cy="558745"/>
          </a:xfrm>
        </p:grpSpPr>
        <p:sp>
          <p:nvSpPr>
            <p:cNvPr id="13" name="Rectangle 18">
              <a:extLst>
                <a:ext uri="{FF2B5EF4-FFF2-40B4-BE49-F238E27FC236}">
                  <a16:creationId xmlns:a16="http://schemas.microsoft.com/office/drawing/2014/main" id="{C2FFFE1C-EBFC-492F-A00F-7165D0460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526" y="1421079"/>
              <a:ext cx="558025" cy="558745"/>
            </a:xfrm>
            <a:prstGeom prst="rect">
              <a:avLst/>
            </a:prstGeom>
            <a:solidFill>
              <a:srgbClr val="9F17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E52334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Rectangle 19">
              <a:extLst>
                <a:ext uri="{FF2B5EF4-FFF2-40B4-BE49-F238E27FC236}">
                  <a16:creationId xmlns:a16="http://schemas.microsoft.com/office/drawing/2014/main" id="{4E116990-9416-4A28-9CC4-2AD389867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1551" y="1421079"/>
              <a:ext cx="941800" cy="558745"/>
            </a:xfrm>
            <a:prstGeom prst="rect">
              <a:avLst/>
            </a:prstGeom>
            <a:solidFill>
              <a:srgbClr val="FC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E52334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srgbClr val="9F1727"/>
                </a:solidFill>
              </a:endParaRPr>
            </a:p>
          </p:txBody>
        </p:sp>
        <p:sp>
          <p:nvSpPr>
            <p:cNvPr id="15" name="Freeform 20">
              <a:extLst>
                <a:ext uri="{FF2B5EF4-FFF2-40B4-BE49-F238E27FC236}">
                  <a16:creationId xmlns:a16="http://schemas.microsoft.com/office/drawing/2014/main" id="{7F37A2D2-09C6-4E7F-B4BC-46A6A8954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59849" y="1526924"/>
              <a:ext cx="403218" cy="348496"/>
            </a:xfrm>
            <a:custGeom>
              <a:avLst/>
              <a:gdLst>
                <a:gd name="T0" fmla="*/ 280 w 560"/>
                <a:gd name="T1" fmla="*/ 484 h 484"/>
                <a:gd name="T2" fmla="*/ 0 w 560"/>
                <a:gd name="T3" fmla="*/ 484 h 484"/>
                <a:gd name="T4" fmla="*/ 140 w 560"/>
                <a:gd name="T5" fmla="*/ 242 h 484"/>
                <a:gd name="T6" fmla="*/ 280 w 560"/>
                <a:gd name="T7" fmla="*/ 0 h 484"/>
                <a:gd name="T8" fmla="*/ 420 w 560"/>
                <a:gd name="T9" fmla="*/ 242 h 484"/>
                <a:gd name="T10" fmla="*/ 560 w 560"/>
                <a:gd name="T11" fmla="*/ 484 h 484"/>
                <a:gd name="T12" fmla="*/ 280 w 560"/>
                <a:gd name="T13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0" h="484">
                  <a:moveTo>
                    <a:pt x="280" y="484"/>
                  </a:moveTo>
                  <a:lnTo>
                    <a:pt x="0" y="484"/>
                  </a:lnTo>
                  <a:lnTo>
                    <a:pt x="140" y="242"/>
                  </a:lnTo>
                  <a:lnTo>
                    <a:pt x="280" y="0"/>
                  </a:lnTo>
                  <a:lnTo>
                    <a:pt x="420" y="242"/>
                  </a:lnTo>
                  <a:lnTo>
                    <a:pt x="560" y="484"/>
                  </a:lnTo>
                  <a:lnTo>
                    <a:pt x="280" y="4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9F1727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</p:grpSp>
      <p:sp>
        <p:nvSpPr>
          <p:cNvPr id="16" name="Título"/>
          <p:cNvSpPr txBox="1"/>
          <p:nvPr/>
        </p:nvSpPr>
        <p:spPr>
          <a:xfrm>
            <a:off x="1051560" y="557784"/>
            <a:ext cx="914400" cy="7040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>
                <a:solidFill>
                  <a:srgbClr val="9F1727"/>
                </a:solidFill>
                <a:latin typeface="Outfit Medium"/>
              </a:rPr>
              <a:t>Íris</a:t>
            </a:r>
          </a:p>
        </p:txBody>
      </p:sp>
      <p:pic>
        <p:nvPicPr>
          <p:cNvPr id="17" name="Imagem 17">
            <a:extLst>
              <a:ext uri="{FF2B5EF4-FFF2-40B4-BE49-F238E27FC236}">
                <a16:creationId xmlns:a16="http://schemas.microsoft.com/office/drawing/2014/main" id="{43E3955B-6864-D886-2816-07DA7AFECC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1680" y="576072"/>
            <a:ext cx="640080" cy="640080"/>
          </a:xfrm>
          <a:prstGeom prst="rect">
            <a:avLst/>
          </a:prstGeom>
        </p:spPr>
      </p:pic>
      <p:sp>
        <p:nvSpPr>
          <p:cNvPr id="18" name="Google Shape;95;p1">
            <a:extLst>
              <a:ext uri="{FF2B5EF4-FFF2-40B4-BE49-F238E27FC236}">
                <a16:creationId xmlns:a16="http://schemas.microsoft.com/office/drawing/2014/main" id="{3596FD0A-B970-C337-D9D4-B24DA4356B3F}"/>
              </a:ext>
            </a:extLst>
          </p:cNvPr>
          <p:cNvSpPr/>
          <p:nvPr/>
        </p:nvSpPr>
        <p:spPr>
          <a:xfrm>
            <a:off x="11143859" y="327685"/>
            <a:ext cx="100013" cy="100013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sp>
        <p:nvSpPr>
          <p:cNvPr id="19" name="Google Shape;96;p1">
            <a:extLst>
              <a:ext uri="{FF2B5EF4-FFF2-40B4-BE49-F238E27FC236}">
                <a16:creationId xmlns:a16="http://schemas.microsoft.com/office/drawing/2014/main" id="{87B2C98F-7522-4186-BA65-035C70C09D80}"/>
              </a:ext>
            </a:extLst>
          </p:cNvPr>
          <p:cNvSpPr/>
          <p:nvPr/>
        </p:nvSpPr>
        <p:spPr>
          <a:xfrm>
            <a:off x="11398652" y="327685"/>
            <a:ext cx="100013" cy="100013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F1727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sp>
        <p:nvSpPr>
          <p:cNvPr id="20" name="Google Shape;97;p1">
            <a:extLst>
              <a:ext uri="{FF2B5EF4-FFF2-40B4-BE49-F238E27FC236}">
                <a16:creationId xmlns:a16="http://schemas.microsoft.com/office/drawing/2014/main" id="{BE9DE5CF-0804-8216-D935-48216B941DAA}"/>
              </a:ext>
            </a:extLst>
          </p:cNvPr>
          <p:cNvSpPr/>
          <p:nvPr/>
        </p:nvSpPr>
        <p:spPr>
          <a:xfrm>
            <a:off x="11654872" y="327685"/>
            <a:ext cx="100013" cy="100013"/>
          </a:xfrm>
          <a:prstGeom prst="ellipse">
            <a:avLst/>
          </a:prstGeom>
          <a:solidFill>
            <a:srgbClr val="E523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F1727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pic>
        <p:nvPicPr>
          <p:cNvPr id="21" name="FoodJam wordmark" descr="FoodJa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55480" y="270000"/>
            <a:ext cx="1250000" cy="341314"/>
          </a:xfrm>
          <a:prstGeom prst="rect">
            <a:avLst/>
          </a:prstGeom>
        </p:spPr>
      </p:pic>
      <p:sp>
        <p:nvSpPr>
          <p:cNvPr id="22" name="TextBox 128"/>
          <p:cNvSpPr txBox="1"/>
          <p:nvPr/>
        </p:nvSpPr>
        <p:spPr>
          <a:xfrm>
            <a:off x="777240" y="1536192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9F1727"/>
                </a:solidFill>
                <a:latin typeface="Outfit Medium"/>
              </a:rPr>
              <a:t>a agente que vende pelo iFood dentro da conversa do grupo</a:t>
            </a:r>
          </a:p>
        </p:txBody>
      </p:sp>
      <p:sp>
        <p:nvSpPr>
          <p:cNvPr id="23" name="Rounded Rectangle 129"/>
          <p:cNvSpPr/>
          <p:nvPr/>
        </p:nvSpPr>
        <p:spPr>
          <a:xfrm>
            <a:off x="713232" y="2148840"/>
            <a:ext cx="2551176" cy="3200400"/>
          </a:xfrm>
          <a:prstGeom prst="roundRect">
            <a:avLst>
              <a:gd name="adj" fmla="val 1125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130"/>
          <p:cNvSpPr/>
          <p:nvPr/>
        </p:nvSpPr>
        <p:spPr>
          <a:xfrm>
            <a:off x="2624328" y="2350008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600" b="1">
                <a:solidFill>
                  <a:srgbClr val="E52334"/>
                </a:solidFill>
                <a:latin typeface="Outfit"/>
              </a:rPr>
              <a:t>1</a:t>
            </a:r>
          </a:p>
        </p:txBody>
      </p:sp>
      <p:sp>
        <p:nvSpPr>
          <p:cNvPr id="25" name="TextBox 131"/>
          <p:cNvSpPr txBox="1"/>
          <p:nvPr/>
        </p:nvSpPr>
        <p:spPr>
          <a:xfrm>
            <a:off x="941832" y="233172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Outfit"/>
              </a:rPr>
              <a:t>Entende o grupo</a:t>
            </a:r>
          </a:p>
        </p:txBody>
      </p:sp>
      <p:pic>
        <p:nvPicPr>
          <p:cNvPr id="26" name="FoodJam chat" descr="Ícone conversa">
            <a:extLst>
              <a:ext uri="{FF2B5EF4-FFF2-40B4-BE49-F238E27FC236}">
                <a16:creationId xmlns:a16="http://schemas.microsoft.com/office/drawing/2014/main" id="{A4E8BF4B-EB7C-929D-C3FB-67E93B9C6D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2748" y="3172968"/>
            <a:ext cx="1152144" cy="1152144"/>
          </a:xfrm>
          <a:prstGeom prst="roundRect">
            <a:avLst>
              <a:gd name="adj" fmla="val 50000"/>
            </a:avLst>
          </a:prstGeom>
          <a:ln w="38100">
            <a:solidFill>
              <a:srgbClr val="FFFFFF"/>
            </a:solidFill>
          </a:ln>
        </p:spPr>
      </p:pic>
      <p:sp>
        <p:nvSpPr>
          <p:cNvPr id="27" name="Rounded Rectangle 132"/>
          <p:cNvSpPr/>
          <p:nvPr/>
        </p:nvSpPr>
        <p:spPr>
          <a:xfrm>
            <a:off x="896112" y="4453128"/>
            <a:ext cx="2185416" cy="7315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sz="1200" b="0">
                <a:solidFill>
                  <a:srgbClr val="9F1727"/>
                </a:solidFill>
                <a:latin typeface="Outfit"/>
              </a:rPr>
              <a:t>Cada um escreve do seu jeito no Telegram.</a:t>
            </a:r>
          </a:p>
        </p:txBody>
      </p:sp>
      <p:sp>
        <p:nvSpPr>
          <p:cNvPr id="28" name="Rounded Rectangle 133"/>
          <p:cNvSpPr/>
          <p:nvPr/>
        </p:nvSpPr>
        <p:spPr>
          <a:xfrm>
            <a:off x="3447288" y="2148840"/>
            <a:ext cx="2551176" cy="3200400"/>
          </a:xfrm>
          <a:prstGeom prst="roundRect">
            <a:avLst>
              <a:gd name="adj" fmla="val 1125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134"/>
          <p:cNvSpPr/>
          <p:nvPr/>
        </p:nvSpPr>
        <p:spPr>
          <a:xfrm>
            <a:off x="5358384" y="2350008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600" b="1">
                <a:solidFill>
                  <a:srgbClr val="E52334"/>
                </a:solidFill>
                <a:latin typeface="Outfit"/>
              </a:rPr>
              <a:t>2</a:t>
            </a:r>
          </a:p>
        </p:txBody>
      </p:sp>
      <p:sp>
        <p:nvSpPr>
          <p:cNvPr id="30" name="TextBox 135"/>
          <p:cNvSpPr txBox="1"/>
          <p:nvPr/>
        </p:nvSpPr>
        <p:spPr>
          <a:xfrm>
            <a:off x="3675888" y="233172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Outfit"/>
              </a:rPr>
              <a:t>Consulta o iFood</a:t>
            </a:r>
          </a:p>
        </p:txBody>
      </p:sp>
      <p:pic>
        <p:nvPicPr>
          <p:cNvPr id="31" name="FoodJam agent" descr="Ícone Íris">
            <a:extLst>
              <a:ext uri="{FF2B5EF4-FFF2-40B4-BE49-F238E27FC236}">
                <a16:creationId xmlns:a16="http://schemas.microsoft.com/office/drawing/2014/main" id="{2BCA52F2-F375-2652-6CCE-8BA8CACAEF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46804" y="3172968"/>
            <a:ext cx="1152144" cy="1152144"/>
          </a:xfrm>
          <a:prstGeom prst="roundRect">
            <a:avLst>
              <a:gd name="adj" fmla="val 50000"/>
            </a:avLst>
          </a:prstGeom>
          <a:ln w="38100">
            <a:solidFill>
              <a:srgbClr val="FFFFFF"/>
            </a:solidFill>
          </a:ln>
        </p:spPr>
      </p:pic>
      <p:sp>
        <p:nvSpPr>
          <p:cNvPr id="32" name="Rounded Rectangle 136"/>
          <p:cNvSpPr/>
          <p:nvPr/>
        </p:nvSpPr>
        <p:spPr>
          <a:xfrm>
            <a:off x="3630168" y="4453128"/>
            <a:ext cx="2185416" cy="7315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sz="1200" b="0">
                <a:solidFill>
                  <a:srgbClr val="9F1727"/>
                </a:solidFill>
                <a:latin typeface="Outfit"/>
              </a:rPr>
              <a:t>Lojas, cardápio, preço, frete e taxa ao vivo, pelo MCP.</a:t>
            </a:r>
          </a:p>
        </p:txBody>
      </p:sp>
      <p:sp>
        <p:nvSpPr>
          <p:cNvPr id="33" name="Rounded Rectangle 137"/>
          <p:cNvSpPr/>
          <p:nvPr/>
        </p:nvSpPr>
        <p:spPr>
          <a:xfrm>
            <a:off x="6181344" y="2148840"/>
            <a:ext cx="2551176" cy="3200400"/>
          </a:xfrm>
          <a:prstGeom prst="roundRect">
            <a:avLst>
              <a:gd name="adj" fmla="val 1125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138"/>
          <p:cNvSpPr/>
          <p:nvPr/>
        </p:nvSpPr>
        <p:spPr>
          <a:xfrm>
            <a:off x="8092440" y="2350008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600" b="1">
                <a:solidFill>
                  <a:srgbClr val="E52334"/>
                </a:solidFill>
                <a:latin typeface="Outfit"/>
              </a:rPr>
              <a:t>3</a:t>
            </a:r>
          </a:p>
        </p:txBody>
      </p:sp>
      <p:sp>
        <p:nvSpPr>
          <p:cNvPr id="35" name="TextBox 139"/>
          <p:cNvSpPr txBox="1"/>
          <p:nvPr/>
        </p:nvSpPr>
        <p:spPr>
          <a:xfrm>
            <a:off x="6409944" y="233172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Outfit"/>
              </a:rPr>
              <a:t>Monta o pedido</a:t>
            </a:r>
          </a:p>
        </p:txBody>
      </p:sp>
      <p:pic>
        <p:nvPicPr>
          <p:cNvPr id="36" name="FoodJam budget" descr="Ícone orçamento">
            <a:extLst>
              <a:ext uri="{FF2B5EF4-FFF2-40B4-BE49-F238E27FC236}">
                <a16:creationId xmlns:a16="http://schemas.microsoft.com/office/drawing/2014/main" id="{04158D1A-614E-C7C3-C369-6CB2F4269F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80860" y="3172968"/>
            <a:ext cx="1152144" cy="1152144"/>
          </a:xfrm>
          <a:custGeom>
            <a:avLst/>
            <a:gdLst>
              <a:gd name="connsiteX0" fmla="*/ 1187074 w 2374148"/>
              <a:gd name="connsiteY0" fmla="*/ 0 h 2374148"/>
              <a:gd name="connsiteX1" fmla="*/ 2374148 w 2374148"/>
              <a:gd name="connsiteY1" fmla="*/ 1187074 h 2374148"/>
              <a:gd name="connsiteX2" fmla="*/ 1187074 w 2374148"/>
              <a:gd name="connsiteY2" fmla="*/ 2374148 h 2374148"/>
              <a:gd name="connsiteX3" fmla="*/ 0 w 2374148"/>
              <a:gd name="connsiteY3" fmla="*/ 1187074 h 2374148"/>
              <a:gd name="connsiteX4" fmla="*/ 1187074 w 2374148"/>
              <a:gd name="connsiteY4" fmla="*/ 0 h 237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4148" h="2374148">
                <a:moveTo>
                  <a:pt x="1187074" y="0"/>
                </a:moveTo>
                <a:cubicBezTo>
                  <a:pt x="1842677" y="0"/>
                  <a:pt x="2374148" y="531471"/>
                  <a:pt x="2374148" y="1187074"/>
                </a:cubicBezTo>
                <a:cubicBezTo>
                  <a:pt x="2374148" y="1842677"/>
                  <a:pt x="1842677" y="2374148"/>
                  <a:pt x="1187074" y="2374148"/>
                </a:cubicBezTo>
                <a:cubicBezTo>
                  <a:pt x="531471" y="2374148"/>
                  <a:pt x="0" y="1842677"/>
                  <a:pt x="0" y="1187074"/>
                </a:cubicBezTo>
                <a:cubicBezTo>
                  <a:pt x="0" y="531471"/>
                  <a:pt x="531471" y="0"/>
                  <a:pt x="1187074" y="0"/>
                </a:cubicBezTo>
                <a:close/>
              </a:path>
            </a:pathLst>
          </a:custGeom>
        </p:spPr>
      </p:pic>
      <p:sp>
        <p:nvSpPr>
          <p:cNvPr id="37" name="Rounded Rectangle 140"/>
          <p:cNvSpPr/>
          <p:nvPr/>
        </p:nvSpPr>
        <p:spPr>
          <a:xfrm>
            <a:off x="6364224" y="4453128"/>
            <a:ext cx="2185416" cy="7315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sz="1200" b="0">
                <a:solidFill>
                  <a:srgbClr val="9F1727"/>
                </a:solidFill>
                <a:latin typeface="Outfit"/>
              </a:rPr>
              <a:t>Até 2 lojas e quanto cada um paga, ao centavo.</a:t>
            </a:r>
          </a:p>
        </p:txBody>
      </p:sp>
      <p:sp>
        <p:nvSpPr>
          <p:cNvPr id="38" name="Rounded Rectangle 141"/>
          <p:cNvSpPr/>
          <p:nvPr/>
        </p:nvSpPr>
        <p:spPr>
          <a:xfrm>
            <a:off x="8915400" y="2148840"/>
            <a:ext cx="2551176" cy="3200400"/>
          </a:xfrm>
          <a:prstGeom prst="roundRect">
            <a:avLst>
              <a:gd name="adj" fmla="val 1125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142"/>
          <p:cNvSpPr/>
          <p:nvPr/>
        </p:nvSpPr>
        <p:spPr>
          <a:xfrm>
            <a:off x="10826496" y="2350008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600" b="1">
                <a:solidFill>
                  <a:srgbClr val="E52334"/>
                </a:solidFill>
                <a:latin typeface="Outfit"/>
              </a:rPr>
              <a:t>4</a:t>
            </a:r>
          </a:p>
        </p:txBody>
      </p:sp>
      <p:sp>
        <p:nvSpPr>
          <p:cNvPr id="40" name="TextBox 143"/>
          <p:cNvSpPr txBox="1"/>
          <p:nvPr/>
        </p:nvSpPr>
        <p:spPr>
          <a:xfrm>
            <a:off x="9144000" y="233172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Outfit"/>
              </a:rPr>
              <a:t>Você decide</a:t>
            </a:r>
          </a:p>
        </p:txBody>
      </p:sp>
      <p:pic>
        <p:nvPicPr>
          <p:cNvPr id="41" name="FoodJam check" descr="Ícone revisão">
            <a:extLst>
              <a:ext uri="{FF2B5EF4-FFF2-40B4-BE49-F238E27FC236}">
                <a16:creationId xmlns:a16="http://schemas.microsoft.com/office/drawing/2014/main" id="{CC8033D9-0DD4-4DD0-236C-03C3B64E1B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14916" y="3172968"/>
            <a:ext cx="1152144" cy="1152144"/>
          </a:xfrm>
          <a:prstGeom prst="roundRect">
            <a:avLst>
              <a:gd name="adj" fmla="val 50000"/>
            </a:avLst>
          </a:prstGeom>
          <a:ln w="38100">
            <a:solidFill>
              <a:srgbClr val="FFFFFF"/>
            </a:solidFill>
          </a:ln>
        </p:spPr>
      </p:pic>
      <p:sp>
        <p:nvSpPr>
          <p:cNvPr id="42" name="Rounded Rectangle 144"/>
          <p:cNvSpPr/>
          <p:nvPr/>
        </p:nvSpPr>
        <p:spPr>
          <a:xfrm>
            <a:off x="9098280" y="4453128"/>
            <a:ext cx="2185416" cy="7315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sz="1200" b="0">
                <a:solidFill>
                  <a:srgbClr val="9F1727"/>
                </a:solidFill>
                <a:latin typeface="Outfit"/>
              </a:rPr>
              <a:t>O organizador confirma e o carrinho fica pronto no iFood.</a:t>
            </a:r>
          </a:p>
        </p:txBody>
      </p:sp>
      <p:sp>
        <p:nvSpPr>
          <p:cNvPr id="43" name="Rounded Rectangle 145"/>
          <p:cNvSpPr/>
          <p:nvPr/>
        </p:nvSpPr>
        <p:spPr>
          <a:xfrm>
            <a:off x="713232" y="5532120"/>
            <a:ext cx="10753344" cy="731520"/>
          </a:xfrm>
          <a:prstGeom prst="roundRect">
            <a:avLst>
              <a:gd name="adj" fmla="val 25000"/>
            </a:avLst>
          </a:prstGeom>
          <a:solidFill>
            <a:srgbClr val="9F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" rIns="228600" bIns="27432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Outfit"/>
              </a:rPr>
              <a:t>A IA entende o grupo. O iFood traz o cardápio real. O código cuida do dinheiro. A pessoa decide.</a:t>
            </a:r>
          </a:p>
        </p:txBody>
      </p:sp>
      <p:sp>
        <p:nvSpPr>
          <p:cNvPr id="44" name="Rodapé"/>
          <p:cNvSpPr txBox="1"/>
          <p:nvPr/>
        </p:nvSpPr>
        <p:spPr>
          <a:xfrm>
            <a:off x="777240" y="642823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000">
                <a:solidFill>
                  <a:srgbClr val="9F1727"/>
                </a:solidFill>
              </a:rPr>
              <a:t>ÍRIS </a:t>
            </a:r>
            <a:r>
              <a:rPr sz="1000" b="0">
                <a:solidFill>
                  <a:srgbClr val="9F1727"/>
                </a:solidFill>
                <a:latin typeface="Outfit"/>
              </a:rPr>
              <a:t>· </a:t>
            </a:r>
            <a:r>
              <a:rPr lang="pt-BR" sz="1000" err="1">
                <a:solidFill>
                  <a:srgbClr val="9F1727"/>
                </a:solidFill>
              </a:rPr>
              <a:t>FOODJAM</a:t>
            </a:r>
            <a:r>
              <a:rPr lang="pt-BR" sz="1000">
                <a:solidFill>
                  <a:srgbClr val="9F1727"/>
                </a:solidFill>
              </a:rPr>
              <a:t> </a:t>
            </a:r>
            <a:r>
              <a:rPr sz="1000" b="0">
                <a:solidFill>
                  <a:srgbClr val="9F1727"/>
                </a:solidFill>
                <a:latin typeface="Outfit"/>
              </a:rPr>
              <a:t>· SEMCOMP × </a:t>
            </a:r>
            <a:r>
              <a:rPr lang="pt-BR" sz="1000" err="1">
                <a:solidFill>
                  <a:srgbClr val="9F1727"/>
                </a:solidFill>
              </a:rPr>
              <a:t>IFOOD</a:t>
            </a:r>
            <a:r>
              <a:rPr sz="1000" b="0">
                <a:solidFill>
                  <a:srgbClr val="9F1727"/>
                </a:solidFill>
                <a:latin typeface="Outfit"/>
              </a:rPr>
              <a:t> 2026</a:t>
            </a:r>
          </a:p>
        </p:txBody>
      </p:sp>
      <p:sp>
        <p:nvSpPr>
          <p:cNvPr id="45" name="Número"/>
          <p:cNvSpPr txBox="1"/>
          <p:nvPr/>
        </p:nvSpPr>
        <p:spPr>
          <a:xfrm>
            <a:off x="11292840" y="64282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9F1727"/>
                </a:solidFill>
                <a:latin typeface="Outfi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80">
            <a:extLst>
              <a:ext uri="{FF2B5EF4-FFF2-40B4-BE49-F238E27FC236}">
                <a16:creationId xmlns:a16="http://schemas.microsoft.com/office/drawing/2014/main" id="{78E45F71-D26E-4451-B553-8AEE61ECD5D0}"/>
              </a:ext>
            </a:extLst>
          </p:cNvPr>
          <p:cNvGrpSpPr/>
          <p:nvPr/>
        </p:nvGrpSpPr>
        <p:grpSpPr>
          <a:xfrm rot="5400000">
            <a:off x="9513144" y="4281185"/>
            <a:ext cx="2162175" cy="4435644"/>
            <a:chOff x="10366154" y="2431098"/>
            <a:chExt cx="2162175" cy="4435644"/>
          </a:xfrm>
        </p:grpSpPr>
        <p:grpSp>
          <p:nvGrpSpPr>
            <p:cNvPr id="4" name="Agrupar 79">
              <a:extLst>
                <a:ext uri="{FF2B5EF4-FFF2-40B4-BE49-F238E27FC236}">
                  <a16:creationId xmlns:a16="http://schemas.microsoft.com/office/drawing/2014/main" id="{3AE8F97C-C65C-477C-9B4C-A2521758F603}"/>
                </a:ext>
              </a:extLst>
            </p:cNvPr>
            <p:cNvGrpSpPr/>
            <p:nvPr/>
          </p:nvGrpSpPr>
          <p:grpSpPr>
            <a:xfrm>
              <a:off x="10366154" y="2431098"/>
              <a:ext cx="2162175" cy="2163764"/>
              <a:chOff x="7578726" y="-1395413"/>
              <a:chExt cx="2162175" cy="2163764"/>
            </a:xfrm>
            <a:solidFill>
              <a:srgbClr val="E52334">
                <a:alpha val="20000"/>
              </a:srgbClr>
            </a:solidFill>
          </p:grpSpPr>
          <p:sp>
            <p:nvSpPr>
              <p:cNvPr id="5" name="Oval 6">
                <a:extLst>
                  <a:ext uri="{FF2B5EF4-FFF2-40B4-BE49-F238E27FC236}">
                    <a16:creationId xmlns:a16="http://schemas.microsoft.com/office/drawing/2014/main" id="{C90A4C56-635A-41FD-9484-C0CF8679EC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6188" y="-244475"/>
                <a:ext cx="996950" cy="9937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6" name="Freeform 7">
                <a:extLst>
                  <a:ext uri="{FF2B5EF4-FFF2-40B4-BE49-F238E27FC236}">
                    <a16:creationId xmlns:a16="http://schemas.microsoft.com/office/drawing/2014/main" id="{FB49B7CC-B632-482E-B2E6-F64D6BBEEA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8726" y="-1395413"/>
                <a:ext cx="2162175" cy="2163764"/>
              </a:xfrm>
              <a:custGeom>
                <a:avLst/>
                <a:gdLst>
                  <a:gd name="T0" fmla="*/ 1844 w 1860"/>
                  <a:gd name="T1" fmla="*/ 1447 h 1861"/>
                  <a:gd name="T2" fmla="*/ 1424 w 1860"/>
                  <a:gd name="T3" fmla="*/ 989 h 1861"/>
                  <a:gd name="T4" fmla="*/ 1416 w 1860"/>
                  <a:gd name="T5" fmla="*/ 989 h 1861"/>
                  <a:gd name="T6" fmla="*/ 1409 w 1860"/>
                  <a:gd name="T7" fmla="*/ 989 h 1861"/>
                  <a:gd name="T8" fmla="*/ 871 w 1860"/>
                  <a:gd name="T9" fmla="*/ 452 h 1861"/>
                  <a:gd name="T10" fmla="*/ 871 w 1860"/>
                  <a:gd name="T11" fmla="*/ 444 h 1861"/>
                  <a:gd name="T12" fmla="*/ 871 w 1860"/>
                  <a:gd name="T13" fmla="*/ 436 h 1861"/>
                  <a:gd name="T14" fmla="*/ 414 w 1860"/>
                  <a:gd name="T15" fmla="*/ 17 h 1861"/>
                  <a:gd name="T16" fmla="*/ 16 w 1860"/>
                  <a:gd name="T17" fmla="*/ 415 h 1861"/>
                  <a:gd name="T18" fmla="*/ 436 w 1860"/>
                  <a:gd name="T19" fmla="*/ 872 h 1861"/>
                  <a:gd name="T20" fmla="*/ 443 w 1860"/>
                  <a:gd name="T21" fmla="*/ 872 h 1861"/>
                  <a:gd name="T22" fmla="*/ 451 w 1860"/>
                  <a:gd name="T23" fmla="*/ 872 h 1861"/>
                  <a:gd name="T24" fmla="*/ 989 w 1860"/>
                  <a:gd name="T25" fmla="*/ 1410 h 1861"/>
                  <a:gd name="T26" fmla="*/ 989 w 1860"/>
                  <a:gd name="T27" fmla="*/ 1417 h 1861"/>
                  <a:gd name="T28" fmla="*/ 989 w 1860"/>
                  <a:gd name="T29" fmla="*/ 1425 h 1861"/>
                  <a:gd name="T30" fmla="*/ 1446 w 1860"/>
                  <a:gd name="T31" fmla="*/ 1844 h 1861"/>
                  <a:gd name="T32" fmla="*/ 1844 w 1860"/>
                  <a:gd name="T33" fmla="*/ 1447 h 18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60" h="1861">
                    <a:moveTo>
                      <a:pt x="1844" y="1447"/>
                    </a:moveTo>
                    <a:cubicBezTo>
                      <a:pt x="1860" y="1199"/>
                      <a:pt x="1667" y="993"/>
                      <a:pt x="1424" y="989"/>
                    </a:cubicBezTo>
                    <a:cubicBezTo>
                      <a:pt x="1422" y="989"/>
                      <a:pt x="1419" y="989"/>
                      <a:pt x="1416" y="989"/>
                    </a:cubicBezTo>
                    <a:cubicBezTo>
                      <a:pt x="1414" y="989"/>
                      <a:pt x="1411" y="989"/>
                      <a:pt x="1409" y="989"/>
                    </a:cubicBezTo>
                    <a:cubicBezTo>
                      <a:pt x="1114" y="985"/>
                      <a:pt x="875" y="746"/>
                      <a:pt x="871" y="452"/>
                    </a:cubicBezTo>
                    <a:cubicBezTo>
                      <a:pt x="871" y="449"/>
                      <a:pt x="871" y="447"/>
                      <a:pt x="871" y="444"/>
                    </a:cubicBezTo>
                    <a:cubicBezTo>
                      <a:pt x="871" y="442"/>
                      <a:pt x="871" y="439"/>
                      <a:pt x="871" y="436"/>
                    </a:cubicBezTo>
                    <a:cubicBezTo>
                      <a:pt x="867" y="194"/>
                      <a:pt x="661" y="0"/>
                      <a:pt x="414" y="17"/>
                    </a:cubicBezTo>
                    <a:cubicBezTo>
                      <a:pt x="202" y="31"/>
                      <a:pt x="30" y="203"/>
                      <a:pt x="16" y="415"/>
                    </a:cubicBezTo>
                    <a:cubicBezTo>
                      <a:pt x="0" y="662"/>
                      <a:pt x="193" y="868"/>
                      <a:pt x="436" y="872"/>
                    </a:cubicBezTo>
                    <a:cubicBezTo>
                      <a:pt x="438" y="872"/>
                      <a:pt x="441" y="872"/>
                      <a:pt x="443" y="872"/>
                    </a:cubicBezTo>
                    <a:cubicBezTo>
                      <a:pt x="446" y="872"/>
                      <a:pt x="449" y="872"/>
                      <a:pt x="451" y="872"/>
                    </a:cubicBezTo>
                    <a:cubicBezTo>
                      <a:pt x="746" y="876"/>
                      <a:pt x="984" y="1115"/>
                      <a:pt x="989" y="1410"/>
                    </a:cubicBezTo>
                    <a:cubicBezTo>
                      <a:pt x="989" y="1412"/>
                      <a:pt x="989" y="1415"/>
                      <a:pt x="989" y="1417"/>
                    </a:cubicBezTo>
                    <a:cubicBezTo>
                      <a:pt x="989" y="1420"/>
                      <a:pt x="989" y="1422"/>
                      <a:pt x="989" y="1425"/>
                    </a:cubicBezTo>
                    <a:cubicBezTo>
                      <a:pt x="993" y="1667"/>
                      <a:pt x="1199" y="1861"/>
                      <a:pt x="1446" y="1844"/>
                    </a:cubicBezTo>
                    <a:cubicBezTo>
                      <a:pt x="1657" y="1830"/>
                      <a:pt x="1829" y="1658"/>
                      <a:pt x="1844" y="14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7" name="Oval 8">
                <a:extLst>
                  <a:ext uri="{FF2B5EF4-FFF2-40B4-BE49-F238E27FC236}">
                    <a16:creationId xmlns:a16="http://schemas.microsoft.com/office/drawing/2014/main" id="{713D498D-AF2C-4B76-BDD2-F7D9AEDA1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6488" y="-1376363"/>
                <a:ext cx="996950" cy="9953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</p:grpSp>
        <p:grpSp>
          <p:nvGrpSpPr>
            <p:cNvPr id="8" name="Agrupar 81">
              <a:extLst>
                <a:ext uri="{FF2B5EF4-FFF2-40B4-BE49-F238E27FC236}">
                  <a16:creationId xmlns:a16="http://schemas.microsoft.com/office/drawing/2014/main" id="{67F7894D-C27C-46DF-AB3D-39C6DB4E23E5}"/>
                </a:ext>
              </a:extLst>
            </p:cNvPr>
            <p:cNvGrpSpPr/>
            <p:nvPr/>
          </p:nvGrpSpPr>
          <p:grpSpPr>
            <a:xfrm>
              <a:off x="10366154" y="4702978"/>
              <a:ext cx="2162175" cy="2163764"/>
              <a:chOff x="7578726" y="-1395413"/>
              <a:chExt cx="2162175" cy="2163764"/>
            </a:xfrm>
            <a:solidFill>
              <a:srgbClr val="E52334">
                <a:alpha val="20000"/>
              </a:srgbClr>
            </a:solidFill>
          </p:grpSpPr>
          <p:sp>
            <p:nvSpPr>
              <p:cNvPr id="9" name="Oval 6">
                <a:extLst>
                  <a:ext uri="{FF2B5EF4-FFF2-40B4-BE49-F238E27FC236}">
                    <a16:creationId xmlns:a16="http://schemas.microsoft.com/office/drawing/2014/main" id="{0746FCBB-4B9E-46E0-8DFA-7F976C4D66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6188" y="-244475"/>
                <a:ext cx="996950" cy="9937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703201B7-B02C-4345-8B47-D481EC0552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8726" y="-1395413"/>
                <a:ext cx="2162175" cy="2163764"/>
              </a:xfrm>
              <a:custGeom>
                <a:avLst/>
                <a:gdLst>
                  <a:gd name="T0" fmla="*/ 1844 w 1860"/>
                  <a:gd name="T1" fmla="*/ 1447 h 1861"/>
                  <a:gd name="T2" fmla="*/ 1424 w 1860"/>
                  <a:gd name="T3" fmla="*/ 989 h 1861"/>
                  <a:gd name="T4" fmla="*/ 1416 w 1860"/>
                  <a:gd name="T5" fmla="*/ 989 h 1861"/>
                  <a:gd name="T6" fmla="*/ 1409 w 1860"/>
                  <a:gd name="T7" fmla="*/ 989 h 1861"/>
                  <a:gd name="T8" fmla="*/ 871 w 1860"/>
                  <a:gd name="T9" fmla="*/ 452 h 1861"/>
                  <a:gd name="T10" fmla="*/ 871 w 1860"/>
                  <a:gd name="T11" fmla="*/ 444 h 1861"/>
                  <a:gd name="T12" fmla="*/ 871 w 1860"/>
                  <a:gd name="T13" fmla="*/ 436 h 1861"/>
                  <a:gd name="T14" fmla="*/ 414 w 1860"/>
                  <a:gd name="T15" fmla="*/ 17 h 1861"/>
                  <a:gd name="T16" fmla="*/ 16 w 1860"/>
                  <a:gd name="T17" fmla="*/ 415 h 1861"/>
                  <a:gd name="T18" fmla="*/ 436 w 1860"/>
                  <a:gd name="T19" fmla="*/ 872 h 1861"/>
                  <a:gd name="T20" fmla="*/ 443 w 1860"/>
                  <a:gd name="T21" fmla="*/ 872 h 1861"/>
                  <a:gd name="T22" fmla="*/ 451 w 1860"/>
                  <a:gd name="T23" fmla="*/ 872 h 1861"/>
                  <a:gd name="T24" fmla="*/ 989 w 1860"/>
                  <a:gd name="T25" fmla="*/ 1410 h 1861"/>
                  <a:gd name="T26" fmla="*/ 989 w 1860"/>
                  <a:gd name="T27" fmla="*/ 1417 h 1861"/>
                  <a:gd name="T28" fmla="*/ 989 w 1860"/>
                  <a:gd name="T29" fmla="*/ 1425 h 1861"/>
                  <a:gd name="T30" fmla="*/ 1446 w 1860"/>
                  <a:gd name="T31" fmla="*/ 1844 h 1861"/>
                  <a:gd name="T32" fmla="*/ 1844 w 1860"/>
                  <a:gd name="T33" fmla="*/ 1447 h 18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60" h="1861">
                    <a:moveTo>
                      <a:pt x="1844" y="1447"/>
                    </a:moveTo>
                    <a:cubicBezTo>
                      <a:pt x="1860" y="1199"/>
                      <a:pt x="1667" y="993"/>
                      <a:pt x="1424" y="989"/>
                    </a:cubicBezTo>
                    <a:cubicBezTo>
                      <a:pt x="1422" y="989"/>
                      <a:pt x="1419" y="989"/>
                      <a:pt x="1416" y="989"/>
                    </a:cubicBezTo>
                    <a:cubicBezTo>
                      <a:pt x="1414" y="989"/>
                      <a:pt x="1411" y="989"/>
                      <a:pt x="1409" y="989"/>
                    </a:cubicBezTo>
                    <a:cubicBezTo>
                      <a:pt x="1114" y="985"/>
                      <a:pt x="875" y="746"/>
                      <a:pt x="871" y="452"/>
                    </a:cubicBezTo>
                    <a:cubicBezTo>
                      <a:pt x="871" y="449"/>
                      <a:pt x="871" y="447"/>
                      <a:pt x="871" y="444"/>
                    </a:cubicBezTo>
                    <a:cubicBezTo>
                      <a:pt x="871" y="442"/>
                      <a:pt x="871" y="439"/>
                      <a:pt x="871" y="436"/>
                    </a:cubicBezTo>
                    <a:cubicBezTo>
                      <a:pt x="867" y="194"/>
                      <a:pt x="661" y="0"/>
                      <a:pt x="414" y="17"/>
                    </a:cubicBezTo>
                    <a:cubicBezTo>
                      <a:pt x="202" y="31"/>
                      <a:pt x="30" y="203"/>
                      <a:pt x="16" y="415"/>
                    </a:cubicBezTo>
                    <a:cubicBezTo>
                      <a:pt x="0" y="662"/>
                      <a:pt x="193" y="868"/>
                      <a:pt x="436" y="872"/>
                    </a:cubicBezTo>
                    <a:cubicBezTo>
                      <a:pt x="438" y="872"/>
                      <a:pt x="441" y="872"/>
                      <a:pt x="443" y="872"/>
                    </a:cubicBezTo>
                    <a:cubicBezTo>
                      <a:pt x="446" y="872"/>
                      <a:pt x="449" y="872"/>
                      <a:pt x="451" y="872"/>
                    </a:cubicBezTo>
                    <a:cubicBezTo>
                      <a:pt x="746" y="876"/>
                      <a:pt x="984" y="1115"/>
                      <a:pt x="989" y="1410"/>
                    </a:cubicBezTo>
                    <a:cubicBezTo>
                      <a:pt x="989" y="1412"/>
                      <a:pt x="989" y="1415"/>
                      <a:pt x="989" y="1417"/>
                    </a:cubicBezTo>
                    <a:cubicBezTo>
                      <a:pt x="989" y="1420"/>
                      <a:pt x="989" y="1422"/>
                      <a:pt x="989" y="1425"/>
                    </a:cubicBezTo>
                    <a:cubicBezTo>
                      <a:pt x="993" y="1667"/>
                      <a:pt x="1199" y="1861"/>
                      <a:pt x="1446" y="1844"/>
                    </a:cubicBezTo>
                    <a:cubicBezTo>
                      <a:pt x="1657" y="1830"/>
                      <a:pt x="1829" y="1658"/>
                      <a:pt x="1844" y="14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11" name="Oval 8">
                <a:extLst>
                  <a:ext uri="{FF2B5EF4-FFF2-40B4-BE49-F238E27FC236}">
                    <a16:creationId xmlns:a16="http://schemas.microsoft.com/office/drawing/2014/main" id="{DC832EDE-C7B7-4B30-B3AD-CEBEDB0957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6488" y="-1376363"/>
                <a:ext cx="996950" cy="9953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</p:grpSp>
      </p:grpSp>
      <p:grpSp>
        <p:nvGrpSpPr>
          <p:cNvPr id="12" name="Agrupar 14">
            <a:extLst>
              <a:ext uri="{FF2B5EF4-FFF2-40B4-BE49-F238E27FC236}">
                <a16:creationId xmlns:a16="http://schemas.microsoft.com/office/drawing/2014/main" id="{191C49A3-B2DB-4FAE-B7EF-D7AB24718FA2}"/>
              </a:ext>
            </a:extLst>
          </p:cNvPr>
          <p:cNvGrpSpPr/>
          <p:nvPr/>
        </p:nvGrpSpPr>
        <p:grpSpPr>
          <a:xfrm>
            <a:off x="0" y="481866"/>
            <a:ext cx="4754879" cy="851627"/>
            <a:chOff x="783526" y="1421079"/>
            <a:chExt cx="3119636" cy="558745"/>
          </a:xfrm>
        </p:grpSpPr>
        <p:sp>
          <p:nvSpPr>
            <p:cNvPr id="13" name="Rectangle 18">
              <a:extLst>
                <a:ext uri="{FF2B5EF4-FFF2-40B4-BE49-F238E27FC236}">
                  <a16:creationId xmlns:a16="http://schemas.microsoft.com/office/drawing/2014/main" id="{C2FFFE1C-EBFC-492F-A00F-7165D0460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526" y="1421079"/>
              <a:ext cx="558025" cy="558745"/>
            </a:xfrm>
            <a:prstGeom prst="rect">
              <a:avLst/>
            </a:prstGeom>
            <a:solidFill>
              <a:srgbClr val="9F17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E52334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Rectangle 19">
              <a:extLst>
                <a:ext uri="{FF2B5EF4-FFF2-40B4-BE49-F238E27FC236}">
                  <a16:creationId xmlns:a16="http://schemas.microsoft.com/office/drawing/2014/main" id="{4E116990-9416-4A28-9CC4-2AD389867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1551" y="1421079"/>
              <a:ext cx="2561611" cy="558745"/>
            </a:xfrm>
            <a:prstGeom prst="rect">
              <a:avLst/>
            </a:prstGeom>
            <a:solidFill>
              <a:srgbClr val="FC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E52334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srgbClr val="9F1727"/>
                </a:solidFill>
              </a:endParaRPr>
            </a:p>
          </p:txBody>
        </p:sp>
        <p:sp>
          <p:nvSpPr>
            <p:cNvPr id="15" name="Freeform 20">
              <a:extLst>
                <a:ext uri="{FF2B5EF4-FFF2-40B4-BE49-F238E27FC236}">
                  <a16:creationId xmlns:a16="http://schemas.microsoft.com/office/drawing/2014/main" id="{7F37A2D2-09C6-4E7F-B4BC-46A6A8954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59849" y="1526924"/>
              <a:ext cx="403218" cy="348496"/>
            </a:xfrm>
            <a:custGeom>
              <a:avLst/>
              <a:gdLst>
                <a:gd name="T0" fmla="*/ 280 w 560"/>
                <a:gd name="T1" fmla="*/ 484 h 484"/>
                <a:gd name="T2" fmla="*/ 0 w 560"/>
                <a:gd name="T3" fmla="*/ 484 h 484"/>
                <a:gd name="T4" fmla="*/ 140 w 560"/>
                <a:gd name="T5" fmla="*/ 242 h 484"/>
                <a:gd name="T6" fmla="*/ 280 w 560"/>
                <a:gd name="T7" fmla="*/ 0 h 484"/>
                <a:gd name="T8" fmla="*/ 420 w 560"/>
                <a:gd name="T9" fmla="*/ 242 h 484"/>
                <a:gd name="T10" fmla="*/ 560 w 560"/>
                <a:gd name="T11" fmla="*/ 484 h 484"/>
                <a:gd name="T12" fmla="*/ 280 w 560"/>
                <a:gd name="T13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0" h="484">
                  <a:moveTo>
                    <a:pt x="280" y="484"/>
                  </a:moveTo>
                  <a:lnTo>
                    <a:pt x="0" y="484"/>
                  </a:lnTo>
                  <a:lnTo>
                    <a:pt x="140" y="242"/>
                  </a:lnTo>
                  <a:lnTo>
                    <a:pt x="280" y="0"/>
                  </a:lnTo>
                  <a:lnTo>
                    <a:pt x="420" y="242"/>
                  </a:lnTo>
                  <a:lnTo>
                    <a:pt x="560" y="484"/>
                  </a:lnTo>
                  <a:lnTo>
                    <a:pt x="280" y="4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9F1727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</p:grpSp>
      <p:sp>
        <p:nvSpPr>
          <p:cNvPr id="16" name="Título"/>
          <p:cNvSpPr txBox="1"/>
          <p:nvPr/>
        </p:nvSpPr>
        <p:spPr>
          <a:xfrm>
            <a:off x="1051560" y="632829"/>
            <a:ext cx="338328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3600">
                <a:solidFill>
                  <a:srgbClr val="9F1727"/>
                </a:solidFill>
                <a:latin typeface="Outfit Medium"/>
              </a:rPr>
              <a:t>Demonstração</a:t>
            </a:r>
            <a:endParaRPr lang="pt-BR"/>
          </a:p>
        </p:txBody>
      </p:sp>
      <p:sp>
        <p:nvSpPr>
          <p:cNvPr id="17" name="Google Shape;95;p1">
            <a:extLst>
              <a:ext uri="{FF2B5EF4-FFF2-40B4-BE49-F238E27FC236}">
                <a16:creationId xmlns:a16="http://schemas.microsoft.com/office/drawing/2014/main" id="{3596FD0A-B970-C337-D9D4-B24DA4356B3F}"/>
              </a:ext>
            </a:extLst>
          </p:cNvPr>
          <p:cNvSpPr/>
          <p:nvPr/>
        </p:nvSpPr>
        <p:spPr>
          <a:xfrm>
            <a:off x="11143859" y="327685"/>
            <a:ext cx="100013" cy="100013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sp>
        <p:nvSpPr>
          <p:cNvPr id="18" name="Google Shape;96;p1">
            <a:extLst>
              <a:ext uri="{FF2B5EF4-FFF2-40B4-BE49-F238E27FC236}">
                <a16:creationId xmlns:a16="http://schemas.microsoft.com/office/drawing/2014/main" id="{87B2C98F-7522-4186-BA65-035C70C09D80}"/>
              </a:ext>
            </a:extLst>
          </p:cNvPr>
          <p:cNvSpPr/>
          <p:nvPr/>
        </p:nvSpPr>
        <p:spPr>
          <a:xfrm>
            <a:off x="11398652" y="327685"/>
            <a:ext cx="100013" cy="100013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F1727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sp>
        <p:nvSpPr>
          <p:cNvPr id="19" name="Google Shape;97;p1">
            <a:extLst>
              <a:ext uri="{FF2B5EF4-FFF2-40B4-BE49-F238E27FC236}">
                <a16:creationId xmlns:a16="http://schemas.microsoft.com/office/drawing/2014/main" id="{BE9DE5CF-0804-8216-D935-48216B941DAA}"/>
              </a:ext>
            </a:extLst>
          </p:cNvPr>
          <p:cNvSpPr/>
          <p:nvPr/>
        </p:nvSpPr>
        <p:spPr>
          <a:xfrm>
            <a:off x="11654872" y="327685"/>
            <a:ext cx="100013" cy="100013"/>
          </a:xfrm>
          <a:prstGeom prst="ellipse">
            <a:avLst/>
          </a:prstGeom>
          <a:solidFill>
            <a:srgbClr val="E523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F1727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pic>
        <p:nvPicPr>
          <p:cNvPr id="20" name="FoodJam wordmark" descr="FoodJa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55480" y="270000"/>
            <a:ext cx="1250000" cy="341314"/>
          </a:xfrm>
          <a:prstGeom prst="rect">
            <a:avLst/>
          </a:prstGeom>
        </p:spPr>
      </p:pic>
      <p:sp>
        <p:nvSpPr>
          <p:cNvPr id="45" name="Número"/>
          <p:cNvSpPr txBox="1"/>
          <p:nvPr/>
        </p:nvSpPr>
        <p:spPr>
          <a:xfrm>
            <a:off x="11292840" y="64282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9F1727"/>
                </a:solidFill>
                <a:latin typeface="Outfit"/>
              </a:rPr>
              <a:t>5</a:t>
            </a:r>
          </a:p>
        </p:txBody>
      </p:sp>
      <p:pic>
        <p:nvPicPr>
          <p:cNvPr id="2" name="Design sem nome">
            <a:hlinkClick r:id="" action="ppaction://media"/>
            <a:extLst>
              <a:ext uri="{FF2B5EF4-FFF2-40B4-BE49-F238E27FC236}">
                <a16:creationId xmlns:a16="http://schemas.microsoft.com/office/drawing/2014/main" id="{E3B9DA9F-E0D8-D211-C4B4-17E71C2C724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816502" y="1399734"/>
            <a:ext cx="8555713" cy="52556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324C18DE-7FCD-8CEC-3430-43ACF9986505}"/>
              </a:ext>
            </a:extLst>
          </p:cNvPr>
          <p:cNvGrpSpPr/>
          <p:nvPr/>
        </p:nvGrpSpPr>
        <p:grpSpPr>
          <a:xfrm>
            <a:off x="0" y="481866"/>
            <a:ext cx="7040879" cy="851627"/>
            <a:chOff x="0" y="481866"/>
            <a:chExt cx="7040879" cy="851627"/>
          </a:xfrm>
        </p:grpSpPr>
        <p:sp>
          <p:nvSpPr>
            <p:cNvPr id="4" name="Rectangle 19">
              <a:extLst>
                <a:ext uri="{FF2B5EF4-FFF2-40B4-BE49-F238E27FC236}">
                  <a16:creationId xmlns:a16="http://schemas.microsoft.com/office/drawing/2014/main" id="{BD5D9359-6E04-F234-0D2F-57980607E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529" y="481866"/>
              <a:ext cx="6190488" cy="851627"/>
            </a:xfrm>
            <a:prstGeom prst="rect">
              <a:avLst/>
            </a:prstGeom>
            <a:solidFill>
              <a:srgbClr val="FC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E52334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5" name="Rectangle 18">
              <a:extLst>
                <a:ext uri="{FF2B5EF4-FFF2-40B4-BE49-F238E27FC236}">
                  <a16:creationId xmlns:a16="http://schemas.microsoft.com/office/drawing/2014/main" id="{9DBECE9E-543D-C539-101A-73D1D3CC6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1866"/>
              <a:ext cx="850529" cy="851627"/>
            </a:xfrm>
            <a:prstGeom prst="rect">
              <a:avLst/>
            </a:prstGeom>
            <a:solidFill>
              <a:srgbClr val="9F17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E52334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srgbClr val="E52334"/>
                </a:solidFill>
              </a:endParaRPr>
            </a:p>
          </p:txBody>
        </p:sp>
        <p:sp>
          <p:nvSpPr>
            <p:cNvPr id="6" name="Elipse 51">
              <a:extLst>
                <a:ext uri="{FF2B5EF4-FFF2-40B4-BE49-F238E27FC236}">
                  <a16:creationId xmlns:a16="http://schemas.microsoft.com/office/drawing/2014/main" id="{E95A8B8A-B027-1503-13A2-53DA245CBCC4}"/>
                </a:ext>
              </a:extLst>
            </p:cNvPr>
            <p:cNvSpPr/>
            <p:nvPr/>
          </p:nvSpPr>
          <p:spPr>
            <a:xfrm>
              <a:off x="117976" y="600391"/>
              <a:ext cx="614576" cy="6145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9F1727"/>
                </a:solidFill>
              </a:endParaRPr>
            </a:p>
          </p:txBody>
        </p:sp>
      </p:grpSp>
      <p:sp>
        <p:nvSpPr>
          <p:cNvPr id="7" name="Título"/>
          <p:cNvSpPr txBox="1"/>
          <p:nvPr/>
        </p:nvSpPr>
        <p:spPr>
          <a:xfrm>
            <a:off x="1051560" y="632829"/>
            <a:ext cx="566928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pt-BR" sz="3600">
                <a:solidFill>
                  <a:srgbClr val="9F1727"/>
                </a:solidFill>
                <a:latin typeface="Outfit Medium"/>
              </a:rPr>
              <a:t>Confiabilidade da solução</a:t>
            </a:r>
            <a:endParaRPr lang="pt-BR"/>
          </a:p>
        </p:txBody>
      </p:sp>
      <p:sp>
        <p:nvSpPr>
          <p:cNvPr id="8" name="Google Shape;95;p1">
            <a:extLst>
              <a:ext uri="{FF2B5EF4-FFF2-40B4-BE49-F238E27FC236}">
                <a16:creationId xmlns:a16="http://schemas.microsoft.com/office/drawing/2014/main" id="{3596FD0A-B970-C337-D9D4-B24DA4356B3F}"/>
              </a:ext>
            </a:extLst>
          </p:cNvPr>
          <p:cNvSpPr/>
          <p:nvPr/>
        </p:nvSpPr>
        <p:spPr>
          <a:xfrm>
            <a:off x="11143859" y="327685"/>
            <a:ext cx="100013" cy="100013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sp>
        <p:nvSpPr>
          <p:cNvPr id="9" name="Google Shape;96;p1">
            <a:extLst>
              <a:ext uri="{FF2B5EF4-FFF2-40B4-BE49-F238E27FC236}">
                <a16:creationId xmlns:a16="http://schemas.microsoft.com/office/drawing/2014/main" id="{87B2C98F-7522-4186-BA65-035C70C09D80}"/>
              </a:ext>
            </a:extLst>
          </p:cNvPr>
          <p:cNvSpPr/>
          <p:nvPr/>
        </p:nvSpPr>
        <p:spPr>
          <a:xfrm>
            <a:off x="11398652" y="327685"/>
            <a:ext cx="100013" cy="100013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F1727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7;p1">
            <a:extLst>
              <a:ext uri="{FF2B5EF4-FFF2-40B4-BE49-F238E27FC236}">
                <a16:creationId xmlns:a16="http://schemas.microsoft.com/office/drawing/2014/main" id="{BE9DE5CF-0804-8216-D935-48216B941DAA}"/>
              </a:ext>
            </a:extLst>
          </p:cNvPr>
          <p:cNvSpPr/>
          <p:nvPr/>
        </p:nvSpPr>
        <p:spPr>
          <a:xfrm>
            <a:off x="11654872" y="327685"/>
            <a:ext cx="100013" cy="100013"/>
          </a:xfrm>
          <a:prstGeom prst="ellipse">
            <a:avLst/>
          </a:prstGeom>
          <a:solidFill>
            <a:srgbClr val="E523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F1727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pic>
        <p:nvPicPr>
          <p:cNvPr id="11" name="FoodJam wordmark" descr="FoodJa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5480" y="270000"/>
            <a:ext cx="1250000" cy="341314"/>
          </a:xfrm>
          <a:prstGeom prst="rect">
            <a:avLst/>
          </a:prstGeom>
        </p:spPr>
      </p:pic>
      <p:sp>
        <p:nvSpPr>
          <p:cNvPr id="12" name="Rounded Rectangle 128"/>
          <p:cNvSpPr/>
          <p:nvPr/>
        </p:nvSpPr>
        <p:spPr>
          <a:xfrm>
            <a:off x="777240" y="1645920"/>
            <a:ext cx="640080" cy="640080"/>
          </a:xfrm>
          <a:prstGeom prst="roundRect">
            <a:avLst>
              <a:gd name="adj" fmla="val 1350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FoodJam plate" descr="Ícone catálogo de refeições">
            <a:extLst>
              <a:ext uri="{FF2B5EF4-FFF2-40B4-BE49-F238E27FC236}">
                <a16:creationId xmlns:a16="http://schemas.microsoft.com/office/drawing/2014/main" id="{2CE283A0-ED03-7C1D-3D52-95B7DBB8B40E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60450" y="1729130"/>
            <a:ext cx="473659" cy="473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2062"/>
          <p:cNvSpPr txBox="1"/>
          <p:nvPr/>
        </p:nvSpPr>
        <p:spPr>
          <a:xfrm>
            <a:off x="1645920" y="1627632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9F1727"/>
                </a:solidFill>
                <a:latin typeface="Outfit"/>
              </a:rPr>
              <a:t>Cardápio real</a:t>
            </a:r>
          </a:p>
        </p:txBody>
      </p:sp>
      <p:sp>
        <p:nvSpPr>
          <p:cNvPr id="15" name="TextBox 2063"/>
          <p:cNvSpPr txBox="1"/>
          <p:nvPr/>
        </p:nvSpPr>
        <p:spPr>
          <a:xfrm>
            <a:off x="1645920" y="1975104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82D30"/>
                </a:solidFill>
                <a:latin typeface="Outfit"/>
              </a:rPr>
              <a:t>Preço, frete e taxa vêm do iFood, pelo MCP.</a:t>
            </a:r>
          </a:p>
        </p:txBody>
      </p:sp>
      <p:sp>
        <p:nvSpPr>
          <p:cNvPr id="16" name="Rounded Rectangle 2064"/>
          <p:cNvSpPr/>
          <p:nvPr/>
        </p:nvSpPr>
        <p:spPr>
          <a:xfrm>
            <a:off x="777240" y="2532888"/>
            <a:ext cx="640080" cy="640080"/>
          </a:xfrm>
          <a:prstGeom prst="roundRect">
            <a:avLst>
              <a:gd name="adj" fmla="val 1350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FoodJam code" descr="Ícone código">
            <a:extLst>
              <a:ext uri="{FF2B5EF4-FFF2-40B4-BE49-F238E27FC236}">
                <a16:creationId xmlns:a16="http://schemas.microsoft.com/office/drawing/2014/main" id="{ACBA785F-E8FF-1A8A-ED66-2C77D51F452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auto">
          <a:xfrm>
            <a:off x="860450" y="2616098"/>
            <a:ext cx="473659" cy="473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2065"/>
          <p:cNvSpPr txBox="1"/>
          <p:nvPr/>
        </p:nvSpPr>
        <p:spPr>
          <a:xfrm>
            <a:off x="1645920" y="2514600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9F1727"/>
                </a:solidFill>
                <a:latin typeface="Outfit"/>
              </a:rPr>
              <a:t>A IA não toca no dinheiro</a:t>
            </a:r>
          </a:p>
        </p:txBody>
      </p:sp>
      <p:sp>
        <p:nvSpPr>
          <p:cNvPr id="19" name="TextBox 2066"/>
          <p:cNvSpPr txBox="1"/>
          <p:nvPr/>
        </p:nvSpPr>
        <p:spPr>
          <a:xfrm>
            <a:off x="1645920" y="2862072"/>
            <a:ext cx="5669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err="1">
                <a:solidFill>
                  <a:srgbClr val="382D30"/>
                </a:solidFill>
                <a:latin typeface="Outfit"/>
              </a:rPr>
              <a:t>Rateio</a:t>
            </a:r>
            <a:r>
              <a:rPr sz="1400" b="0">
                <a:solidFill>
                  <a:srgbClr val="382D30"/>
                </a:solidFill>
                <a:latin typeface="Outfit"/>
              </a:rPr>
              <a:t> </a:t>
            </a:r>
            <a:r>
              <a:rPr sz="1400" b="0" err="1">
                <a:solidFill>
                  <a:srgbClr val="382D30"/>
                </a:solidFill>
                <a:latin typeface="Outfit"/>
              </a:rPr>
              <a:t>em</a:t>
            </a:r>
            <a:r>
              <a:rPr sz="1400" b="0">
                <a:solidFill>
                  <a:srgbClr val="382D30"/>
                </a:solidFill>
                <a:latin typeface="Outfit"/>
              </a:rPr>
              <a:t> </a:t>
            </a:r>
            <a:r>
              <a:rPr sz="1400" b="0" err="1">
                <a:solidFill>
                  <a:srgbClr val="382D30"/>
                </a:solidFill>
                <a:latin typeface="Outfit"/>
              </a:rPr>
              <a:t>código</a:t>
            </a:r>
            <a:r>
              <a:rPr sz="1400" b="0">
                <a:solidFill>
                  <a:srgbClr val="382D30"/>
                </a:solidFill>
                <a:latin typeface="Outfit"/>
              </a:rPr>
              <a:t>, </a:t>
            </a:r>
            <a:r>
              <a:rPr lang="pt-BR" sz="1400">
                <a:solidFill>
                  <a:srgbClr val="382D30"/>
                </a:solidFill>
              </a:rPr>
              <a:t>cálculo </a:t>
            </a:r>
            <a:r>
              <a:rPr lang="pt-BR" sz="1400" err="1">
                <a:solidFill>
                  <a:srgbClr val="382D30"/>
                </a:solidFill>
              </a:rPr>
              <a:t>em</a:t>
            </a:r>
            <a:r>
              <a:rPr lang="pt-BR" sz="1400">
                <a:solidFill>
                  <a:srgbClr val="382D30"/>
                </a:solidFill>
              </a:rPr>
              <a:t> </a:t>
            </a:r>
            <a:r>
              <a:rPr sz="1400" b="0">
                <a:solidFill>
                  <a:srgbClr val="382D30"/>
                </a:solidFill>
                <a:latin typeface="Outfit"/>
              </a:rPr>
              <a:t>centavos, </a:t>
            </a:r>
            <a:r>
              <a:rPr sz="1400" b="0" err="1">
                <a:solidFill>
                  <a:srgbClr val="382D30"/>
                </a:solidFill>
                <a:latin typeface="Outfit"/>
              </a:rPr>
              <a:t>fecha</a:t>
            </a:r>
            <a:r>
              <a:rPr sz="1400" b="0">
                <a:solidFill>
                  <a:srgbClr val="382D30"/>
                </a:solidFill>
                <a:latin typeface="Outfit"/>
              </a:rPr>
              <a:t> com o total.</a:t>
            </a:r>
          </a:p>
        </p:txBody>
      </p:sp>
      <p:sp>
        <p:nvSpPr>
          <p:cNvPr id="20" name="Rounded Rectangle 2067"/>
          <p:cNvSpPr/>
          <p:nvPr/>
        </p:nvSpPr>
        <p:spPr>
          <a:xfrm>
            <a:off x="777240" y="3419856"/>
            <a:ext cx="640080" cy="640080"/>
          </a:xfrm>
          <a:prstGeom prst="roundRect">
            <a:avLst>
              <a:gd name="adj" fmla="val 1350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FoodJam shield" descr="Ícone validação">
            <a:extLst>
              <a:ext uri="{FF2B5EF4-FFF2-40B4-BE49-F238E27FC236}">
                <a16:creationId xmlns:a16="http://schemas.microsoft.com/office/drawing/2014/main" id="{3D14B521-8F38-73CA-BA12-972095B74435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auto">
          <a:xfrm>
            <a:off x="860450" y="3503066"/>
            <a:ext cx="473659" cy="473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068"/>
          <p:cNvSpPr txBox="1"/>
          <p:nvPr/>
        </p:nvSpPr>
        <p:spPr>
          <a:xfrm>
            <a:off x="1645920" y="3401568"/>
            <a:ext cx="548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err="1">
                <a:solidFill>
                  <a:srgbClr val="9F1727"/>
                </a:solidFill>
                <a:latin typeface="Outfit"/>
              </a:rPr>
              <a:t>Restrição</a:t>
            </a:r>
            <a:r>
              <a:rPr sz="1800" b="1">
                <a:solidFill>
                  <a:srgbClr val="9F1727"/>
                </a:solidFill>
                <a:latin typeface="Outfit"/>
              </a:rPr>
              <a:t> é </a:t>
            </a:r>
            <a:r>
              <a:rPr sz="1800" b="1" err="1">
                <a:solidFill>
                  <a:srgbClr val="9F1727"/>
                </a:solidFill>
                <a:latin typeface="Outfit"/>
              </a:rPr>
              <a:t>regra</a:t>
            </a:r>
            <a:r>
              <a:rPr sz="1800" b="1">
                <a:solidFill>
                  <a:srgbClr val="9F1727"/>
                </a:solidFill>
                <a:latin typeface="Outfit"/>
              </a:rPr>
              <a:t> </a:t>
            </a:r>
            <a:r>
              <a:rPr lang="pt-BR" b="1">
                <a:solidFill>
                  <a:srgbClr val="9F1727"/>
                </a:solidFill>
              </a:rPr>
              <a:t>rígida</a:t>
            </a:r>
            <a:endParaRPr sz="1800" b="1">
              <a:solidFill>
                <a:srgbClr val="9F1727"/>
              </a:solidFill>
              <a:latin typeface="Outfit"/>
            </a:endParaRPr>
          </a:p>
        </p:txBody>
      </p:sp>
      <p:sp>
        <p:nvSpPr>
          <p:cNvPr id="23" name="TextBox 2069"/>
          <p:cNvSpPr txBox="1"/>
          <p:nvPr/>
        </p:nvSpPr>
        <p:spPr>
          <a:xfrm>
            <a:off x="1645920" y="3749040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82D30"/>
                </a:solidFill>
                <a:latin typeface="Outfit"/>
              </a:rPr>
              <a:t>Item com carne nem chega ao modelo para vegetariano.</a:t>
            </a:r>
          </a:p>
        </p:txBody>
      </p:sp>
      <p:sp>
        <p:nvSpPr>
          <p:cNvPr id="24" name="Rounded Rectangle 2070"/>
          <p:cNvSpPr/>
          <p:nvPr/>
        </p:nvSpPr>
        <p:spPr>
          <a:xfrm>
            <a:off x="777240" y="4306824"/>
            <a:ext cx="640080" cy="640080"/>
          </a:xfrm>
          <a:prstGeom prst="roundRect">
            <a:avLst>
              <a:gd name="adj" fmla="val 1350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FoodJam budget" descr="Ícone orçamento">
            <a:extLst>
              <a:ext uri="{FF2B5EF4-FFF2-40B4-BE49-F238E27FC236}">
                <a16:creationId xmlns:a16="http://schemas.microsoft.com/office/drawing/2014/main" id="{767446E3-FD45-5DC0-3C22-346653D881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0450" y="4390034"/>
            <a:ext cx="473659" cy="473659"/>
          </a:xfrm>
          <a:prstGeom prst="rect">
            <a:avLst/>
          </a:prstGeom>
        </p:spPr>
      </p:pic>
      <p:sp>
        <p:nvSpPr>
          <p:cNvPr id="26" name="TextBox 2071"/>
          <p:cNvSpPr txBox="1"/>
          <p:nvPr/>
        </p:nvSpPr>
        <p:spPr>
          <a:xfrm>
            <a:off x="1645920" y="4288536"/>
            <a:ext cx="548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err="1">
                <a:solidFill>
                  <a:srgbClr val="9F1727"/>
                </a:solidFill>
                <a:latin typeface="Outfit"/>
              </a:rPr>
              <a:t>Orçamento</a:t>
            </a:r>
            <a:r>
              <a:rPr sz="1800" b="1">
                <a:solidFill>
                  <a:srgbClr val="9F1727"/>
                </a:solidFill>
                <a:latin typeface="Outfit"/>
              </a:rPr>
              <a:t> </a:t>
            </a:r>
            <a:r>
              <a:rPr lang="pt-BR" b="1">
                <a:solidFill>
                  <a:srgbClr val="9F1727"/>
                </a:solidFill>
              </a:rPr>
              <a:t>alterado </a:t>
            </a:r>
            <a:r>
              <a:rPr sz="1800" b="1">
                <a:solidFill>
                  <a:srgbClr val="9F1727"/>
                </a:solidFill>
                <a:latin typeface="Outfit"/>
              </a:rPr>
              <a:t>é privado</a:t>
            </a:r>
          </a:p>
        </p:txBody>
      </p:sp>
      <p:sp>
        <p:nvSpPr>
          <p:cNvPr id="27" name="TextBox 2072"/>
          <p:cNvSpPr txBox="1"/>
          <p:nvPr/>
        </p:nvSpPr>
        <p:spPr>
          <a:xfrm>
            <a:off x="1645920" y="4636008"/>
            <a:ext cx="5669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400">
                <a:solidFill>
                  <a:srgbClr val="382D30"/>
                </a:solidFill>
              </a:rPr>
              <a:t>Não</a:t>
            </a:r>
            <a:r>
              <a:rPr sz="1400" b="0">
                <a:solidFill>
                  <a:srgbClr val="382D30"/>
                </a:solidFill>
                <a:latin typeface="Outfit"/>
              </a:rPr>
              <a:t> </a:t>
            </a:r>
            <a:r>
              <a:rPr sz="1400" b="0" err="1">
                <a:solidFill>
                  <a:srgbClr val="382D30"/>
                </a:solidFill>
                <a:latin typeface="Outfit"/>
              </a:rPr>
              <a:t>vai</a:t>
            </a:r>
            <a:r>
              <a:rPr sz="1400" b="0">
                <a:solidFill>
                  <a:srgbClr val="382D30"/>
                </a:solidFill>
                <a:latin typeface="Outfit"/>
              </a:rPr>
              <a:t> </a:t>
            </a:r>
            <a:r>
              <a:rPr sz="1400" b="0" err="1">
                <a:solidFill>
                  <a:srgbClr val="382D30"/>
                </a:solidFill>
                <a:latin typeface="Outfit"/>
              </a:rPr>
              <a:t>ao</a:t>
            </a:r>
            <a:r>
              <a:rPr sz="1400" b="0">
                <a:solidFill>
                  <a:srgbClr val="382D30"/>
                </a:solidFill>
                <a:latin typeface="Outfit"/>
              </a:rPr>
              <a:t> </a:t>
            </a:r>
            <a:r>
              <a:rPr lang="pt-BR" sz="1400">
                <a:solidFill>
                  <a:srgbClr val="382D30"/>
                </a:solidFill>
              </a:rPr>
              <a:t>LLM nem</a:t>
            </a:r>
            <a:r>
              <a:rPr sz="1400" b="0">
                <a:solidFill>
                  <a:srgbClr val="382D30"/>
                </a:solidFill>
                <a:latin typeface="Outfit"/>
              </a:rPr>
              <a:t> </a:t>
            </a:r>
            <a:r>
              <a:rPr sz="1400" b="0" err="1">
                <a:solidFill>
                  <a:srgbClr val="382D30"/>
                </a:solidFill>
                <a:latin typeface="Outfit"/>
              </a:rPr>
              <a:t>aparece</a:t>
            </a:r>
            <a:r>
              <a:rPr sz="1400" b="0">
                <a:solidFill>
                  <a:srgbClr val="382D30"/>
                </a:solidFill>
                <a:latin typeface="Outfit"/>
              </a:rPr>
              <a:t> no </a:t>
            </a:r>
            <a:r>
              <a:rPr sz="1400" b="0" err="1">
                <a:solidFill>
                  <a:srgbClr val="382D30"/>
                </a:solidFill>
                <a:latin typeface="Outfit"/>
              </a:rPr>
              <a:t>grupo</a:t>
            </a:r>
            <a:r>
              <a:rPr sz="1400" b="0">
                <a:solidFill>
                  <a:srgbClr val="382D30"/>
                </a:solidFill>
                <a:latin typeface="Outfit"/>
              </a:rPr>
              <a:t>.</a:t>
            </a:r>
          </a:p>
        </p:txBody>
      </p:sp>
      <p:sp>
        <p:nvSpPr>
          <p:cNvPr id="28" name="Rounded Rectangle 2073"/>
          <p:cNvSpPr/>
          <p:nvPr/>
        </p:nvSpPr>
        <p:spPr>
          <a:xfrm>
            <a:off x="777240" y="5193792"/>
            <a:ext cx="640080" cy="640080"/>
          </a:xfrm>
          <a:prstGeom prst="roundRect">
            <a:avLst>
              <a:gd name="adj" fmla="val 1350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FoodJam check" descr="Ícone revisão">
            <a:extLst>
              <a:ext uri="{FF2B5EF4-FFF2-40B4-BE49-F238E27FC236}">
                <a16:creationId xmlns:a16="http://schemas.microsoft.com/office/drawing/2014/main" id="{B18604A9-9FD0-993B-2C5A-175E627519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0450" y="5277002"/>
            <a:ext cx="473659" cy="473659"/>
          </a:xfrm>
          <a:prstGeom prst="rect">
            <a:avLst/>
          </a:prstGeom>
        </p:spPr>
      </p:pic>
      <p:sp>
        <p:nvSpPr>
          <p:cNvPr id="30" name="TextBox 2074"/>
          <p:cNvSpPr txBox="1"/>
          <p:nvPr/>
        </p:nvSpPr>
        <p:spPr>
          <a:xfrm>
            <a:off x="1645920" y="5175504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9F1727"/>
                </a:solidFill>
                <a:latin typeface="Outfit"/>
              </a:rPr>
              <a:t>Confirmação segura</a:t>
            </a:r>
          </a:p>
        </p:txBody>
      </p:sp>
      <p:sp>
        <p:nvSpPr>
          <p:cNvPr id="31" name="TextBox 2075"/>
          <p:cNvSpPr txBox="1"/>
          <p:nvPr/>
        </p:nvSpPr>
        <p:spPr>
          <a:xfrm>
            <a:off x="1645920" y="5522976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82D30"/>
                </a:solidFill>
                <a:latin typeface="Outfit"/>
              </a:rPr>
              <a:t>Reconsulta o iFood no clique; clique duplo não duplica.</a:t>
            </a:r>
          </a:p>
        </p:txBody>
      </p:sp>
      <p:sp>
        <p:nvSpPr>
          <p:cNvPr id="32" name="Rounded Rectangle 2076"/>
          <p:cNvSpPr/>
          <p:nvPr/>
        </p:nvSpPr>
        <p:spPr>
          <a:xfrm>
            <a:off x="7818120" y="1645920"/>
            <a:ext cx="3611880" cy="1280160"/>
          </a:xfrm>
          <a:prstGeom prst="roundRect">
            <a:avLst>
              <a:gd name="adj" fmla="val 1500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" rIns="274320" bIns="27432" rtlCol="0" anchor="ctr"/>
          <a:lstStyle/>
          <a:p>
            <a:pPr algn="l"/>
            <a:r>
              <a:rPr sz="4000" b="1">
                <a:solidFill>
                  <a:srgbClr val="FFFFFF"/>
                </a:solidFill>
                <a:latin typeface="Outfit"/>
              </a:rPr>
              <a:t>441 </a:t>
            </a:r>
            <a:r>
              <a:rPr sz="4000" b="1" err="1">
                <a:solidFill>
                  <a:srgbClr val="FFFFFF"/>
                </a:solidFill>
                <a:latin typeface="Outfit"/>
              </a:rPr>
              <a:t>ms</a:t>
            </a:r>
            <a:endParaRPr lang="pt-BR" sz="4000" b="1" err="1">
              <a:solidFill>
                <a:srgbClr val="FFFFFF"/>
              </a:solidFill>
              <a:latin typeface="Outfit"/>
            </a:endParaRPr>
          </a:p>
          <a:p>
            <a:r>
              <a:rPr sz="1400" b="0">
                <a:solidFill>
                  <a:srgbClr val="FFFFFF"/>
                </a:solidFill>
                <a:latin typeface="Outfit"/>
              </a:rPr>
              <a:t>tempo </a:t>
            </a:r>
            <a:r>
              <a:rPr sz="1400" b="0" err="1">
                <a:solidFill>
                  <a:srgbClr val="FFFFFF"/>
                </a:solidFill>
                <a:latin typeface="Outfit"/>
              </a:rPr>
              <a:t>médio</a:t>
            </a:r>
            <a:r>
              <a:rPr sz="1400" b="0">
                <a:solidFill>
                  <a:srgbClr val="FFFFFF"/>
                </a:solidFill>
                <a:latin typeface="Outfit"/>
              </a:rPr>
              <a:t> </a:t>
            </a:r>
            <a:r>
              <a:rPr lang="pt-BR" sz="1400">
                <a:solidFill>
                  <a:srgbClr val="FFFFFF"/>
                </a:solidFill>
                <a:latin typeface="Outfit"/>
              </a:rPr>
              <a:t>de processamento LLM</a:t>
            </a:r>
            <a:endParaRPr lang="pt-BR" sz="1400" b="0">
              <a:solidFill>
                <a:srgbClr val="FFFFFF"/>
              </a:solidFill>
              <a:latin typeface="Outfit"/>
            </a:endParaRPr>
          </a:p>
        </p:txBody>
      </p:sp>
      <p:sp>
        <p:nvSpPr>
          <p:cNvPr id="33" name="Rounded Rectangle 2077"/>
          <p:cNvSpPr/>
          <p:nvPr/>
        </p:nvSpPr>
        <p:spPr>
          <a:xfrm>
            <a:off x="7818120" y="3108960"/>
            <a:ext cx="3611880" cy="1280160"/>
          </a:xfrm>
          <a:prstGeom prst="roundRect">
            <a:avLst>
              <a:gd name="adj" fmla="val 1500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" rIns="274320" bIns="27432" rtlCol="0" anchor="ctr"/>
          <a:lstStyle/>
          <a:p>
            <a:pPr algn="l"/>
            <a:r>
              <a:rPr sz="4000" b="1">
                <a:solidFill>
                  <a:srgbClr val="FFFFFF"/>
                </a:solidFill>
                <a:latin typeface="Outfit"/>
              </a:rPr>
              <a:t>−70%</a:t>
            </a:r>
          </a:p>
          <a:p>
            <a:r>
              <a:rPr sz="1400" b="0">
                <a:solidFill>
                  <a:srgbClr val="FFFFFF"/>
                </a:solidFill>
                <a:latin typeface="Outfit"/>
              </a:rPr>
              <a:t>de tokens </a:t>
            </a:r>
            <a:r>
              <a:rPr sz="1400" b="0" err="1">
                <a:solidFill>
                  <a:srgbClr val="FFFFFF"/>
                </a:solidFill>
                <a:latin typeface="Outfit"/>
              </a:rPr>
              <a:t>juntando</a:t>
            </a:r>
            <a:r>
              <a:rPr sz="1400" b="0">
                <a:solidFill>
                  <a:srgbClr val="FFFFFF"/>
                </a:solidFill>
                <a:latin typeface="Outfit"/>
              </a:rPr>
              <a:t> as </a:t>
            </a:r>
            <a:r>
              <a:rPr sz="1400" b="0" err="1">
                <a:solidFill>
                  <a:srgbClr val="FFFFFF"/>
                </a:solidFill>
                <a:latin typeface="Outfit"/>
              </a:rPr>
              <a:t>mensagens</a:t>
            </a:r>
            <a:r>
              <a:rPr lang="pt-BR" sz="1400">
                <a:solidFill>
                  <a:srgbClr val="FFFFFF"/>
                </a:solidFill>
                <a:latin typeface="Outfit"/>
              </a:rPr>
              <a:t> *</a:t>
            </a:r>
            <a:r>
              <a:rPr lang="pt-BR" sz="1400" err="1">
                <a:solidFill>
                  <a:srgbClr val="FFFFFF"/>
                </a:solidFill>
                <a:latin typeface="Outfit"/>
              </a:rPr>
              <a:t>debounce</a:t>
            </a:r>
            <a:r>
              <a:rPr lang="pt-BR" sz="1400">
                <a:solidFill>
                  <a:srgbClr val="FFFFFF"/>
                </a:solidFill>
                <a:latin typeface="Outfit"/>
              </a:rPr>
              <a:t> </a:t>
            </a:r>
            <a:endParaRPr sz="1400" b="0" err="1">
              <a:solidFill>
                <a:srgbClr val="FFFFFF"/>
              </a:solidFill>
              <a:latin typeface="Outfit"/>
            </a:endParaRPr>
          </a:p>
        </p:txBody>
      </p:sp>
      <p:sp>
        <p:nvSpPr>
          <p:cNvPr id="34" name="Rounded Rectangle 2078"/>
          <p:cNvSpPr/>
          <p:nvPr/>
        </p:nvSpPr>
        <p:spPr>
          <a:xfrm>
            <a:off x="7818120" y="4572000"/>
            <a:ext cx="3611880" cy="1280160"/>
          </a:xfrm>
          <a:prstGeom prst="roundRect">
            <a:avLst>
              <a:gd name="adj" fmla="val 1500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" rIns="274320" bIns="27432" rtlCol="0" anchor="ctr"/>
          <a:lstStyle/>
          <a:p>
            <a:pPr algn="l"/>
            <a:r>
              <a:rPr sz="4000" b="1">
                <a:solidFill>
                  <a:srgbClr val="FFFFFF"/>
                </a:solidFill>
                <a:latin typeface="Outfit"/>
              </a:rPr>
              <a:t>600+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Outfit"/>
              </a:rPr>
              <a:t>testes automatizados</a:t>
            </a:r>
          </a:p>
        </p:txBody>
      </p:sp>
      <p:sp>
        <p:nvSpPr>
          <p:cNvPr id="35" name="Rodapé"/>
          <p:cNvSpPr txBox="1"/>
          <p:nvPr/>
        </p:nvSpPr>
        <p:spPr>
          <a:xfrm>
            <a:off x="777240" y="642823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000">
                <a:solidFill>
                  <a:srgbClr val="9F1727"/>
                </a:solidFill>
              </a:rPr>
              <a:t>ÍRIS </a:t>
            </a:r>
            <a:r>
              <a:rPr sz="1000" b="0">
                <a:solidFill>
                  <a:srgbClr val="9F1727"/>
                </a:solidFill>
                <a:latin typeface="Outfit"/>
              </a:rPr>
              <a:t>· </a:t>
            </a:r>
            <a:r>
              <a:rPr lang="pt-BR" sz="1000" err="1">
                <a:solidFill>
                  <a:srgbClr val="9F1727"/>
                </a:solidFill>
              </a:rPr>
              <a:t>FOODJAM</a:t>
            </a:r>
            <a:r>
              <a:rPr lang="pt-BR" sz="1000">
                <a:solidFill>
                  <a:srgbClr val="9F1727"/>
                </a:solidFill>
              </a:rPr>
              <a:t> </a:t>
            </a:r>
            <a:r>
              <a:rPr sz="1000" b="0">
                <a:solidFill>
                  <a:srgbClr val="9F1727"/>
                </a:solidFill>
                <a:latin typeface="Outfit"/>
              </a:rPr>
              <a:t>· SEMCOMP × </a:t>
            </a:r>
            <a:r>
              <a:rPr lang="pt-BR" sz="1000" err="1">
                <a:solidFill>
                  <a:srgbClr val="9F1727"/>
                </a:solidFill>
              </a:rPr>
              <a:t>IFOOD</a:t>
            </a:r>
            <a:r>
              <a:rPr sz="1000" b="0">
                <a:solidFill>
                  <a:srgbClr val="9F1727"/>
                </a:solidFill>
                <a:latin typeface="Outfit"/>
              </a:rPr>
              <a:t> 2026</a:t>
            </a:r>
          </a:p>
        </p:txBody>
      </p:sp>
      <p:sp>
        <p:nvSpPr>
          <p:cNvPr id="36" name="Número"/>
          <p:cNvSpPr txBox="1"/>
          <p:nvPr/>
        </p:nvSpPr>
        <p:spPr>
          <a:xfrm>
            <a:off x="11292840" y="64282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9F1727"/>
                </a:solidFill>
                <a:latin typeface="Outfi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80">
            <a:extLst>
              <a:ext uri="{FF2B5EF4-FFF2-40B4-BE49-F238E27FC236}">
                <a16:creationId xmlns:a16="http://schemas.microsoft.com/office/drawing/2014/main" id="{78E45F71-D26E-4451-B553-8AEE61ECD5D0}"/>
              </a:ext>
            </a:extLst>
          </p:cNvPr>
          <p:cNvGrpSpPr/>
          <p:nvPr/>
        </p:nvGrpSpPr>
        <p:grpSpPr>
          <a:xfrm rot="5400000">
            <a:off x="9513144" y="4281185"/>
            <a:ext cx="2162175" cy="4435644"/>
            <a:chOff x="10366154" y="2431098"/>
            <a:chExt cx="2162175" cy="4435644"/>
          </a:xfrm>
        </p:grpSpPr>
        <p:grpSp>
          <p:nvGrpSpPr>
            <p:cNvPr id="4" name="Agrupar 79">
              <a:extLst>
                <a:ext uri="{FF2B5EF4-FFF2-40B4-BE49-F238E27FC236}">
                  <a16:creationId xmlns:a16="http://schemas.microsoft.com/office/drawing/2014/main" id="{3AE8F97C-C65C-477C-9B4C-A2521758F603}"/>
                </a:ext>
              </a:extLst>
            </p:cNvPr>
            <p:cNvGrpSpPr/>
            <p:nvPr/>
          </p:nvGrpSpPr>
          <p:grpSpPr>
            <a:xfrm>
              <a:off x="10366154" y="2431098"/>
              <a:ext cx="2162175" cy="2163764"/>
              <a:chOff x="7578726" y="-1395413"/>
              <a:chExt cx="2162175" cy="2163764"/>
            </a:xfrm>
            <a:solidFill>
              <a:srgbClr val="E52334">
                <a:alpha val="20000"/>
              </a:srgbClr>
            </a:solidFill>
          </p:grpSpPr>
          <p:sp>
            <p:nvSpPr>
              <p:cNvPr id="5" name="Oval 6">
                <a:extLst>
                  <a:ext uri="{FF2B5EF4-FFF2-40B4-BE49-F238E27FC236}">
                    <a16:creationId xmlns:a16="http://schemas.microsoft.com/office/drawing/2014/main" id="{C90A4C56-635A-41FD-9484-C0CF8679EC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6188" y="-244475"/>
                <a:ext cx="996950" cy="9937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6" name="Freeform 7">
                <a:extLst>
                  <a:ext uri="{FF2B5EF4-FFF2-40B4-BE49-F238E27FC236}">
                    <a16:creationId xmlns:a16="http://schemas.microsoft.com/office/drawing/2014/main" id="{FB49B7CC-B632-482E-B2E6-F64D6BBEEA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8726" y="-1395413"/>
                <a:ext cx="2162175" cy="2163764"/>
              </a:xfrm>
              <a:custGeom>
                <a:avLst/>
                <a:gdLst>
                  <a:gd name="T0" fmla="*/ 1844 w 1860"/>
                  <a:gd name="T1" fmla="*/ 1447 h 1861"/>
                  <a:gd name="T2" fmla="*/ 1424 w 1860"/>
                  <a:gd name="T3" fmla="*/ 989 h 1861"/>
                  <a:gd name="T4" fmla="*/ 1416 w 1860"/>
                  <a:gd name="T5" fmla="*/ 989 h 1861"/>
                  <a:gd name="T6" fmla="*/ 1409 w 1860"/>
                  <a:gd name="T7" fmla="*/ 989 h 1861"/>
                  <a:gd name="T8" fmla="*/ 871 w 1860"/>
                  <a:gd name="T9" fmla="*/ 452 h 1861"/>
                  <a:gd name="T10" fmla="*/ 871 w 1860"/>
                  <a:gd name="T11" fmla="*/ 444 h 1861"/>
                  <a:gd name="T12" fmla="*/ 871 w 1860"/>
                  <a:gd name="T13" fmla="*/ 436 h 1861"/>
                  <a:gd name="T14" fmla="*/ 414 w 1860"/>
                  <a:gd name="T15" fmla="*/ 17 h 1861"/>
                  <a:gd name="T16" fmla="*/ 16 w 1860"/>
                  <a:gd name="T17" fmla="*/ 415 h 1861"/>
                  <a:gd name="T18" fmla="*/ 436 w 1860"/>
                  <a:gd name="T19" fmla="*/ 872 h 1861"/>
                  <a:gd name="T20" fmla="*/ 443 w 1860"/>
                  <a:gd name="T21" fmla="*/ 872 h 1861"/>
                  <a:gd name="T22" fmla="*/ 451 w 1860"/>
                  <a:gd name="T23" fmla="*/ 872 h 1861"/>
                  <a:gd name="T24" fmla="*/ 989 w 1860"/>
                  <a:gd name="T25" fmla="*/ 1410 h 1861"/>
                  <a:gd name="T26" fmla="*/ 989 w 1860"/>
                  <a:gd name="T27" fmla="*/ 1417 h 1861"/>
                  <a:gd name="T28" fmla="*/ 989 w 1860"/>
                  <a:gd name="T29" fmla="*/ 1425 h 1861"/>
                  <a:gd name="T30" fmla="*/ 1446 w 1860"/>
                  <a:gd name="T31" fmla="*/ 1844 h 1861"/>
                  <a:gd name="T32" fmla="*/ 1844 w 1860"/>
                  <a:gd name="T33" fmla="*/ 1447 h 18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60" h="1861">
                    <a:moveTo>
                      <a:pt x="1844" y="1447"/>
                    </a:moveTo>
                    <a:cubicBezTo>
                      <a:pt x="1860" y="1199"/>
                      <a:pt x="1667" y="993"/>
                      <a:pt x="1424" y="989"/>
                    </a:cubicBezTo>
                    <a:cubicBezTo>
                      <a:pt x="1422" y="989"/>
                      <a:pt x="1419" y="989"/>
                      <a:pt x="1416" y="989"/>
                    </a:cubicBezTo>
                    <a:cubicBezTo>
                      <a:pt x="1414" y="989"/>
                      <a:pt x="1411" y="989"/>
                      <a:pt x="1409" y="989"/>
                    </a:cubicBezTo>
                    <a:cubicBezTo>
                      <a:pt x="1114" y="985"/>
                      <a:pt x="875" y="746"/>
                      <a:pt x="871" y="452"/>
                    </a:cubicBezTo>
                    <a:cubicBezTo>
                      <a:pt x="871" y="449"/>
                      <a:pt x="871" y="447"/>
                      <a:pt x="871" y="444"/>
                    </a:cubicBezTo>
                    <a:cubicBezTo>
                      <a:pt x="871" y="442"/>
                      <a:pt x="871" y="439"/>
                      <a:pt x="871" y="436"/>
                    </a:cubicBezTo>
                    <a:cubicBezTo>
                      <a:pt x="867" y="194"/>
                      <a:pt x="661" y="0"/>
                      <a:pt x="414" y="17"/>
                    </a:cubicBezTo>
                    <a:cubicBezTo>
                      <a:pt x="202" y="31"/>
                      <a:pt x="30" y="203"/>
                      <a:pt x="16" y="415"/>
                    </a:cubicBezTo>
                    <a:cubicBezTo>
                      <a:pt x="0" y="662"/>
                      <a:pt x="193" y="868"/>
                      <a:pt x="436" y="872"/>
                    </a:cubicBezTo>
                    <a:cubicBezTo>
                      <a:pt x="438" y="872"/>
                      <a:pt x="441" y="872"/>
                      <a:pt x="443" y="872"/>
                    </a:cubicBezTo>
                    <a:cubicBezTo>
                      <a:pt x="446" y="872"/>
                      <a:pt x="449" y="872"/>
                      <a:pt x="451" y="872"/>
                    </a:cubicBezTo>
                    <a:cubicBezTo>
                      <a:pt x="746" y="876"/>
                      <a:pt x="984" y="1115"/>
                      <a:pt x="989" y="1410"/>
                    </a:cubicBezTo>
                    <a:cubicBezTo>
                      <a:pt x="989" y="1412"/>
                      <a:pt x="989" y="1415"/>
                      <a:pt x="989" y="1417"/>
                    </a:cubicBezTo>
                    <a:cubicBezTo>
                      <a:pt x="989" y="1420"/>
                      <a:pt x="989" y="1422"/>
                      <a:pt x="989" y="1425"/>
                    </a:cubicBezTo>
                    <a:cubicBezTo>
                      <a:pt x="993" y="1667"/>
                      <a:pt x="1199" y="1861"/>
                      <a:pt x="1446" y="1844"/>
                    </a:cubicBezTo>
                    <a:cubicBezTo>
                      <a:pt x="1657" y="1830"/>
                      <a:pt x="1829" y="1658"/>
                      <a:pt x="1844" y="14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7" name="Oval 8">
                <a:extLst>
                  <a:ext uri="{FF2B5EF4-FFF2-40B4-BE49-F238E27FC236}">
                    <a16:creationId xmlns:a16="http://schemas.microsoft.com/office/drawing/2014/main" id="{713D498D-AF2C-4B76-BDD2-F7D9AEDA1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6488" y="-1376363"/>
                <a:ext cx="996950" cy="9953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</p:grpSp>
        <p:grpSp>
          <p:nvGrpSpPr>
            <p:cNvPr id="8" name="Agrupar 81">
              <a:extLst>
                <a:ext uri="{FF2B5EF4-FFF2-40B4-BE49-F238E27FC236}">
                  <a16:creationId xmlns:a16="http://schemas.microsoft.com/office/drawing/2014/main" id="{67F7894D-C27C-46DF-AB3D-39C6DB4E23E5}"/>
                </a:ext>
              </a:extLst>
            </p:cNvPr>
            <p:cNvGrpSpPr/>
            <p:nvPr/>
          </p:nvGrpSpPr>
          <p:grpSpPr>
            <a:xfrm>
              <a:off x="10366154" y="4702978"/>
              <a:ext cx="2162175" cy="2163764"/>
              <a:chOff x="7578726" y="-1395413"/>
              <a:chExt cx="2162175" cy="2163764"/>
            </a:xfrm>
            <a:solidFill>
              <a:srgbClr val="E52334">
                <a:alpha val="20000"/>
              </a:srgbClr>
            </a:solidFill>
          </p:grpSpPr>
          <p:sp>
            <p:nvSpPr>
              <p:cNvPr id="9" name="Oval 6">
                <a:extLst>
                  <a:ext uri="{FF2B5EF4-FFF2-40B4-BE49-F238E27FC236}">
                    <a16:creationId xmlns:a16="http://schemas.microsoft.com/office/drawing/2014/main" id="{0746FCBB-4B9E-46E0-8DFA-7F976C4D66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6188" y="-244475"/>
                <a:ext cx="996950" cy="9937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703201B7-B02C-4345-8B47-D481EC0552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8726" y="-1395413"/>
                <a:ext cx="2162175" cy="2163764"/>
              </a:xfrm>
              <a:custGeom>
                <a:avLst/>
                <a:gdLst>
                  <a:gd name="T0" fmla="*/ 1844 w 1860"/>
                  <a:gd name="T1" fmla="*/ 1447 h 1861"/>
                  <a:gd name="T2" fmla="*/ 1424 w 1860"/>
                  <a:gd name="T3" fmla="*/ 989 h 1861"/>
                  <a:gd name="T4" fmla="*/ 1416 w 1860"/>
                  <a:gd name="T5" fmla="*/ 989 h 1861"/>
                  <a:gd name="T6" fmla="*/ 1409 w 1860"/>
                  <a:gd name="T7" fmla="*/ 989 h 1861"/>
                  <a:gd name="T8" fmla="*/ 871 w 1860"/>
                  <a:gd name="T9" fmla="*/ 452 h 1861"/>
                  <a:gd name="T10" fmla="*/ 871 w 1860"/>
                  <a:gd name="T11" fmla="*/ 444 h 1861"/>
                  <a:gd name="T12" fmla="*/ 871 w 1860"/>
                  <a:gd name="T13" fmla="*/ 436 h 1861"/>
                  <a:gd name="T14" fmla="*/ 414 w 1860"/>
                  <a:gd name="T15" fmla="*/ 17 h 1861"/>
                  <a:gd name="T16" fmla="*/ 16 w 1860"/>
                  <a:gd name="T17" fmla="*/ 415 h 1861"/>
                  <a:gd name="T18" fmla="*/ 436 w 1860"/>
                  <a:gd name="T19" fmla="*/ 872 h 1861"/>
                  <a:gd name="T20" fmla="*/ 443 w 1860"/>
                  <a:gd name="T21" fmla="*/ 872 h 1861"/>
                  <a:gd name="T22" fmla="*/ 451 w 1860"/>
                  <a:gd name="T23" fmla="*/ 872 h 1861"/>
                  <a:gd name="T24" fmla="*/ 989 w 1860"/>
                  <a:gd name="T25" fmla="*/ 1410 h 1861"/>
                  <a:gd name="T26" fmla="*/ 989 w 1860"/>
                  <a:gd name="T27" fmla="*/ 1417 h 1861"/>
                  <a:gd name="T28" fmla="*/ 989 w 1860"/>
                  <a:gd name="T29" fmla="*/ 1425 h 1861"/>
                  <a:gd name="T30" fmla="*/ 1446 w 1860"/>
                  <a:gd name="T31" fmla="*/ 1844 h 1861"/>
                  <a:gd name="T32" fmla="*/ 1844 w 1860"/>
                  <a:gd name="T33" fmla="*/ 1447 h 18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60" h="1861">
                    <a:moveTo>
                      <a:pt x="1844" y="1447"/>
                    </a:moveTo>
                    <a:cubicBezTo>
                      <a:pt x="1860" y="1199"/>
                      <a:pt x="1667" y="993"/>
                      <a:pt x="1424" y="989"/>
                    </a:cubicBezTo>
                    <a:cubicBezTo>
                      <a:pt x="1422" y="989"/>
                      <a:pt x="1419" y="989"/>
                      <a:pt x="1416" y="989"/>
                    </a:cubicBezTo>
                    <a:cubicBezTo>
                      <a:pt x="1414" y="989"/>
                      <a:pt x="1411" y="989"/>
                      <a:pt x="1409" y="989"/>
                    </a:cubicBezTo>
                    <a:cubicBezTo>
                      <a:pt x="1114" y="985"/>
                      <a:pt x="875" y="746"/>
                      <a:pt x="871" y="452"/>
                    </a:cubicBezTo>
                    <a:cubicBezTo>
                      <a:pt x="871" y="449"/>
                      <a:pt x="871" y="447"/>
                      <a:pt x="871" y="444"/>
                    </a:cubicBezTo>
                    <a:cubicBezTo>
                      <a:pt x="871" y="442"/>
                      <a:pt x="871" y="439"/>
                      <a:pt x="871" y="436"/>
                    </a:cubicBezTo>
                    <a:cubicBezTo>
                      <a:pt x="867" y="194"/>
                      <a:pt x="661" y="0"/>
                      <a:pt x="414" y="17"/>
                    </a:cubicBezTo>
                    <a:cubicBezTo>
                      <a:pt x="202" y="31"/>
                      <a:pt x="30" y="203"/>
                      <a:pt x="16" y="415"/>
                    </a:cubicBezTo>
                    <a:cubicBezTo>
                      <a:pt x="0" y="662"/>
                      <a:pt x="193" y="868"/>
                      <a:pt x="436" y="872"/>
                    </a:cubicBezTo>
                    <a:cubicBezTo>
                      <a:pt x="438" y="872"/>
                      <a:pt x="441" y="872"/>
                      <a:pt x="443" y="872"/>
                    </a:cubicBezTo>
                    <a:cubicBezTo>
                      <a:pt x="446" y="872"/>
                      <a:pt x="449" y="872"/>
                      <a:pt x="451" y="872"/>
                    </a:cubicBezTo>
                    <a:cubicBezTo>
                      <a:pt x="746" y="876"/>
                      <a:pt x="984" y="1115"/>
                      <a:pt x="989" y="1410"/>
                    </a:cubicBezTo>
                    <a:cubicBezTo>
                      <a:pt x="989" y="1412"/>
                      <a:pt x="989" y="1415"/>
                      <a:pt x="989" y="1417"/>
                    </a:cubicBezTo>
                    <a:cubicBezTo>
                      <a:pt x="989" y="1420"/>
                      <a:pt x="989" y="1422"/>
                      <a:pt x="989" y="1425"/>
                    </a:cubicBezTo>
                    <a:cubicBezTo>
                      <a:pt x="993" y="1667"/>
                      <a:pt x="1199" y="1861"/>
                      <a:pt x="1446" y="1844"/>
                    </a:cubicBezTo>
                    <a:cubicBezTo>
                      <a:pt x="1657" y="1830"/>
                      <a:pt x="1829" y="1658"/>
                      <a:pt x="1844" y="14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11" name="Oval 8">
                <a:extLst>
                  <a:ext uri="{FF2B5EF4-FFF2-40B4-BE49-F238E27FC236}">
                    <a16:creationId xmlns:a16="http://schemas.microsoft.com/office/drawing/2014/main" id="{DC832EDE-C7B7-4B30-B3AD-CEBEDB0957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6488" y="-1376363"/>
                <a:ext cx="996950" cy="9953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9F1727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</p:grpSp>
      </p:grpSp>
      <p:grpSp>
        <p:nvGrpSpPr>
          <p:cNvPr id="12" name="Agrupar 14">
            <a:extLst>
              <a:ext uri="{FF2B5EF4-FFF2-40B4-BE49-F238E27FC236}">
                <a16:creationId xmlns:a16="http://schemas.microsoft.com/office/drawing/2014/main" id="{191C49A3-B2DB-4FAE-B7EF-D7AB24718FA2}"/>
              </a:ext>
            </a:extLst>
          </p:cNvPr>
          <p:cNvGrpSpPr/>
          <p:nvPr/>
        </p:nvGrpSpPr>
        <p:grpSpPr>
          <a:xfrm>
            <a:off x="0" y="481866"/>
            <a:ext cx="5577840" cy="851627"/>
            <a:chOff x="783526" y="1421079"/>
            <a:chExt cx="3659573" cy="558745"/>
          </a:xfrm>
        </p:grpSpPr>
        <p:sp>
          <p:nvSpPr>
            <p:cNvPr id="13" name="Rectangle 18">
              <a:extLst>
                <a:ext uri="{FF2B5EF4-FFF2-40B4-BE49-F238E27FC236}">
                  <a16:creationId xmlns:a16="http://schemas.microsoft.com/office/drawing/2014/main" id="{C2FFFE1C-EBFC-492F-A00F-7165D0460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526" y="1421079"/>
              <a:ext cx="558025" cy="558745"/>
            </a:xfrm>
            <a:prstGeom prst="rect">
              <a:avLst/>
            </a:prstGeom>
            <a:solidFill>
              <a:srgbClr val="9F17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E52334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Rectangle 19">
              <a:extLst>
                <a:ext uri="{FF2B5EF4-FFF2-40B4-BE49-F238E27FC236}">
                  <a16:creationId xmlns:a16="http://schemas.microsoft.com/office/drawing/2014/main" id="{4E116990-9416-4A28-9CC4-2AD389867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1551" y="1421079"/>
              <a:ext cx="3101548" cy="558745"/>
            </a:xfrm>
            <a:prstGeom prst="rect">
              <a:avLst/>
            </a:prstGeom>
            <a:solidFill>
              <a:srgbClr val="FC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E52334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srgbClr val="9F1727"/>
                </a:solidFill>
              </a:endParaRPr>
            </a:p>
          </p:txBody>
        </p:sp>
        <p:sp>
          <p:nvSpPr>
            <p:cNvPr id="15" name="Freeform 20">
              <a:extLst>
                <a:ext uri="{FF2B5EF4-FFF2-40B4-BE49-F238E27FC236}">
                  <a16:creationId xmlns:a16="http://schemas.microsoft.com/office/drawing/2014/main" id="{7F37A2D2-09C6-4E7F-B4BC-46A6A8954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59849" y="1526924"/>
              <a:ext cx="403218" cy="348496"/>
            </a:xfrm>
            <a:custGeom>
              <a:avLst/>
              <a:gdLst>
                <a:gd name="T0" fmla="*/ 280 w 560"/>
                <a:gd name="T1" fmla="*/ 484 h 484"/>
                <a:gd name="T2" fmla="*/ 0 w 560"/>
                <a:gd name="T3" fmla="*/ 484 h 484"/>
                <a:gd name="T4" fmla="*/ 140 w 560"/>
                <a:gd name="T5" fmla="*/ 242 h 484"/>
                <a:gd name="T6" fmla="*/ 280 w 560"/>
                <a:gd name="T7" fmla="*/ 0 h 484"/>
                <a:gd name="T8" fmla="*/ 420 w 560"/>
                <a:gd name="T9" fmla="*/ 242 h 484"/>
                <a:gd name="T10" fmla="*/ 560 w 560"/>
                <a:gd name="T11" fmla="*/ 484 h 484"/>
                <a:gd name="T12" fmla="*/ 280 w 560"/>
                <a:gd name="T13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0" h="484">
                  <a:moveTo>
                    <a:pt x="280" y="484"/>
                  </a:moveTo>
                  <a:lnTo>
                    <a:pt x="0" y="484"/>
                  </a:lnTo>
                  <a:lnTo>
                    <a:pt x="140" y="242"/>
                  </a:lnTo>
                  <a:lnTo>
                    <a:pt x="280" y="0"/>
                  </a:lnTo>
                  <a:lnTo>
                    <a:pt x="420" y="242"/>
                  </a:lnTo>
                  <a:lnTo>
                    <a:pt x="560" y="484"/>
                  </a:lnTo>
                  <a:lnTo>
                    <a:pt x="280" y="4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9F1727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</p:grpSp>
      <p:sp>
        <p:nvSpPr>
          <p:cNvPr id="16" name="Título"/>
          <p:cNvSpPr txBox="1"/>
          <p:nvPr/>
        </p:nvSpPr>
        <p:spPr>
          <a:xfrm>
            <a:off x="1040355" y="649637"/>
            <a:ext cx="441915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3600">
                <a:solidFill>
                  <a:srgbClr val="9F1727"/>
                </a:solidFill>
                <a:latin typeface="Outfit Medium"/>
              </a:rPr>
              <a:t>Impacto</a:t>
            </a:r>
            <a:r>
              <a:rPr sz="3600" b="0">
                <a:solidFill>
                  <a:srgbClr val="9F1727"/>
                </a:solidFill>
                <a:latin typeface="Outfit Medium"/>
              </a:rPr>
              <a:t> para o </a:t>
            </a:r>
            <a:r>
              <a:rPr sz="3600" b="0" err="1">
                <a:solidFill>
                  <a:srgbClr val="9F1727"/>
                </a:solidFill>
                <a:latin typeface="Outfit Medium"/>
              </a:rPr>
              <a:t>iFood</a:t>
            </a:r>
            <a:endParaRPr lang="pt-BR" sz="3600" b="0" err="1">
              <a:solidFill>
                <a:srgbClr val="9F1727"/>
              </a:solidFill>
              <a:latin typeface="Outfit Medium"/>
            </a:endParaRPr>
          </a:p>
        </p:txBody>
      </p:sp>
      <p:sp>
        <p:nvSpPr>
          <p:cNvPr id="17" name="Google Shape;95;p1">
            <a:extLst>
              <a:ext uri="{FF2B5EF4-FFF2-40B4-BE49-F238E27FC236}">
                <a16:creationId xmlns:a16="http://schemas.microsoft.com/office/drawing/2014/main" id="{3596FD0A-B970-C337-D9D4-B24DA4356B3F}"/>
              </a:ext>
            </a:extLst>
          </p:cNvPr>
          <p:cNvSpPr/>
          <p:nvPr/>
        </p:nvSpPr>
        <p:spPr>
          <a:xfrm>
            <a:off x="11143859" y="327685"/>
            <a:ext cx="100013" cy="100013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sp>
        <p:nvSpPr>
          <p:cNvPr id="18" name="Google Shape;96;p1">
            <a:extLst>
              <a:ext uri="{FF2B5EF4-FFF2-40B4-BE49-F238E27FC236}">
                <a16:creationId xmlns:a16="http://schemas.microsoft.com/office/drawing/2014/main" id="{87B2C98F-7522-4186-BA65-035C70C09D80}"/>
              </a:ext>
            </a:extLst>
          </p:cNvPr>
          <p:cNvSpPr/>
          <p:nvPr/>
        </p:nvSpPr>
        <p:spPr>
          <a:xfrm>
            <a:off x="11398652" y="327685"/>
            <a:ext cx="100013" cy="100013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F1727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sp>
        <p:nvSpPr>
          <p:cNvPr id="19" name="Google Shape;97;p1">
            <a:extLst>
              <a:ext uri="{FF2B5EF4-FFF2-40B4-BE49-F238E27FC236}">
                <a16:creationId xmlns:a16="http://schemas.microsoft.com/office/drawing/2014/main" id="{BE9DE5CF-0804-8216-D935-48216B941DAA}"/>
              </a:ext>
            </a:extLst>
          </p:cNvPr>
          <p:cNvSpPr/>
          <p:nvPr/>
        </p:nvSpPr>
        <p:spPr>
          <a:xfrm>
            <a:off x="11654872" y="327685"/>
            <a:ext cx="100013" cy="100013"/>
          </a:xfrm>
          <a:prstGeom prst="ellipse">
            <a:avLst/>
          </a:prstGeom>
          <a:solidFill>
            <a:srgbClr val="E523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F1727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pic>
        <p:nvPicPr>
          <p:cNvPr id="20" name="FoodJam wordmark" descr="FoodJa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5480" y="270000"/>
            <a:ext cx="1250000" cy="341314"/>
          </a:xfrm>
          <a:prstGeom prst="rect">
            <a:avLst/>
          </a:prstGeom>
        </p:spPr>
      </p:pic>
      <p:sp>
        <p:nvSpPr>
          <p:cNvPr id="21" name="Dado: qualificador"/>
          <p:cNvSpPr txBox="1"/>
          <p:nvPr/>
        </p:nvSpPr>
        <p:spPr>
          <a:xfrm>
            <a:off x="777240" y="14813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9F1727"/>
                </a:solidFill>
                <a:latin typeface="Outfit Medium"/>
              </a:rPr>
              <a:t>Cerca de</a:t>
            </a:r>
          </a:p>
        </p:txBody>
      </p:sp>
      <p:sp>
        <p:nvSpPr>
          <p:cNvPr id="22" name="Dado: 25 milhões"/>
          <p:cNvSpPr txBox="1"/>
          <p:nvPr/>
        </p:nvSpPr>
        <p:spPr>
          <a:xfrm>
            <a:off x="731520" y="1755648"/>
            <a:ext cx="49377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600" b="1">
                <a:solidFill>
                  <a:srgbClr val="E52334"/>
                </a:solidFill>
                <a:latin typeface="Outfit"/>
              </a:rPr>
              <a:t>25 milhões</a:t>
            </a:r>
          </a:p>
        </p:txBody>
      </p:sp>
      <p:sp>
        <p:nvSpPr>
          <p:cNvPr id="23" name="Dado: descrição"/>
          <p:cNvSpPr txBox="1"/>
          <p:nvPr/>
        </p:nvSpPr>
        <p:spPr>
          <a:xfrm>
            <a:off x="5715000" y="1847088"/>
            <a:ext cx="57607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err="1">
                <a:solidFill>
                  <a:srgbClr val="382D30"/>
                </a:solidFill>
                <a:latin typeface="Outfit"/>
              </a:rPr>
              <a:t>Pedidos</a:t>
            </a:r>
            <a:r>
              <a:rPr sz="1800" b="0">
                <a:solidFill>
                  <a:srgbClr val="382D30"/>
                </a:solidFill>
                <a:latin typeface="Outfit"/>
              </a:rPr>
              <a:t> via </a:t>
            </a:r>
            <a:r>
              <a:rPr sz="1800" b="1" err="1">
                <a:solidFill>
                  <a:srgbClr val="382D30"/>
                </a:solidFill>
                <a:latin typeface="Outfit"/>
              </a:rPr>
              <a:t>aplicativos</a:t>
            </a:r>
            <a:r>
              <a:rPr sz="1800" b="1">
                <a:solidFill>
                  <a:srgbClr val="382D30"/>
                </a:solidFill>
                <a:latin typeface="Outfit"/>
              </a:rPr>
              <a:t> de </a:t>
            </a:r>
            <a:r>
              <a:rPr sz="1800" b="1" err="1">
                <a:solidFill>
                  <a:srgbClr val="382D30"/>
                </a:solidFill>
                <a:latin typeface="Outfit"/>
              </a:rPr>
              <a:t>mensagens</a:t>
            </a:r>
            <a:endParaRPr lang="pt-BR" sz="1800" b="1" err="1">
              <a:solidFill>
                <a:srgbClr val="382D30"/>
              </a:solidFill>
              <a:latin typeface="Outfit"/>
            </a:endParaRPr>
          </a:p>
          <a:p>
            <a:pPr algn="l"/>
            <a:r>
              <a:rPr sz="1800" b="0">
                <a:solidFill>
                  <a:srgbClr val="382D30"/>
                </a:solidFill>
                <a:latin typeface="Outfit"/>
              </a:rPr>
              <a:t>no </a:t>
            </a:r>
            <a:r>
              <a:rPr sz="1800" b="0" err="1">
                <a:solidFill>
                  <a:srgbClr val="382D30"/>
                </a:solidFill>
                <a:latin typeface="Outfit"/>
              </a:rPr>
              <a:t>ecossistema</a:t>
            </a:r>
            <a:r>
              <a:rPr sz="1800" b="0">
                <a:solidFill>
                  <a:srgbClr val="382D30"/>
                </a:solidFill>
                <a:latin typeface="Outfit"/>
              </a:rPr>
              <a:t> </a:t>
            </a:r>
            <a:r>
              <a:rPr sz="1800" b="0" err="1">
                <a:solidFill>
                  <a:srgbClr val="382D30"/>
                </a:solidFill>
                <a:latin typeface="Outfit"/>
              </a:rPr>
              <a:t>iFood</a:t>
            </a:r>
            <a:r>
              <a:rPr sz="1800" b="0">
                <a:solidFill>
                  <a:srgbClr val="382D30"/>
                </a:solidFill>
                <a:latin typeface="Outfit"/>
              </a:rPr>
              <a:t> </a:t>
            </a:r>
            <a:r>
              <a:rPr sz="1800" b="0" err="1">
                <a:solidFill>
                  <a:srgbClr val="382D30"/>
                </a:solidFill>
                <a:latin typeface="Outfit"/>
              </a:rPr>
              <a:t>em</a:t>
            </a:r>
            <a:r>
              <a:rPr sz="1800" b="0">
                <a:solidFill>
                  <a:srgbClr val="382D30"/>
                </a:solidFill>
                <a:latin typeface="Outfit"/>
              </a:rPr>
              <a:t> </a:t>
            </a:r>
            <a:r>
              <a:rPr sz="1800" b="0" err="1">
                <a:solidFill>
                  <a:srgbClr val="382D30"/>
                </a:solidFill>
                <a:latin typeface="Outfit"/>
              </a:rPr>
              <a:t>novembro</a:t>
            </a:r>
            <a:r>
              <a:rPr sz="1800" b="0">
                <a:solidFill>
                  <a:srgbClr val="382D30"/>
                </a:solidFill>
                <a:latin typeface="Outfit"/>
              </a:rPr>
              <a:t> de 2025</a:t>
            </a:r>
          </a:p>
        </p:txBody>
      </p:sp>
      <p:sp>
        <p:nvSpPr>
          <p:cNvPr id="24" name="Dado: fonte"/>
          <p:cNvSpPr txBox="1"/>
          <p:nvPr/>
        </p:nvSpPr>
        <p:spPr>
          <a:xfrm>
            <a:off x="5715000" y="25603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F1727"/>
                </a:solidFill>
                <a:latin typeface="Outfit"/>
              </a:rPr>
              <a:t>Fonte: iFood, Nov/2025</a:t>
            </a:r>
          </a:p>
        </p:txBody>
      </p:sp>
      <p:sp>
        <p:nvSpPr>
          <p:cNvPr id="25" name="Rounded Rectangle 132"/>
          <p:cNvSpPr/>
          <p:nvPr/>
        </p:nvSpPr>
        <p:spPr>
          <a:xfrm>
            <a:off x="777240" y="3063240"/>
            <a:ext cx="3474720" cy="2286000"/>
          </a:xfrm>
          <a:prstGeom prst="roundRect">
            <a:avLst>
              <a:gd name="adj" fmla="val 1000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FoodJam grou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4719" y="3264408"/>
            <a:ext cx="548640" cy="548640"/>
          </a:xfrm>
          <a:prstGeom prst="rect">
            <a:avLst/>
          </a:prstGeom>
        </p:spPr>
      </p:pic>
      <p:sp>
        <p:nvSpPr>
          <p:cNvPr id="27" name="TextBox 5002"/>
          <p:cNvSpPr txBox="1"/>
          <p:nvPr/>
        </p:nvSpPr>
        <p:spPr>
          <a:xfrm>
            <a:off x="1033271" y="3264408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Outfit"/>
              </a:rPr>
              <a:t>Pedido maior</a:t>
            </a:r>
          </a:p>
        </p:txBody>
      </p:sp>
      <p:sp>
        <p:nvSpPr>
          <p:cNvPr id="28" name="TextBox 5003"/>
          <p:cNvSpPr txBox="1"/>
          <p:nvPr/>
        </p:nvSpPr>
        <p:spPr>
          <a:xfrm>
            <a:off x="1033271" y="4087368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Outfit"/>
              </a:rPr>
              <a:t>• Várias pessoas num carrinho só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Outfit"/>
              </a:rPr>
              <a:t>• Lojas batem o pedido mínimo com folga</a:t>
            </a:r>
          </a:p>
        </p:txBody>
      </p:sp>
      <p:sp>
        <p:nvSpPr>
          <p:cNvPr id="29" name="Rounded Rectangle 5004"/>
          <p:cNvSpPr/>
          <p:nvPr/>
        </p:nvSpPr>
        <p:spPr>
          <a:xfrm>
            <a:off x="4434840" y="3063240"/>
            <a:ext cx="3474720" cy="2286000"/>
          </a:xfrm>
          <a:prstGeom prst="roundRect">
            <a:avLst>
              <a:gd name="adj" fmla="val 1000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FoodJam chat" descr="Ícone conversa">
            <a:extLst>
              <a:ext uri="{FF2B5EF4-FFF2-40B4-BE49-F238E27FC236}">
                <a16:creationId xmlns:a16="http://schemas.microsoft.com/office/drawing/2014/main" id="{CC8EFFFE-535C-E25D-04EC-544D34D79B46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auto">
          <a:xfrm>
            <a:off x="7132319" y="3264408"/>
            <a:ext cx="54864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5005"/>
          <p:cNvSpPr txBox="1"/>
          <p:nvPr/>
        </p:nvSpPr>
        <p:spPr>
          <a:xfrm>
            <a:off x="4690872" y="3264408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Outfit"/>
              </a:rPr>
              <a:t>Novos pedidos pelo chat</a:t>
            </a:r>
          </a:p>
        </p:txBody>
      </p:sp>
      <p:sp>
        <p:nvSpPr>
          <p:cNvPr id="32" name="TextBox 5006"/>
          <p:cNvSpPr txBox="1"/>
          <p:nvPr/>
        </p:nvSpPr>
        <p:spPr>
          <a:xfrm>
            <a:off x="4690872" y="4087368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Outfit"/>
              </a:rPr>
              <a:t>• Quem nem ia abrir o app pede pela conversa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Outfit"/>
              </a:rPr>
              <a:t>• Sem baixar nada: o grupo já existe</a:t>
            </a:r>
          </a:p>
        </p:txBody>
      </p:sp>
      <p:sp>
        <p:nvSpPr>
          <p:cNvPr id="33" name="Rounded Rectangle 5007"/>
          <p:cNvSpPr/>
          <p:nvPr/>
        </p:nvSpPr>
        <p:spPr>
          <a:xfrm>
            <a:off x="8092440" y="3063240"/>
            <a:ext cx="3474720" cy="2286000"/>
          </a:xfrm>
          <a:prstGeom prst="roundRect">
            <a:avLst>
              <a:gd name="adj" fmla="val 1000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FoodJam connect" descr="Ícone conexão">
            <a:extLst>
              <a:ext uri="{FF2B5EF4-FFF2-40B4-BE49-F238E27FC236}">
                <a16:creationId xmlns:a16="http://schemas.microsoft.com/office/drawing/2014/main" id="{E56476A7-4851-6EAD-6D61-E23D363E2F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89919" y="3264408"/>
            <a:ext cx="548640" cy="548640"/>
          </a:xfrm>
          <a:prstGeom prst="rect">
            <a:avLst/>
          </a:prstGeom>
        </p:spPr>
      </p:pic>
      <p:sp>
        <p:nvSpPr>
          <p:cNvPr id="35" name="TextBox 5008"/>
          <p:cNvSpPr txBox="1"/>
          <p:nvPr/>
        </p:nvSpPr>
        <p:spPr>
          <a:xfrm>
            <a:off x="8348471" y="3264408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Outfit"/>
              </a:rPr>
              <a:t>MCP usado de verdade</a:t>
            </a:r>
          </a:p>
        </p:txBody>
      </p:sp>
      <p:sp>
        <p:nvSpPr>
          <p:cNvPr id="36" name="TextBox 5009"/>
          <p:cNvSpPr txBox="1"/>
          <p:nvPr/>
        </p:nvSpPr>
        <p:spPr>
          <a:xfrm>
            <a:off x="8348471" y="4087368"/>
            <a:ext cx="3017520" cy="938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Outfit"/>
              </a:rPr>
              <a:t>• 5 feedbacks </a:t>
            </a:r>
            <a:r>
              <a:rPr sz="1400" b="0" err="1">
                <a:solidFill>
                  <a:srgbClr val="FFFFFF"/>
                </a:solidFill>
                <a:latin typeface="Outfit"/>
              </a:rPr>
              <a:t>concretos</a:t>
            </a:r>
            <a:r>
              <a:rPr sz="1400" b="0">
                <a:solidFill>
                  <a:srgbClr val="FFFFFF"/>
                </a:solidFill>
                <a:latin typeface="Outfit"/>
              </a:rPr>
              <a:t> para </a:t>
            </a:r>
            <a:r>
              <a:rPr sz="1400" b="0" err="1">
                <a:solidFill>
                  <a:srgbClr val="FFFFFF"/>
                </a:solidFill>
                <a:latin typeface="Outfit"/>
              </a:rPr>
              <a:t>a</a:t>
            </a:r>
            <a:r>
              <a:rPr sz="1400" b="0">
                <a:solidFill>
                  <a:srgbClr val="FFFFFF"/>
                </a:solidFill>
                <a:latin typeface="Outfit"/>
              </a:rPr>
              <a:t> </a:t>
            </a:r>
            <a:r>
              <a:rPr sz="1400" b="0" err="1">
                <a:solidFill>
                  <a:srgbClr val="FFFFFF"/>
                </a:solidFill>
                <a:latin typeface="Outfit"/>
              </a:rPr>
              <a:t>engenharia</a:t>
            </a:r>
            <a:endParaRPr lang="pt-BR" err="1"/>
          </a:p>
          <a:p>
            <a:pPr>
              <a:spcAft>
                <a:spcPts val="600"/>
              </a:spcAft>
            </a:pPr>
            <a:r>
              <a:rPr lang="pt-BR" sz="1400">
                <a:solidFill>
                  <a:srgbClr val="FFFFFF"/>
                </a:solidFill>
              </a:rPr>
              <a:t>• Uso correto conforme documentação</a:t>
            </a:r>
            <a:endParaRPr lang="pt-BR"/>
          </a:p>
        </p:txBody>
      </p:sp>
      <p:sp>
        <p:nvSpPr>
          <p:cNvPr id="37" name="Rounded Rectangle 5010"/>
          <p:cNvSpPr/>
          <p:nvPr/>
        </p:nvSpPr>
        <p:spPr>
          <a:xfrm>
            <a:off x="777240" y="5532120"/>
            <a:ext cx="10789920" cy="731520"/>
          </a:xfrm>
          <a:prstGeom prst="roundRect">
            <a:avLst>
              <a:gd name="adj" fmla="val 25000"/>
            </a:avLst>
          </a:prstGeom>
          <a:solidFill>
            <a:srgbClr val="FC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" rIns="228600" bIns="27432" rtlCol="0" anchor="ctr"/>
          <a:lstStyle/>
          <a:p>
            <a:pPr algn="l"/>
            <a:r>
              <a:rPr sz="1700" b="1">
                <a:solidFill>
                  <a:srgbClr val="9F1727"/>
                </a:solidFill>
                <a:latin typeface="Outfit"/>
              </a:rPr>
              <a:t>O MCP do iFood já permite que um agente venda. A Íris mostra como vender para um grupo.</a:t>
            </a:r>
          </a:p>
        </p:txBody>
      </p:sp>
      <p:sp>
        <p:nvSpPr>
          <p:cNvPr id="38" name="Rodapé"/>
          <p:cNvSpPr txBox="1"/>
          <p:nvPr/>
        </p:nvSpPr>
        <p:spPr>
          <a:xfrm>
            <a:off x="777240" y="642823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000">
                <a:solidFill>
                  <a:srgbClr val="9F1727"/>
                </a:solidFill>
              </a:rPr>
              <a:t>ÍRIS </a:t>
            </a:r>
            <a:r>
              <a:rPr sz="1000" b="0">
                <a:solidFill>
                  <a:srgbClr val="9F1727"/>
                </a:solidFill>
                <a:latin typeface="Outfit"/>
              </a:rPr>
              <a:t>· </a:t>
            </a:r>
            <a:r>
              <a:rPr lang="pt-BR" sz="1000" err="1">
                <a:solidFill>
                  <a:srgbClr val="9F1727"/>
                </a:solidFill>
              </a:rPr>
              <a:t>FOODJAM</a:t>
            </a:r>
            <a:r>
              <a:rPr sz="1000" b="0">
                <a:solidFill>
                  <a:srgbClr val="9F1727"/>
                </a:solidFill>
                <a:latin typeface="Outfit"/>
              </a:rPr>
              <a:t> · SEMCOMP × </a:t>
            </a:r>
            <a:r>
              <a:rPr lang="pt-BR" sz="1000" err="1">
                <a:solidFill>
                  <a:srgbClr val="9F1727"/>
                </a:solidFill>
              </a:rPr>
              <a:t>IFOOD</a:t>
            </a:r>
            <a:r>
              <a:rPr sz="1000" b="0">
                <a:solidFill>
                  <a:srgbClr val="9F1727"/>
                </a:solidFill>
                <a:latin typeface="Outfit"/>
              </a:rPr>
              <a:t> 2026</a:t>
            </a:r>
          </a:p>
        </p:txBody>
      </p:sp>
      <p:sp>
        <p:nvSpPr>
          <p:cNvPr id="39" name="Número"/>
          <p:cNvSpPr txBox="1"/>
          <p:nvPr/>
        </p:nvSpPr>
        <p:spPr>
          <a:xfrm>
            <a:off x="11292840" y="64282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9F1727"/>
                </a:solidFill>
                <a:latin typeface="Outfi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1">
            <a:extLst>
              <a:ext uri="{FF2B5EF4-FFF2-40B4-BE49-F238E27FC236}">
                <a16:creationId xmlns:a16="http://schemas.microsoft.com/office/drawing/2014/main" id="{2BA16517-0CBC-44C1-A4D7-9A1F8C284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2525" y="5927400"/>
            <a:ext cx="942975" cy="947737"/>
          </a:xfrm>
          <a:prstGeom prst="rect">
            <a:avLst/>
          </a:prstGeom>
          <a:solidFill>
            <a:srgbClr val="E5233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Oval 56">
            <a:extLst>
              <a:ext uri="{FF2B5EF4-FFF2-40B4-BE49-F238E27FC236}">
                <a16:creationId xmlns:a16="http://schemas.microsoft.com/office/drawing/2014/main" id="{BF1DE856-3A07-414B-9D90-94AFF16B0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2860" y="5897237"/>
            <a:ext cx="942975" cy="947737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Oval 57">
            <a:extLst>
              <a:ext uri="{FF2B5EF4-FFF2-40B4-BE49-F238E27FC236}">
                <a16:creationId xmlns:a16="http://schemas.microsoft.com/office/drawing/2014/main" id="{58F9A82F-9073-44AB-863F-B5120CF29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985" y="6132187"/>
            <a:ext cx="471488" cy="4730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6" name="Agrupar 1053">
            <a:extLst>
              <a:ext uri="{FF2B5EF4-FFF2-40B4-BE49-F238E27FC236}">
                <a16:creationId xmlns:a16="http://schemas.microsoft.com/office/drawing/2014/main" id="{CD351A17-6238-4413-8DE4-1AF4476FF473}"/>
              </a:ext>
            </a:extLst>
          </p:cNvPr>
          <p:cNvGrpSpPr/>
          <p:nvPr/>
        </p:nvGrpSpPr>
        <p:grpSpPr>
          <a:xfrm>
            <a:off x="11254036" y="5919625"/>
            <a:ext cx="942976" cy="946150"/>
            <a:chOff x="12497830" y="3985527"/>
            <a:chExt cx="942976" cy="946150"/>
          </a:xfrm>
        </p:grpSpPr>
        <p:sp>
          <p:nvSpPr>
            <p:cNvPr id="7" name="Freeform 55">
              <a:extLst>
                <a:ext uri="{FF2B5EF4-FFF2-40B4-BE49-F238E27FC236}">
                  <a16:creationId xmlns:a16="http://schemas.microsoft.com/office/drawing/2014/main" id="{9F292A26-F145-44A3-A20A-8D53CBF93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97830" y="3985527"/>
              <a:ext cx="942975" cy="946150"/>
            </a:xfrm>
            <a:custGeom>
              <a:avLst/>
              <a:gdLst>
                <a:gd name="T0" fmla="*/ 594 w 594"/>
                <a:gd name="T1" fmla="*/ 0 h 596"/>
                <a:gd name="T2" fmla="*/ 594 w 594"/>
                <a:gd name="T3" fmla="*/ 596 h 596"/>
                <a:gd name="T4" fmla="*/ 0 w 594"/>
                <a:gd name="T5" fmla="*/ 596 h 596"/>
                <a:gd name="T6" fmla="*/ 594 w 594"/>
                <a:gd name="T7" fmla="*/ 0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4" h="596">
                  <a:moveTo>
                    <a:pt x="594" y="0"/>
                  </a:moveTo>
                  <a:lnTo>
                    <a:pt x="594" y="596"/>
                  </a:lnTo>
                  <a:lnTo>
                    <a:pt x="0" y="596"/>
                  </a:lnTo>
                  <a:lnTo>
                    <a:pt x="594" y="0"/>
                  </a:lnTo>
                  <a:close/>
                </a:path>
              </a:pathLst>
            </a:custGeom>
            <a:solidFill>
              <a:srgbClr val="9F172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8" name="Freeform 59">
              <a:extLst>
                <a:ext uri="{FF2B5EF4-FFF2-40B4-BE49-F238E27FC236}">
                  <a16:creationId xmlns:a16="http://schemas.microsoft.com/office/drawing/2014/main" id="{6D6165F1-2516-4B93-AE0B-DB6D83435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9318" y="4458602"/>
              <a:ext cx="471488" cy="473075"/>
            </a:xfrm>
            <a:custGeom>
              <a:avLst/>
              <a:gdLst>
                <a:gd name="T0" fmla="*/ 297 w 297"/>
                <a:gd name="T1" fmla="*/ 0 h 298"/>
                <a:gd name="T2" fmla="*/ 0 w 297"/>
                <a:gd name="T3" fmla="*/ 298 h 298"/>
                <a:gd name="T4" fmla="*/ 0 w 297"/>
                <a:gd name="T5" fmla="*/ 0 h 298"/>
                <a:gd name="T6" fmla="*/ 297 w 297"/>
                <a:gd name="T7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7" h="298">
                  <a:moveTo>
                    <a:pt x="297" y="0"/>
                  </a:moveTo>
                  <a:lnTo>
                    <a:pt x="0" y="298"/>
                  </a:lnTo>
                  <a:lnTo>
                    <a:pt x="0" y="0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</p:grpSp>
      <p:sp>
        <p:nvSpPr>
          <p:cNvPr id="9" name="Rectangle 60">
            <a:extLst>
              <a:ext uri="{FF2B5EF4-FFF2-40B4-BE49-F238E27FC236}">
                <a16:creationId xmlns:a16="http://schemas.microsoft.com/office/drawing/2014/main" id="{6109EC12-DFE4-40FD-A04D-0DA3C1CF3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8475" y="5927400"/>
            <a:ext cx="942975" cy="947737"/>
          </a:xfrm>
          <a:prstGeom prst="rect">
            <a:avLst/>
          </a:prstGeom>
          <a:solidFill>
            <a:srgbClr val="E5233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Rectangle 61">
            <a:extLst>
              <a:ext uri="{FF2B5EF4-FFF2-40B4-BE49-F238E27FC236}">
                <a16:creationId xmlns:a16="http://schemas.microsoft.com/office/drawing/2014/main" id="{606757A4-CB87-4BDA-951F-C48B1CC45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5500" y="5927400"/>
            <a:ext cx="942975" cy="947737"/>
          </a:xfrm>
          <a:prstGeom prst="rect">
            <a:avLst/>
          </a:prstGeom>
          <a:solidFill>
            <a:srgbClr val="E5233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Freeform 62">
            <a:extLst>
              <a:ext uri="{FF2B5EF4-FFF2-40B4-BE49-F238E27FC236}">
                <a16:creationId xmlns:a16="http://schemas.microsoft.com/office/drawing/2014/main" id="{E85A6CDA-DC64-4DDD-A8CA-E456FA9A8E2C}"/>
              </a:ext>
            </a:extLst>
          </p:cNvPr>
          <p:cNvSpPr>
            <a:spLocks/>
          </p:cNvSpPr>
          <p:nvPr/>
        </p:nvSpPr>
        <p:spPr bwMode="auto">
          <a:xfrm>
            <a:off x="6428475" y="5927400"/>
            <a:ext cx="942975" cy="947737"/>
          </a:xfrm>
          <a:custGeom>
            <a:avLst/>
            <a:gdLst>
              <a:gd name="T0" fmla="*/ 125 w 250"/>
              <a:gd name="T1" fmla="*/ 0 h 250"/>
              <a:gd name="T2" fmla="*/ 125 w 250"/>
              <a:gd name="T3" fmla="*/ 0 h 250"/>
              <a:gd name="T4" fmla="*/ 250 w 250"/>
              <a:gd name="T5" fmla="*/ 125 h 250"/>
              <a:gd name="T6" fmla="*/ 250 w 250"/>
              <a:gd name="T7" fmla="*/ 250 h 250"/>
              <a:gd name="T8" fmla="*/ 125 w 250"/>
              <a:gd name="T9" fmla="*/ 250 h 250"/>
              <a:gd name="T10" fmla="*/ 0 w 250"/>
              <a:gd name="T11" fmla="*/ 125 h 250"/>
              <a:gd name="T12" fmla="*/ 0 w 250"/>
              <a:gd name="T13" fmla="*/ 125 h 250"/>
              <a:gd name="T14" fmla="*/ 125 w 250"/>
              <a:gd name="T15" fmla="*/ 0 h 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0" h="250">
                <a:moveTo>
                  <a:pt x="125" y="0"/>
                </a:moveTo>
                <a:cubicBezTo>
                  <a:pt x="125" y="0"/>
                  <a:pt x="125" y="0"/>
                  <a:pt x="125" y="0"/>
                </a:cubicBezTo>
                <a:cubicBezTo>
                  <a:pt x="194" y="0"/>
                  <a:pt x="250" y="56"/>
                  <a:pt x="250" y="125"/>
                </a:cubicBezTo>
                <a:cubicBezTo>
                  <a:pt x="250" y="250"/>
                  <a:pt x="250" y="250"/>
                  <a:pt x="250" y="250"/>
                </a:cubicBezTo>
                <a:cubicBezTo>
                  <a:pt x="125" y="250"/>
                  <a:pt x="125" y="250"/>
                  <a:pt x="125" y="250"/>
                </a:cubicBezTo>
                <a:cubicBezTo>
                  <a:pt x="56" y="250"/>
                  <a:pt x="0" y="194"/>
                  <a:pt x="0" y="125"/>
                </a:cubicBezTo>
                <a:cubicBezTo>
                  <a:pt x="0" y="125"/>
                  <a:pt x="0" y="125"/>
                  <a:pt x="0" y="125"/>
                </a:cubicBezTo>
                <a:cubicBezTo>
                  <a:pt x="0" y="56"/>
                  <a:pt x="56" y="0"/>
                  <a:pt x="125" y="0"/>
                </a:cubicBezTo>
                <a:close/>
              </a:path>
            </a:pathLst>
          </a:custGeom>
          <a:solidFill>
            <a:srgbClr val="9F172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2" name="Oval 63">
            <a:extLst>
              <a:ext uri="{FF2B5EF4-FFF2-40B4-BE49-F238E27FC236}">
                <a16:creationId xmlns:a16="http://schemas.microsoft.com/office/drawing/2014/main" id="{2C14CADF-3BEE-41BF-A9BD-27B06D5DC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6600" y="6162350"/>
            <a:ext cx="471488" cy="4730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3" name="Oval 64">
            <a:extLst>
              <a:ext uri="{FF2B5EF4-FFF2-40B4-BE49-F238E27FC236}">
                <a16:creationId xmlns:a16="http://schemas.microsoft.com/office/drawing/2014/main" id="{70FF547E-8FC8-4CFD-B852-AD8C1FD94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6138" y="6276650"/>
            <a:ext cx="252413" cy="249237"/>
          </a:xfrm>
          <a:prstGeom prst="ellipse">
            <a:avLst/>
          </a:prstGeom>
          <a:solidFill>
            <a:srgbClr val="E5233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4" name="Oval 65">
            <a:extLst>
              <a:ext uri="{FF2B5EF4-FFF2-40B4-BE49-F238E27FC236}">
                <a16:creationId xmlns:a16="http://schemas.microsoft.com/office/drawing/2014/main" id="{E7D639AF-63CD-48B7-BA35-CA301B4BA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813" y="6560812"/>
            <a:ext cx="153988" cy="153987"/>
          </a:xfrm>
          <a:prstGeom prst="ellipse">
            <a:avLst/>
          </a:prstGeom>
          <a:solidFill>
            <a:srgbClr val="E5233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" name="Freeform 66">
            <a:extLst>
              <a:ext uri="{FF2B5EF4-FFF2-40B4-BE49-F238E27FC236}">
                <a16:creationId xmlns:a16="http://schemas.microsoft.com/office/drawing/2014/main" id="{2055C08B-6F14-4E92-A489-22B4810CD5B0}"/>
              </a:ext>
            </a:extLst>
          </p:cNvPr>
          <p:cNvSpPr>
            <a:spLocks/>
          </p:cNvSpPr>
          <p:nvPr/>
        </p:nvSpPr>
        <p:spPr bwMode="auto">
          <a:xfrm>
            <a:off x="5485500" y="5927400"/>
            <a:ext cx="942975" cy="947737"/>
          </a:xfrm>
          <a:custGeom>
            <a:avLst/>
            <a:gdLst>
              <a:gd name="T0" fmla="*/ 297 w 594"/>
              <a:gd name="T1" fmla="*/ 597 h 597"/>
              <a:gd name="T2" fmla="*/ 0 w 594"/>
              <a:gd name="T3" fmla="*/ 298 h 597"/>
              <a:gd name="T4" fmla="*/ 297 w 594"/>
              <a:gd name="T5" fmla="*/ 0 h 597"/>
              <a:gd name="T6" fmla="*/ 594 w 594"/>
              <a:gd name="T7" fmla="*/ 298 h 597"/>
              <a:gd name="T8" fmla="*/ 297 w 594"/>
              <a:gd name="T9" fmla="*/ 597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4" h="597">
                <a:moveTo>
                  <a:pt x="297" y="597"/>
                </a:moveTo>
                <a:lnTo>
                  <a:pt x="0" y="298"/>
                </a:lnTo>
                <a:lnTo>
                  <a:pt x="297" y="0"/>
                </a:lnTo>
                <a:lnTo>
                  <a:pt x="594" y="298"/>
                </a:lnTo>
                <a:lnTo>
                  <a:pt x="297" y="597"/>
                </a:lnTo>
                <a:close/>
              </a:path>
            </a:pathLst>
          </a:custGeom>
          <a:solidFill>
            <a:srgbClr val="9F172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Freeform 67">
            <a:extLst>
              <a:ext uri="{FF2B5EF4-FFF2-40B4-BE49-F238E27FC236}">
                <a16:creationId xmlns:a16="http://schemas.microsoft.com/office/drawing/2014/main" id="{746D787C-DAF3-40B4-BAC3-665C7D28EB62}"/>
              </a:ext>
            </a:extLst>
          </p:cNvPr>
          <p:cNvSpPr>
            <a:spLocks/>
          </p:cNvSpPr>
          <p:nvPr/>
        </p:nvSpPr>
        <p:spPr bwMode="auto">
          <a:xfrm>
            <a:off x="5693463" y="6132187"/>
            <a:ext cx="531813" cy="533400"/>
          </a:xfrm>
          <a:custGeom>
            <a:avLst/>
            <a:gdLst>
              <a:gd name="T0" fmla="*/ 166 w 335"/>
              <a:gd name="T1" fmla="*/ 336 h 336"/>
              <a:gd name="T2" fmla="*/ 0 w 335"/>
              <a:gd name="T3" fmla="*/ 169 h 336"/>
              <a:gd name="T4" fmla="*/ 166 w 335"/>
              <a:gd name="T5" fmla="*/ 0 h 336"/>
              <a:gd name="T6" fmla="*/ 335 w 335"/>
              <a:gd name="T7" fmla="*/ 169 h 336"/>
              <a:gd name="T8" fmla="*/ 166 w 335"/>
              <a:gd name="T9" fmla="*/ 336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5" h="336">
                <a:moveTo>
                  <a:pt x="166" y="336"/>
                </a:moveTo>
                <a:lnTo>
                  <a:pt x="0" y="169"/>
                </a:lnTo>
                <a:lnTo>
                  <a:pt x="166" y="0"/>
                </a:lnTo>
                <a:lnTo>
                  <a:pt x="335" y="169"/>
                </a:lnTo>
                <a:lnTo>
                  <a:pt x="166" y="3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7" name="Rectangle 69">
            <a:extLst>
              <a:ext uri="{FF2B5EF4-FFF2-40B4-BE49-F238E27FC236}">
                <a16:creationId xmlns:a16="http://schemas.microsoft.com/office/drawing/2014/main" id="{686A2FC3-923B-47A0-838A-A4BE58209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9690" y="5927400"/>
            <a:ext cx="942975" cy="946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8" name="Freeform 70">
            <a:extLst>
              <a:ext uri="{FF2B5EF4-FFF2-40B4-BE49-F238E27FC236}">
                <a16:creationId xmlns:a16="http://schemas.microsoft.com/office/drawing/2014/main" id="{293B1437-67C5-4EAA-9AAA-667F9586332A}"/>
              </a:ext>
            </a:extLst>
          </p:cNvPr>
          <p:cNvSpPr>
            <a:spLocks/>
          </p:cNvSpPr>
          <p:nvPr/>
        </p:nvSpPr>
        <p:spPr bwMode="auto">
          <a:xfrm>
            <a:off x="7349690" y="6400475"/>
            <a:ext cx="942975" cy="473075"/>
          </a:xfrm>
          <a:custGeom>
            <a:avLst/>
            <a:gdLst>
              <a:gd name="T0" fmla="*/ 0 w 250"/>
              <a:gd name="T1" fmla="*/ 125 h 125"/>
              <a:gd name="T2" fmla="*/ 125 w 250"/>
              <a:gd name="T3" fmla="*/ 0 h 125"/>
              <a:gd name="T4" fmla="*/ 250 w 250"/>
              <a:gd name="T5" fmla="*/ 125 h 125"/>
              <a:gd name="T6" fmla="*/ 0 w 250"/>
              <a:gd name="T7" fmla="*/ 125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0" h="125">
                <a:moveTo>
                  <a:pt x="0" y="125"/>
                </a:moveTo>
                <a:cubicBezTo>
                  <a:pt x="0" y="56"/>
                  <a:pt x="56" y="0"/>
                  <a:pt x="125" y="0"/>
                </a:cubicBezTo>
                <a:cubicBezTo>
                  <a:pt x="194" y="0"/>
                  <a:pt x="250" y="56"/>
                  <a:pt x="250" y="125"/>
                </a:cubicBezTo>
                <a:lnTo>
                  <a:pt x="0" y="125"/>
                </a:lnTo>
                <a:close/>
              </a:path>
            </a:pathLst>
          </a:custGeom>
          <a:solidFill>
            <a:srgbClr val="9F172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9" name="Oval 71">
            <a:extLst>
              <a:ext uri="{FF2B5EF4-FFF2-40B4-BE49-F238E27FC236}">
                <a16:creationId xmlns:a16="http://schemas.microsoft.com/office/drawing/2014/main" id="{B55EDA0C-B528-4FE3-ADA7-29C82DC98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1478" y="6022650"/>
            <a:ext cx="282575" cy="284162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0" name="Freeform 75">
            <a:extLst>
              <a:ext uri="{FF2B5EF4-FFF2-40B4-BE49-F238E27FC236}">
                <a16:creationId xmlns:a16="http://schemas.microsoft.com/office/drawing/2014/main" id="{DD0CFF99-D609-4BE0-8809-8CB515DE3A40}"/>
              </a:ext>
            </a:extLst>
          </p:cNvPr>
          <p:cNvSpPr>
            <a:spLocks/>
          </p:cNvSpPr>
          <p:nvPr/>
        </p:nvSpPr>
        <p:spPr bwMode="auto">
          <a:xfrm>
            <a:off x="5014013" y="6397300"/>
            <a:ext cx="471488" cy="473075"/>
          </a:xfrm>
          <a:custGeom>
            <a:avLst/>
            <a:gdLst>
              <a:gd name="T0" fmla="*/ 297 w 297"/>
              <a:gd name="T1" fmla="*/ 298 h 298"/>
              <a:gd name="T2" fmla="*/ 0 w 297"/>
              <a:gd name="T3" fmla="*/ 298 h 298"/>
              <a:gd name="T4" fmla="*/ 297 w 297"/>
              <a:gd name="T5" fmla="*/ 0 h 298"/>
              <a:gd name="T6" fmla="*/ 297 w 297"/>
              <a:gd name="T7" fmla="*/ 298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97" h="298">
                <a:moveTo>
                  <a:pt x="297" y="298"/>
                </a:moveTo>
                <a:lnTo>
                  <a:pt x="0" y="298"/>
                </a:lnTo>
                <a:lnTo>
                  <a:pt x="297" y="0"/>
                </a:lnTo>
                <a:lnTo>
                  <a:pt x="297" y="2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1" name="Freeform 76">
            <a:extLst>
              <a:ext uri="{FF2B5EF4-FFF2-40B4-BE49-F238E27FC236}">
                <a16:creationId xmlns:a16="http://schemas.microsoft.com/office/drawing/2014/main" id="{E3FC85A7-9251-4AE3-A8D0-41536BE328B8}"/>
              </a:ext>
            </a:extLst>
          </p:cNvPr>
          <p:cNvSpPr>
            <a:spLocks/>
          </p:cNvSpPr>
          <p:nvPr/>
        </p:nvSpPr>
        <p:spPr bwMode="auto">
          <a:xfrm>
            <a:off x="4542525" y="6400475"/>
            <a:ext cx="471488" cy="474662"/>
          </a:xfrm>
          <a:custGeom>
            <a:avLst/>
            <a:gdLst>
              <a:gd name="T0" fmla="*/ 297 w 297"/>
              <a:gd name="T1" fmla="*/ 299 h 299"/>
              <a:gd name="T2" fmla="*/ 0 w 297"/>
              <a:gd name="T3" fmla="*/ 299 h 299"/>
              <a:gd name="T4" fmla="*/ 297 w 297"/>
              <a:gd name="T5" fmla="*/ 0 h 299"/>
              <a:gd name="T6" fmla="*/ 297 w 297"/>
              <a:gd name="T7" fmla="*/ 299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97" h="299">
                <a:moveTo>
                  <a:pt x="297" y="299"/>
                </a:moveTo>
                <a:lnTo>
                  <a:pt x="0" y="299"/>
                </a:lnTo>
                <a:lnTo>
                  <a:pt x="297" y="0"/>
                </a:lnTo>
                <a:lnTo>
                  <a:pt x="297" y="2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2" name="Retângulo 2">
            <a:extLst>
              <a:ext uri="{FF2B5EF4-FFF2-40B4-BE49-F238E27FC236}">
                <a16:creationId xmlns:a16="http://schemas.microsoft.com/office/drawing/2014/main" id="{A6BD1201-4B3F-E2E0-E757-4FFF85F0F0BF}"/>
              </a:ext>
            </a:extLst>
          </p:cNvPr>
          <p:cNvSpPr/>
          <p:nvPr/>
        </p:nvSpPr>
        <p:spPr>
          <a:xfrm>
            <a:off x="0" y="0"/>
            <a:ext cx="4539944" cy="6858000"/>
          </a:xfrm>
          <a:prstGeom prst="rect">
            <a:avLst/>
          </a:prstGeom>
          <a:solidFill>
            <a:srgbClr val="E52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Google Shape;95;p1">
            <a:extLst>
              <a:ext uri="{FF2B5EF4-FFF2-40B4-BE49-F238E27FC236}">
                <a16:creationId xmlns:a16="http://schemas.microsoft.com/office/drawing/2014/main" id="{3596FD0A-B970-C337-D9D4-B24DA4356B3F}"/>
              </a:ext>
            </a:extLst>
          </p:cNvPr>
          <p:cNvSpPr/>
          <p:nvPr/>
        </p:nvSpPr>
        <p:spPr>
          <a:xfrm>
            <a:off x="11143859" y="327685"/>
            <a:ext cx="100013" cy="100013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sp>
        <p:nvSpPr>
          <p:cNvPr id="24" name="Google Shape;96;p1">
            <a:extLst>
              <a:ext uri="{FF2B5EF4-FFF2-40B4-BE49-F238E27FC236}">
                <a16:creationId xmlns:a16="http://schemas.microsoft.com/office/drawing/2014/main" id="{87B2C98F-7522-4186-BA65-035C70C09D80}"/>
              </a:ext>
            </a:extLst>
          </p:cNvPr>
          <p:cNvSpPr/>
          <p:nvPr/>
        </p:nvSpPr>
        <p:spPr>
          <a:xfrm>
            <a:off x="11398652" y="327685"/>
            <a:ext cx="100013" cy="100013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F1727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sp>
        <p:nvSpPr>
          <p:cNvPr id="25" name="Google Shape;97;p1">
            <a:extLst>
              <a:ext uri="{FF2B5EF4-FFF2-40B4-BE49-F238E27FC236}">
                <a16:creationId xmlns:a16="http://schemas.microsoft.com/office/drawing/2014/main" id="{BE9DE5CF-0804-8216-D935-48216B941DAA}"/>
              </a:ext>
            </a:extLst>
          </p:cNvPr>
          <p:cNvSpPr/>
          <p:nvPr/>
        </p:nvSpPr>
        <p:spPr>
          <a:xfrm>
            <a:off x="11654872" y="327685"/>
            <a:ext cx="100013" cy="100013"/>
          </a:xfrm>
          <a:prstGeom prst="ellipse">
            <a:avLst/>
          </a:prstGeom>
          <a:solidFill>
            <a:srgbClr val="E523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F1727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pic>
        <p:nvPicPr>
          <p:cNvPr id="26" name="foodjam com chamada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68880"/>
            <a:ext cx="3520440" cy="948869"/>
          </a:xfrm>
          <a:prstGeom prst="rect">
            <a:avLst/>
          </a:prstGeom>
        </p:spPr>
      </p:pic>
      <p:sp>
        <p:nvSpPr>
          <p:cNvPr id="27" name="TextBox 1055"/>
          <p:cNvSpPr txBox="1"/>
          <p:nvPr/>
        </p:nvSpPr>
        <p:spPr>
          <a:xfrm>
            <a:off x="5266944" y="1163171"/>
            <a:ext cx="6309360" cy="2222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pt-BR" sz="3800" b="1">
                <a:solidFill>
                  <a:srgbClr val="9F1727"/>
                </a:solidFill>
              </a:rPr>
              <a:t>O iFood é um app individual, mas comer é social. Com o </a:t>
            </a:r>
            <a:r>
              <a:rPr lang="pt-BR" sz="3800" b="1" err="1">
                <a:solidFill>
                  <a:srgbClr val="9F1727"/>
                </a:solidFill>
              </a:rPr>
              <a:t>foodjam</a:t>
            </a:r>
            <a:r>
              <a:rPr lang="pt-BR" sz="3800" b="1">
                <a:solidFill>
                  <a:srgbClr val="9F1727"/>
                </a:solidFill>
              </a:rPr>
              <a:t>, a conversa já é o pedido.</a:t>
            </a:r>
            <a:endParaRPr lang="pt-BR"/>
          </a:p>
        </p:txBody>
      </p:sp>
      <p:sp>
        <p:nvSpPr>
          <p:cNvPr id="28" name="TextBox 1056"/>
          <p:cNvSpPr txBox="1"/>
          <p:nvPr/>
        </p:nvSpPr>
        <p:spPr>
          <a:xfrm>
            <a:off x="5266944" y="3931920"/>
            <a:ext cx="6757593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0" err="1">
                <a:solidFill>
                  <a:srgbClr val="E52334"/>
                </a:solidFill>
                <a:latin typeface="Outfit Medium"/>
              </a:rPr>
              <a:t>A</a:t>
            </a:r>
            <a:r>
              <a:rPr sz="2200" b="0">
                <a:solidFill>
                  <a:srgbClr val="E52334"/>
                </a:solidFill>
                <a:latin typeface="Outfit Medium"/>
              </a:rPr>
              <a:t> IA </a:t>
            </a:r>
            <a:r>
              <a:rPr sz="2200" b="0" err="1">
                <a:solidFill>
                  <a:srgbClr val="E52334"/>
                </a:solidFill>
                <a:latin typeface="Outfit Medium"/>
              </a:rPr>
              <a:t>entende</a:t>
            </a:r>
            <a:r>
              <a:rPr sz="2200" b="0">
                <a:solidFill>
                  <a:srgbClr val="E52334"/>
                </a:solidFill>
                <a:latin typeface="Outfit Medium"/>
              </a:rPr>
              <a:t>. O </a:t>
            </a:r>
            <a:r>
              <a:rPr sz="2200" b="0" err="1">
                <a:solidFill>
                  <a:srgbClr val="E52334"/>
                </a:solidFill>
                <a:latin typeface="Outfit Medium"/>
              </a:rPr>
              <a:t>código</a:t>
            </a:r>
            <a:r>
              <a:rPr sz="2200" b="0">
                <a:solidFill>
                  <a:srgbClr val="E52334"/>
                </a:solidFill>
                <a:latin typeface="Outfit Medium"/>
              </a:rPr>
              <a:t> </a:t>
            </a:r>
            <a:r>
              <a:rPr sz="2200" b="0" err="1">
                <a:solidFill>
                  <a:srgbClr val="E52334"/>
                </a:solidFill>
                <a:latin typeface="Outfit Medium"/>
              </a:rPr>
              <a:t>garante</a:t>
            </a:r>
            <a:r>
              <a:rPr sz="2200" b="0">
                <a:solidFill>
                  <a:srgbClr val="E52334"/>
                </a:solidFill>
                <a:latin typeface="Outfit Medium"/>
              </a:rPr>
              <a:t>. </a:t>
            </a:r>
            <a:endParaRPr lang="pt-BR"/>
          </a:p>
          <a:p>
            <a:r>
              <a:rPr lang="pt-BR" sz="2200">
                <a:solidFill>
                  <a:srgbClr val="E52334"/>
                </a:solidFill>
                <a:latin typeface="Outfit Medium"/>
              </a:rPr>
              <a:t>Os usuários decidem</a:t>
            </a:r>
            <a:r>
              <a:rPr sz="2200" b="0">
                <a:solidFill>
                  <a:srgbClr val="E52334"/>
                </a:solidFill>
                <a:latin typeface="Outfit Medium"/>
              </a:rPr>
              <a:t>.</a:t>
            </a:r>
            <a:endParaRPr/>
          </a:p>
        </p:txBody>
      </p:sp>
      <p:sp>
        <p:nvSpPr>
          <p:cNvPr id="29" name="Rodapé"/>
          <p:cNvSpPr txBox="1"/>
          <p:nvPr/>
        </p:nvSpPr>
        <p:spPr>
          <a:xfrm>
            <a:off x="502920" y="642823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000">
                <a:solidFill>
                  <a:srgbClr val="FFFFFF"/>
                </a:solidFill>
              </a:rPr>
              <a:t>ÍRIS </a:t>
            </a:r>
            <a:r>
              <a:rPr sz="1000" b="0">
                <a:solidFill>
                  <a:srgbClr val="FFFFFF"/>
                </a:solidFill>
                <a:latin typeface="Outfit"/>
              </a:rPr>
              <a:t>· </a:t>
            </a:r>
            <a:r>
              <a:rPr lang="pt-BR" sz="1000" err="1">
                <a:solidFill>
                  <a:srgbClr val="FFFFFF"/>
                </a:solidFill>
              </a:rPr>
              <a:t>FOODJAM</a:t>
            </a:r>
            <a:r>
              <a:rPr lang="pt-BR" sz="1000">
                <a:solidFill>
                  <a:srgbClr val="FFFFFF"/>
                </a:solidFill>
              </a:rPr>
              <a:t> </a:t>
            </a:r>
            <a:r>
              <a:rPr sz="1000" b="0">
                <a:solidFill>
                  <a:srgbClr val="FFFFFF"/>
                </a:solidFill>
                <a:latin typeface="Outfit"/>
              </a:rPr>
              <a:t>· SEMCOMP × </a:t>
            </a:r>
            <a:r>
              <a:rPr lang="pt-BR" sz="1000" err="1">
                <a:solidFill>
                  <a:srgbClr val="FFFFFF"/>
                </a:solidFill>
              </a:rPr>
              <a:t>IFOOD</a:t>
            </a:r>
            <a:r>
              <a:rPr sz="1000" b="0">
                <a:solidFill>
                  <a:srgbClr val="FFFFFF"/>
                </a:solidFill>
                <a:latin typeface="Outfit"/>
              </a:rPr>
              <a:t> 2026</a:t>
            </a:r>
          </a:p>
        </p:txBody>
      </p:sp>
      <p:sp>
        <p:nvSpPr>
          <p:cNvPr id="30" name="Número"/>
          <p:cNvSpPr txBox="1"/>
          <p:nvPr/>
        </p:nvSpPr>
        <p:spPr>
          <a:xfrm>
            <a:off x="3657600" y="64282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Outfit"/>
              </a:rPr>
              <a:t>8</a:t>
            </a:r>
          </a:p>
        </p:txBody>
      </p:sp>
      <p:pic>
        <p:nvPicPr>
          <p:cNvPr id="2" name="Imagem 1" descr="Código QR&#10;&#10;O conteúdo gerado por IA pode estar incorreto.">
            <a:extLst>
              <a:ext uri="{FF2B5EF4-FFF2-40B4-BE49-F238E27FC236}">
                <a16:creationId xmlns:a16="http://schemas.microsoft.com/office/drawing/2014/main" id="{98F42D73-9A89-E855-A304-D5686C157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79" y="3705616"/>
            <a:ext cx="2066797" cy="20250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324C18DE-7FCD-8CEC-3430-43ACF9986505}"/>
              </a:ext>
            </a:extLst>
          </p:cNvPr>
          <p:cNvGrpSpPr/>
          <p:nvPr/>
        </p:nvGrpSpPr>
        <p:grpSpPr>
          <a:xfrm>
            <a:off x="0" y="481866"/>
            <a:ext cx="7132319" cy="851627"/>
            <a:chOff x="0" y="481866"/>
            <a:chExt cx="7132319" cy="851627"/>
          </a:xfrm>
        </p:grpSpPr>
        <p:sp>
          <p:nvSpPr>
            <p:cNvPr id="4" name="Rectangle 19">
              <a:extLst>
                <a:ext uri="{FF2B5EF4-FFF2-40B4-BE49-F238E27FC236}">
                  <a16:creationId xmlns:a16="http://schemas.microsoft.com/office/drawing/2014/main" id="{BD5D9359-6E04-F234-0D2F-57980607E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529" y="481866"/>
              <a:ext cx="6281927" cy="851627"/>
            </a:xfrm>
            <a:prstGeom prst="rect">
              <a:avLst/>
            </a:prstGeom>
            <a:solidFill>
              <a:srgbClr val="FC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E52334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5" name="Rectangle 18">
              <a:extLst>
                <a:ext uri="{FF2B5EF4-FFF2-40B4-BE49-F238E27FC236}">
                  <a16:creationId xmlns:a16="http://schemas.microsoft.com/office/drawing/2014/main" id="{9DBECE9E-543D-C539-101A-73D1D3CC6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1866"/>
              <a:ext cx="850529" cy="851627"/>
            </a:xfrm>
            <a:prstGeom prst="rect">
              <a:avLst/>
            </a:prstGeom>
            <a:solidFill>
              <a:srgbClr val="9F17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E52334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srgbClr val="E52334"/>
                </a:solidFill>
              </a:endParaRPr>
            </a:p>
          </p:txBody>
        </p:sp>
        <p:sp>
          <p:nvSpPr>
            <p:cNvPr id="6" name="Elipse 51">
              <a:extLst>
                <a:ext uri="{FF2B5EF4-FFF2-40B4-BE49-F238E27FC236}">
                  <a16:creationId xmlns:a16="http://schemas.microsoft.com/office/drawing/2014/main" id="{E95A8B8A-B027-1503-13A2-53DA245CBCC4}"/>
                </a:ext>
              </a:extLst>
            </p:cNvPr>
            <p:cNvSpPr/>
            <p:nvPr/>
          </p:nvSpPr>
          <p:spPr>
            <a:xfrm>
              <a:off x="117976" y="600391"/>
              <a:ext cx="614576" cy="6145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9F1727"/>
                </a:solidFill>
              </a:endParaRPr>
            </a:p>
          </p:txBody>
        </p:sp>
      </p:grpSp>
      <p:sp>
        <p:nvSpPr>
          <p:cNvPr id="7" name="Título"/>
          <p:cNvSpPr txBox="1"/>
          <p:nvPr/>
        </p:nvSpPr>
        <p:spPr>
          <a:xfrm>
            <a:off x="1051560" y="557784"/>
            <a:ext cx="5760720" cy="7040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>
                <a:solidFill>
                  <a:srgbClr val="9F1727"/>
                </a:solidFill>
                <a:latin typeface="Outfit Medium"/>
              </a:rPr>
              <a:t>Como funciona por dentro</a:t>
            </a:r>
          </a:p>
        </p:txBody>
      </p:sp>
      <p:sp>
        <p:nvSpPr>
          <p:cNvPr id="8" name="Google Shape;95;p1">
            <a:extLst>
              <a:ext uri="{FF2B5EF4-FFF2-40B4-BE49-F238E27FC236}">
                <a16:creationId xmlns:a16="http://schemas.microsoft.com/office/drawing/2014/main" id="{3596FD0A-B970-C337-D9D4-B24DA4356B3F}"/>
              </a:ext>
            </a:extLst>
          </p:cNvPr>
          <p:cNvSpPr/>
          <p:nvPr/>
        </p:nvSpPr>
        <p:spPr>
          <a:xfrm>
            <a:off x="11143859" y="327685"/>
            <a:ext cx="100013" cy="100013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sp>
        <p:nvSpPr>
          <p:cNvPr id="9" name="Google Shape;96;p1">
            <a:extLst>
              <a:ext uri="{FF2B5EF4-FFF2-40B4-BE49-F238E27FC236}">
                <a16:creationId xmlns:a16="http://schemas.microsoft.com/office/drawing/2014/main" id="{87B2C98F-7522-4186-BA65-035C70C09D80}"/>
              </a:ext>
            </a:extLst>
          </p:cNvPr>
          <p:cNvSpPr/>
          <p:nvPr/>
        </p:nvSpPr>
        <p:spPr>
          <a:xfrm>
            <a:off x="11398652" y="327685"/>
            <a:ext cx="100013" cy="100013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F1727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7;p1">
            <a:extLst>
              <a:ext uri="{FF2B5EF4-FFF2-40B4-BE49-F238E27FC236}">
                <a16:creationId xmlns:a16="http://schemas.microsoft.com/office/drawing/2014/main" id="{BE9DE5CF-0804-8216-D935-48216B941DAA}"/>
              </a:ext>
            </a:extLst>
          </p:cNvPr>
          <p:cNvSpPr/>
          <p:nvPr/>
        </p:nvSpPr>
        <p:spPr>
          <a:xfrm>
            <a:off x="11654872" y="327685"/>
            <a:ext cx="100013" cy="100013"/>
          </a:xfrm>
          <a:prstGeom prst="ellipse">
            <a:avLst/>
          </a:prstGeom>
          <a:solidFill>
            <a:srgbClr val="E523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F1727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pic>
        <p:nvPicPr>
          <p:cNvPr id="11" name="FoodJam wordmark" descr="FoodJa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5480" y="270000"/>
            <a:ext cx="1250000" cy="341314"/>
          </a:xfrm>
          <a:prstGeom prst="rect">
            <a:avLst/>
          </a:prstGeom>
        </p:spPr>
      </p:pic>
      <p:sp>
        <p:nvSpPr>
          <p:cNvPr id="12" name="Rounded Rectangle 128"/>
          <p:cNvSpPr/>
          <p:nvPr/>
        </p:nvSpPr>
        <p:spPr>
          <a:xfrm>
            <a:off x="777240" y="160020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C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100" b="1">
                <a:solidFill>
                  <a:srgbClr val="9F1727"/>
                </a:solidFill>
                <a:latin typeface="Outfit"/>
              </a:rPr>
              <a:t>APÊNDICE</a:t>
            </a:r>
          </a:p>
        </p:txBody>
      </p:sp>
      <p:sp>
        <p:nvSpPr>
          <p:cNvPr id="13" name="Rounded Rectangle 129"/>
          <p:cNvSpPr/>
          <p:nvPr/>
        </p:nvSpPr>
        <p:spPr>
          <a:xfrm>
            <a:off x="1508760" y="2148840"/>
            <a:ext cx="914400" cy="914400"/>
          </a:xfrm>
          <a:prstGeom prst="roundRect">
            <a:avLst>
              <a:gd name="adj" fmla="val 1350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FoodJam chat" descr="Ícone conversa">
            <a:extLst>
              <a:ext uri="{FF2B5EF4-FFF2-40B4-BE49-F238E27FC236}">
                <a16:creationId xmlns:a16="http://schemas.microsoft.com/office/drawing/2014/main" id="{CC8EFFFE-535C-E25D-04EC-544D34D79B46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1627631" y="2267712"/>
            <a:ext cx="676656" cy="67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2052"/>
          <p:cNvSpPr txBox="1"/>
          <p:nvPr/>
        </p:nvSpPr>
        <p:spPr>
          <a:xfrm>
            <a:off x="777240" y="31546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9F1727"/>
                </a:solidFill>
                <a:latin typeface="Outfit"/>
              </a:rPr>
              <a:t>Telegram</a:t>
            </a:r>
          </a:p>
        </p:txBody>
      </p:sp>
      <p:sp>
        <p:nvSpPr>
          <p:cNvPr id="16" name="TextBox 2053"/>
          <p:cNvSpPr txBox="1"/>
          <p:nvPr/>
        </p:nvSpPr>
        <p:spPr>
          <a:xfrm>
            <a:off x="777240" y="35204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382D30"/>
                </a:solidFill>
                <a:latin typeface="Outfit"/>
              </a:rPr>
              <a:t>grupo, botões e privado</a:t>
            </a:r>
          </a:p>
        </p:txBody>
      </p:sp>
      <p:sp>
        <p:nvSpPr>
          <p:cNvPr id="17" name="Right Arrow 2054"/>
          <p:cNvSpPr/>
          <p:nvPr/>
        </p:nvSpPr>
        <p:spPr>
          <a:xfrm>
            <a:off x="3154680" y="2468880"/>
            <a:ext cx="365760" cy="274320"/>
          </a:xfrm>
          <a:prstGeom prst="rightArrow">
            <a:avLst/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2055"/>
          <p:cNvSpPr/>
          <p:nvPr/>
        </p:nvSpPr>
        <p:spPr>
          <a:xfrm>
            <a:off x="4251960" y="2148840"/>
            <a:ext cx="914400" cy="914400"/>
          </a:xfrm>
          <a:prstGeom prst="roundRect">
            <a:avLst>
              <a:gd name="adj" fmla="val 13500"/>
            </a:avLst>
          </a:prstGeom>
          <a:solidFill>
            <a:srgbClr val="9F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FoodJam flow" descr="Ícone fluxo">
            <a:extLst>
              <a:ext uri="{FF2B5EF4-FFF2-40B4-BE49-F238E27FC236}">
                <a16:creationId xmlns:a16="http://schemas.microsoft.com/office/drawing/2014/main" id="{695A9F71-A5BE-2115-606D-C8C42C836064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auto">
          <a:xfrm>
            <a:off x="4370832" y="2267712"/>
            <a:ext cx="676656" cy="67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2058"/>
          <p:cNvSpPr txBox="1"/>
          <p:nvPr/>
        </p:nvSpPr>
        <p:spPr>
          <a:xfrm>
            <a:off x="3520440" y="31546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9F1727"/>
                </a:solidFill>
                <a:latin typeface="Outfit"/>
              </a:rPr>
              <a:t>Íris (core)</a:t>
            </a:r>
          </a:p>
        </p:txBody>
      </p:sp>
      <p:sp>
        <p:nvSpPr>
          <p:cNvPr id="21" name="TextBox 2059"/>
          <p:cNvSpPr txBox="1"/>
          <p:nvPr/>
        </p:nvSpPr>
        <p:spPr>
          <a:xfrm>
            <a:off x="3520440" y="35204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382D30"/>
                </a:solidFill>
                <a:latin typeface="Outfit"/>
              </a:rPr>
              <a:t>regras, sessão, rateio</a:t>
            </a:r>
          </a:p>
        </p:txBody>
      </p:sp>
      <p:sp>
        <p:nvSpPr>
          <p:cNvPr id="22" name="Right Arrow 2060"/>
          <p:cNvSpPr/>
          <p:nvPr/>
        </p:nvSpPr>
        <p:spPr>
          <a:xfrm>
            <a:off x="5897880" y="2468880"/>
            <a:ext cx="365760" cy="274320"/>
          </a:xfrm>
          <a:prstGeom prst="rightArrow">
            <a:avLst/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061"/>
          <p:cNvSpPr/>
          <p:nvPr/>
        </p:nvSpPr>
        <p:spPr>
          <a:xfrm>
            <a:off x="6995159" y="2148840"/>
            <a:ext cx="914400" cy="914400"/>
          </a:xfrm>
          <a:prstGeom prst="roundRect">
            <a:avLst>
              <a:gd name="adj" fmla="val 1350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FoodJam connect" descr="Ícone conexão">
            <a:extLst>
              <a:ext uri="{FF2B5EF4-FFF2-40B4-BE49-F238E27FC236}">
                <a16:creationId xmlns:a16="http://schemas.microsoft.com/office/drawing/2014/main" id="{E56476A7-4851-6EAD-6D61-E23D363E2F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4031" y="2267712"/>
            <a:ext cx="676656" cy="676656"/>
          </a:xfrm>
          <a:prstGeom prst="rect">
            <a:avLst/>
          </a:prstGeom>
        </p:spPr>
      </p:pic>
      <p:sp>
        <p:nvSpPr>
          <p:cNvPr id="25" name="TextBox 2062"/>
          <p:cNvSpPr txBox="1"/>
          <p:nvPr/>
        </p:nvSpPr>
        <p:spPr>
          <a:xfrm>
            <a:off x="6263640" y="31546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9F1727"/>
                </a:solidFill>
                <a:latin typeface="Outfit"/>
              </a:rPr>
              <a:t>MCP</a:t>
            </a:r>
          </a:p>
        </p:txBody>
      </p:sp>
      <p:sp>
        <p:nvSpPr>
          <p:cNvPr id="26" name="TextBox 2063"/>
          <p:cNvSpPr txBox="1"/>
          <p:nvPr/>
        </p:nvSpPr>
        <p:spPr>
          <a:xfrm>
            <a:off x="6263640" y="35204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382D30"/>
                </a:solidFill>
                <a:latin typeface="Outfit"/>
              </a:rPr>
              <a:t>integração oficial</a:t>
            </a:r>
          </a:p>
        </p:txBody>
      </p:sp>
      <p:sp>
        <p:nvSpPr>
          <p:cNvPr id="27" name="Right Arrow 2064"/>
          <p:cNvSpPr/>
          <p:nvPr/>
        </p:nvSpPr>
        <p:spPr>
          <a:xfrm>
            <a:off x="8641080" y="2468880"/>
            <a:ext cx="365760" cy="274320"/>
          </a:xfrm>
          <a:prstGeom prst="rightArrow">
            <a:avLst/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065"/>
          <p:cNvSpPr/>
          <p:nvPr/>
        </p:nvSpPr>
        <p:spPr>
          <a:xfrm>
            <a:off x="9738360" y="2148840"/>
            <a:ext cx="914400" cy="914400"/>
          </a:xfrm>
          <a:prstGeom prst="roundRect">
            <a:avLst>
              <a:gd name="adj" fmla="val 13500"/>
            </a:avLst>
          </a:prstGeom>
          <a:solidFill>
            <a:srgbClr val="E5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FoodJam plate" descr="Ícone catálogo de refeições">
            <a:extLst>
              <a:ext uri="{FF2B5EF4-FFF2-40B4-BE49-F238E27FC236}">
                <a16:creationId xmlns:a16="http://schemas.microsoft.com/office/drawing/2014/main" id="{2CE283A0-ED03-7C1D-3D52-95B7DBB8B40E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auto">
          <a:xfrm>
            <a:off x="9857232" y="2267712"/>
            <a:ext cx="676656" cy="67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066"/>
          <p:cNvSpPr txBox="1"/>
          <p:nvPr/>
        </p:nvSpPr>
        <p:spPr>
          <a:xfrm>
            <a:off x="9006840" y="31546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9F1727"/>
                </a:solidFill>
                <a:latin typeface="Outfit"/>
              </a:rPr>
              <a:t>iFood</a:t>
            </a:r>
          </a:p>
        </p:txBody>
      </p:sp>
      <p:sp>
        <p:nvSpPr>
          <p:cNvPr id="31" name="TextBox 2067"/>
          <p:cNvSpPr txBox="1"/>
          <p:nvPr/>
        </p:nvSpPr>
        <p:spPr>
          <a:xfrm>
            <a:off x="9006840" y="35204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382D30"/>
                </a:solidFill>
                <a:latin typeface="Outfit"/>
              </a:rPr>
              <a:t>lojas, cardápio, carrinho</a:t>
            </a:r>
          </a:p>
        </p:txBody>
      </p:sp>
      <p:sp>
        <p:nvSpPr>
          <p:cNvPr id="32" name="Rounded Rectangle 2068"/>
          <p:cNvSpPr/>
          <p:nvPr/>
        </p:nvSpPr>
        <p:spPr>
          <a:xfrm>
            <a:off x="777240" y="4206240"/>
            <a:ext cx="5212080" cy="1965960"/>
          </a:xfrm>
          <a:prstGeom prst="roundRect">
            <a:avLst>
              <a:gd name="adj" fmla="val 10000"/>
            </a:avLst>
          </a:prstGeom>
          <a:solidFill>
            <a:srgbClr val="FC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2069"/>
          <p:cNvSpPr txBox="1"/>
          <p:nvPr/>
        </p:nvSpPr>
        <p:spPr>
          <a:xfrm>
            <a:off x="1051560" y="438912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9F1727"/>
                </a:solidFill>
                <a:latin typeface="Outfit"/>
              </a:rPr>
              <a:t>O que a IA faz</a:t>
            </a:r>
          </a:p>
        </p:txBody>
      </p:sp>
      <p:sp>
        <p:nvSpPr>
          <p:cNvPr id="34" name="TextBox 2070"/>
          <p:cNvSpPr txBox="1"/>
          <p:nvPr/>
        </p:nvSpPr>
        <p:spPr>
          <a:xfrm>
            <a:off x="1051560" y="4864608"/>
            <a:ext cx="4663440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82D30"/>
                </a:solidFill>
                <a:latin typeface="Outfit"/>
              </a:rPr>
              <a:t>• </a:t>
            </a:r>
            <a:r>
              <a:rPr sz="1500" b="0" err="1">
                <a:solidFill>
                  <a:srgbClr val="382D30"/>
                </a:solidFill>
                <a:latin typeface="Outfit"/>
              </a:rPr>
              <a:t>Entende</a:t>
            </a:r>
            <a:r>
              <a:rPr sz="1500" b="0">
                <a:solidFill>
                  <a:srgbClr val="382D30"/>
                </a:solidFill>
                <a:latin typeface="Outfit"/>
              </a:rPr>
              <a:t> </a:t>
            </a:r>
            <a:r>
              <a:rPr sz="1500" b="0" err="1">
                <a:solidFill>
                  <a:srgbClr val="382D30"/>
                </a:solidFill>
                <a:latin typeface="Outfit"/>
              </a:rPr>
              <a:t>linguagem</a:t>
            </a:r>
            <a:r>
              <a:rPr sz="1500" b="0">
                <a:solidFill>
                  <a:srgbClr val="382D30"/>
                </a:solidFill>
                <a:latin typeface="Outfit"/>
              </a:rPr>
              <a:t> natural</a:t>
            </a:r>
            <a:r>
              <a:rPr lang="pt-BR" sz="1500">
                <a:solidFill>
                  <a:srgbClr val="382D30"/>
                </a:solidFill>
              </a:rPr>
              <a:t>,</a:t>
            </a:r>
            <a:r>
              <a:rPr lang="pt-BR" sz="1500" b="0">
                <a:solidFill>
                  <a:srgbClr val="382D30"/>
                </a:solidFill>
                <a:latin typeface="Outfit"/>
              </a:rPr>
              <a:t> </a:t>
            </a:r>
            <a:r>
              <a:rPr lang="pt-BR" sz="1500">
                <a:solidFill>
                  <a:srgbClr val="382D30"/>
                </a:solidFill>
              </a:rPr>
              <a:t>erros ortográficos e </a:t>
            </a:r>
            <a:r>
              <a:rPr sz="1500" b="0">
                <a:solidFill>
                  <a:srgbClr val="382D30"/>
                </a:solidFill>
                <a:latin typeface="Outfit"/>
              </a:rPr>
              <a:t>gírias</a:t>
            </a:r>
            <a:endParaRPr lang="pt-BR" sz="1500" b="0">
              <a:solidFill>
                <a:srgbClr val="382D30"/>
              </a:solidFill>
              <a:latin typeface="Outfit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82D30"/>
                </a:solidFill>
                <a:latin typeface="Outfit"/>
              </a:rPr>
              <a:t>• Diz se um item do </a:t>
            </a:r>
            <a:r>
              <a:rPr sz="1500" b="0" err="1">
                <a:solidFill>
                  <a:srgbClr val="382D30"/>
                </a:solidFill>
                <a:latin typeface="Outfit"/>
              </a:rPr>
              <a:t>cardápio</a:t>
            </a:r>
            <a:r>
              <a:rPr sz="1500" b="0">
                <a:solidFill>
                  <a:srgbClr val="382D30"/>
                </a:solidFill>
                <a:latin typeface="Outfit"/>
              </a:rPr>
              <a:t> </a:t>
            </a:r>
            <a:r>
              <a:rPr sz="1500" b="0" err="1">
                <a:solidFill>
                  <a:srgbClr val="382D30"/>
                </a:solidFill>
                <a:latin typeface="Outfit"/>
              </a:rPr>
              <a:t>atende</a:t>
            </a:r>
            <a:r>
              <a:rPr sz="1500" b="0">
                <a:solidFill>
                  <a:srgbClr val="382D30"/>
                </a:solidFill>
                <a:latin typeface="Outfit"/>
              </a:rPr>
              <a:t> o </a:t>
            </a:r>
            <a:r>
              <a:rPr sz="1500" b="0" err="1">
                <a:solidFill>
                  <a:srgbClr val="382D30"/>
                </a:solidFill>
                <a:latin typeface="Outfit"/>
              </a:rPr>
              <a:t>pedido</a:t>
            </a:r>
            <a:r>
              <a:rPr lang="pt-BR" sz="1500">
                <a:solidFill>
                  <a:srgbClr val="382D30"/>
                </a:solidFill>
              </a:rPr>
              <a:t> </a:t>
            </a:r>
            <a:endParaRPr sz="1500" b="0">
              <a:solidFill>
                <a:srgbClr val="382D30"/>
              </a:solidFill>
              <a:latin typeface="Outfit"/>
            </a:endParaR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82D30"/>
                </a:solidFill>
                <a:latin typeface="Outfit"/>
              </a:rPr>
              <a:t>• </a:t>
            </a:r>
            <a:r>
              <a:rPr sz="1500" b="0" err="1">
                <a:solidFill>
                  <a:srgbClr val="382D30"/>
                </a:solidFill>
                <a:latin typeface="Outfit"/>
              </a:rPr>
              <a:t>Escreve</a:t>
            </a:r>
            <a:r>
              <a:rPr sz="1500" b="0">
                <a:solidFill>
                  <a:srgbClr val="382D30"/>
                </a:solidFill>
                <a:latin typeface="Outfit"/>
              </a:rPr>
              <a:t> a </a:t>
            </a:r>
            <a:r>
              <a:rPr sz="1500" b="0" err="1">
                <a:solidFill>
                  <a:srgbClr val="382D30"/>
                </a:solidFill>
                <a:latin typeface="Outfit"/>
              </a:rPr>
              <a:t>justificativa</a:t>
            </a:r>
            <a:r>
              <a:rPr sz="1500" b="0">
                <a:solidFill>
                  <a:srgbClr val="382D30"/>
                </a:solidFill>
                <a:latin typeface="Outfit"/>
              </a:rPr>
              <a:t> da </a:t>
            </a:r>
            <a:r>
              <a:rPr sz="1500" b="0" err="1">
                <a:solidFill>
                  <a:srgbClr val="382D30"/>
                </a:solidFill>
                <a:latin typeface="Outfit"/>
              </a:rPr>
              <a:t>proposta</a:t>
            </a:r>
            <a:endParaRPr sz="1500" b="0">
              <a:solidFill>
                <a:srgbClr val="382D30"/>
              </a:solidFill>
              <a:latin typeface="Outfit"/>
            </a:endParaRPr>
          </a:p>
        </p:txBody>
      </p:sp>
      <p:sp>
        <p:nvSpPr>
          <p:cNvPr id="35" name="Rounded Rectangle 2071"/>
          <p:cNvSpPr/>
          <p:nvPr/>
        </p:nvSpPr>
        <p:spPr>
          <a:xfrm>
            <a:off x="6263640" y="4206240"/>
            <a:ext cx="5212080" cy="1965960"/>
          </a:xfrm>
          <a:prstGeom prst="roundRect">
            <a:avLst>
              <a:gd name="adj" fmla="val 10000"/>
            </a:avLst>
          </a:prstGeom>
          <a:solidFill>
            <a:srgbClr val="FC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2072"/>
          <p:cNvSpPr txBox="1"/>
          <p:nvPr/>
        </p:nvSpPr>
        <p:spPr>
          <a:xfrm>
            <a:off x="6537959" y="438912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9F1727"/>
                </a:solidFill>
                <a:latin typeface="Outfit"/>
              </a:rPr>
              <a:t>O que o código garante</a:t>
            </a:r>
          </a:p>
        </p:txBody>
      </p:sp>
      <p:sp>
        <p:nvSpPr>
          <p:cNvPr id="37" name="TextBox 2073"/>
          <p:cNvSpPr txBox="1"/>
          <p:nvPr/>
        </p:nvSpPr>
        <p:spPr>
          <a:xfrm>
            <a:off x="6537959" y="4864608"/>
            <a:ext cx="4663440" cy="7950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82D30"/>
                </a:solidFill>
                <a:latin typeface="Outfit"/>
              </a:rPr>
              <a:t>• </a:t>
            </a:r>
            <a:r>
              <a:rPr sz="1500" b="0" err="1">
                <a:solidFill>
                  <a:srgbClr val="382D30"/>
                </a:solidFill>
                <a:latin typeface="Outfit"/>
              </a:rPr>
              <a:t>Preços</a:t>
            </a:r>
            <a:r>
              <a:rPr sz="1500" b="0">
                <a:solidFill>
                  <a:srgbClr val="382D30"/>
                </a:solidFill>
                <a:latin typeface="Outfit"/>
              </a:rPr>
              <a:t>, </a:t>
            </a:r>
            <a:r>
              <a:rPr sz="1500" b="0" err="1">
                <a:solidFill>
                  <a:srgbClr val="382D30"/>
                </a:solidFill>
                <a:latin typeface="Outfit"/>
              </a:rPr>
              <a:t>rateio</a:t>
            </a:r>
            <a:r>
              <a:rPr sz="1500" b="0">
                <a:solidFill>
                  <a:srgbClr val="382D30"/>
                </a:solidFill>
                <a:latin typeface="Outfit"/>
              </a:rPr>
              <a:t> e taxas</a:t>
            </a:r>
            <a:r>
              <a:rPr lang="pt-BR" sz="1500">
                <a:solidFill>
                  <a:srgbClr val="382D30"/>
                </a:solidFill>
              </a:rPr>
              <a:t>,</a:t>
            </a:r>
            <a:r>
              <a:rPr sz="1500" b="0">
                <a:solidFill>
                  <a:srgbClr val="382D30"/>
                </a:solidFill>
                <a:latin typeface="Outfit"/>
              </a:rPr>
              <a:t> </a:t>
            </a:r>
            <a:r>
              <a:rPr sz="1500" b="0" err="1">
                <a:solidFill>
                  <a:srgbClr val="382D30"/>
                </a:solidFill>
                <a:latin typeface="Outfit"/>
              </a:rPr>
              <a:t>em</a:t>
            </a:r>
            <a:r>
              <a:rPr sz="1500" b="0">
                <a:solidFill>
                  <a:srgbClr val="382D30"/>
                </a:solidFill>
                <a:latin typeface="Outfit"/>
              </a:rPr>
              <a:t> centavos </a:t>
            </a:r>
            <a:r>
              <a:rPr sz="1500" b="0" err="1">
                <a:solidFill>
                  <a:srgbClr val="382D30"/>
                </a:solidFill>
                <a:latin typeface="Outfit"/>
              </a:rPr>
              <a:t>inteiros</a:t>
            </a:r>
            <a:endParaRPr lang="pt-BR" sz="1500" b="0" err="1">
              <a:solidFill>
                <a:srgbClr val="382D30"/>
              </a:solidFill>
              <a:latin typeface="Outfit"/>
            </a:endParaR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82D30"/>
                </a:solidFill>
                <a:latin typeface="Outfit"/>
              </a:rPr>
              <a:t>• </a:t>
            </a:r>
            <a:r>
              <a:rPr sz="1500" b="0" err="1">
                <a:solidFill>
                  <a:srgbClr val="382D30"/>
                </a:solidFill>
                <a:latin typeface="Outfit"/>
              </a:rPr>
              <a:t>Restrições</a:t>
            </a:r>
            <a:r>
              <a:rPr sz="1500" b="0">
                <a:solidFill>
                  <a:srgbClr val="382D30"/>
                </a:solidFill>
                <a:latin typeface="Outfit"/>
              </a:rPr>
              <a:t> </a:t>
            </a:r>
            <a:r>
              <a:rPr sz="1500" b="0" err="1">
                <a:solidFill>
                  <a:srgbClr val="382D30"/>
                </a:solidFill>
                <a:latin typeface="Outfit"/>
              </a:rPr>
              <a:t>alimentares</a:t>
            </a:r>
            <a:r>
              <a:rPr sz="1500" b="0">
                <a:solidFill>
                  <a:srgbClr val="382D30"/>
                </a:solidFill>
                <a:latin typeface="Outfit"/>
              </a:rPr>
              <a:t> e </a:t>
            </a:r>
            <a:r>
              <a:rPr sz="1500" b="0" err="1">
                <a:solidFill>
                  <a:srgbClr val="382D30"/>
                </a:solidFill>
                <a:latin typeface="Outfit"/>
              </a:rPr>
              <a:t>orçamento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82D30"/>
                </a:solidFill>
                <a:latin typeface="Outfit"/>
              </a:rPr>
              <a:t>• </a:t>
            </a:r>
            <a:r>
              <a:rPr sz="1500" b="0" err="1">
                <a:solidFill>
                  <a:srgbClr val="382D30"/>
                </a:solidFill>
                <a:latin typeface="Outfit"/>
              </a:rPr>
              <a:t>Autorização</a:t>
            </a:r>
            <a:r>
              <a:rPr sz="1500" b="0">
                <a:solidFill>
                  <a:srgbClr val="382D30"/>
                </a:solidFill>
                <a:latin typeface="Outfit"/>
              </a:rPr>
              <a:t> </a:t>
            </a:r>
            <a:r>
              <a:rPr sz="1500" b="0" err="1">
                <a:solidFill>
                  <a:srgbClr val="382D30"/>
                </a:solidFill>
                <a:latin typeface="Outfit"/>
              </a:rPr>
              <a:t>só</a:t>
            </a:r>
            <a:r>
              <a:rPr sz="1500" b="0">
                <a:solidFill>
                  <a:srgbClr val="382D30"/>
                </a:solidFill>
                <a:latin typeface="Outfit"/>
              </a:rPr>
              <a:t> </a:t>
            </a:r>
            <a:r>
              <a:rPr sz="1500" b="0" err="1">
                <a:solidFill>
                  <a:srgbClr val="382D30"/>
                </a:solidFill>
                <a:latin typeface="Outfit"/>
              </a:rPr>
              <a:t>pelo</a:t>
            </a:r>
            <a:r>
              <a:rPr sz="1500" b="0">
                <a:solidFill>
                  <a:srgbClr val="382D30"/>
                </a:solidFill>
                <a:latin typeface="Outfit"/>
              </a:rPr>
              <a:t> clique do </a:t>
            </a:r>
            <a:r>
              <a:rPr sz="1500" b="0" err="1">
                <a:solidFill>
                  <a:srgbClr val="382D30"/>
                </a:solidFill>
                <a:latin typeface="Outfit"/>
              </a:rPr>
              <a:t>organizador</a:t>
            </a:r>
          </a:p>
        </p:txBody>
      </p:sp>
      <p:sp>
        <p:nvSpPr>
          <p:cNvPr id="38" name="Rodapé"/>
          <p:cNvSpPr txBox="1"/>
          <p:nvPr/>
        </p:nvSpPr>
        <p:spPr>
          <a:xfrm>
            <a:off x="777240" y="642823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000">
                <a:solidFill>
                  <a:srgbClr val="9F1727"/>
                </a:solidFill>
              </a:rPr>
              <a:t>ÍRIS </a:t>
            </a:r>
            <a:r>
              <a:rPr sz="1000" b="0">
                <a:solidFill>
                  <a:srgbClr val="9F1727"/>
                </a:solidFill>
                <a:latin typeface="Outfit"/>
              </a:rPr>
              <a:t>· </a:t>
            </a:r>
            <a:r>
              <a:rPr lang="pt-BR" sz="1000" err="1">
                <a:solidFill>
                  <a:srgbClr val="9F1727"/>
                </a:solidFill>
              </a:rPr>
              <a:t>FOODJAM</a:t>
            </a:r>
            <a:r>
              <a:rPr lang="pt-BR" sz="1000">
                <a:solidFill>
                  <a:srgbClr val="9F1727"/>
                </a:solidFill>
              </a:rPr>
              <a:t> </a:t>
            </a:r>
            <a:r>
              <a:rPr sz="1000" b="0">
                <a:solidFill>
                  <a:srgbClr val="9F1727"/>
                </a:solidFill>
                <a:latin typeface="Outfit"/>
              </a:rPr>
              <a:t>· SEMCOMP × </a:t>
            </a:r>
            <a:r>
              <a:rPr lang="pt-BR" sz="1000" err="1">
                <a:solidFill>
                  <a:srgbClr val="9F1727"/>
                </a:solidFill>
              </a:rPr>
              <a:t>IFOOD</a:t>
            </a:r>
            <a:r>
              <a:rPr sz="1000" b="0">
                <a:solidFill>
                  <a:srgbClr val="9F1727"/>
                </a:solidFill>
                <a:latin typeface="Outfit"/>
              </a:rPr>
              <a:t> 2026</a:t>
            </a:r>
          </a:p>
        </p:txBody>
      </p:sp>
      <p:sp>
        <p:nvSpPr>
          <p:cNvPr id="39" name="Número"/>
          <p:cNvSpPr txBox="1"/>
          <p:nvPr/>
        </p:nvSpPr>
        <p:spPr>
          <a:xfrm>
            <a:off x="11292840" y="64282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9F1727"/>
                </a:solidFill>
                <a:latin typeface="Outfi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324C18DE-7FCD-8CEC-3430-43ACF9986505}"/>
              </a:ext>
            </a:extLst>
          </p:cNvPr>
          <p:cNvGrpSpPr/>
          <p:nvPr/>
        </p:nvGrpSpPr>
        <p:grpSpPr>
          <a:xfrm>
            <a:off x="0" y="481866"/>
            <a:ext cx="5760719" cy="851627"/>
            <a:chOff x="0" y="481866"/>
            <a:chExt cx="5760719" cy="851627"/>
          </a:xfrm>
        </p:grpSpPr>
        <p:sp>
          <p:nvSpPr>
            <p:cNvPr id="4" name="Rectangle 19">
              <a:extLst>
                <a:ext uri="{FF2B5EF4-FFF2-40B4-BE49-F238E27FC236}">
                  <a16:creationId xmlns:a16="http://schemas.microsoft.com/office/drawing/2014/main" id="{BD5D9359-6E04-F234-0D2F-57980607E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529" y="481866"/>
              <a:ext cx="4910327" cy="851627"/>
            </a:xfrm>
            <a:prstGeom prst="rect">
              <a:avLst/>
            </a:prstGeom>
            <a:solidFill>
              <a:srgbClr val="FC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E52334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5" name="Rectangle 18">
              <a:extLst>
                <a:ext uri="{FF2B5EF4-FFF2-40B4-BE49-F238E27FC236}">
                  <a16:creationId xmlns:a16="http://schemas.microsoft.com/office/drawing/2014/main" id="{9DBECE9E-543D-C539-101A-73D1D3CC6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1866"/>
              <a:ext cx="850529" cy="851627"/>
            </a:xfrm>
            <a:prstGeom prst="rect">
              <a:avLst/>
            </a:prstGeom>
            <a:solidFill>
              <a:srgbClr val="9F17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E52334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srgbClr val="E52334"/>
                </a:solidFill>
              </a:endParaRPr>
            </a:p>
          </p:txBody>
        </p:sp>
        <p:sp>
          <p:nvSpPr>
            <p:cNvPr id="6" name="Elipse 51">
              <a:extLst>
                <a:ext uri="{FF2B5EF4-FFF2-40B4-BE49-F238E27FC236}">
                  <a16:creationId xmlns:a16="http://schemas.microsoft.com/office/drawing/2014/main" id="{E95A8B8A-B027-1503-13A2-53DA245CBCC4}"/>
                </a:ext>
              </a:extLst>
            </p:cNvPr>
            <p:cNvSpPr/>
            <p:nvPr/>
          </p:nvSpPr>
          <p:spPr>
            <a:xfrm>
              <a:off x="117976" y="600391"/>
              <a:ext cx="614576" cy="6145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9F1727"/>
                </a:solidFill>
              </a:endParaRPr>
            </a:p>
          </p:txBody>
        </p:sp>
      </p:grpSp>
      <p:sp>
        <p:nvSpPr>
          <p:cNvPr id="7" name="Título"/>
          <p:cNvSpPr txBox="1"/>
          <p:nvPr/>
        </p:nvSpPr>
        <p:spPr>
          <a:xfrm>
            <a:off x="1051560" y="557784"/>
            <a:ext cx="4389120" cy="7040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>
                <a:solidFill>
                  <a:srgbClr val="9F1727"/>
                </a:solidFill>
                <a:latin typeface="Outfit Medium"/>
              </a:rPr>
              <a:t>Perguntas prováveis</a:t>
            </a:r>
          </a:p>
        </p:txBody>
      </p:sp>
      <p:sp>
        <p:nvSpPr>
          <p:cNvPr id="8" name="Google Shape;95;p1">
            <a:extLst>
              <a:ext uri="{FF2B5EF4-FFF2-40B4-BE49-F238E27FC236}">
                <a16:creationId xmlns:a16="http://schemas.microsoft.com/office/drawing/2014/main" id="{3596FD0A-B970-C337-D9D4-B24DA4356B3F}"/>
              </a:ext>
            </a:extLst>
          </p:cNvPr>
          <p:cNvSpPr/>
          <p:nvPr/>
        </p:nvSpPr>
        <p:spPr>
          <a:xfrm>
            <a:off x="11143859" y="327685"/>
            <a:ext cx="100013" cy="100013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sp>
        <p:nvSpPr>
          <p:cNvPr id="9" name="Google Shape;96;p1">
            <a:extLst>
              <a:ext uri="{FF2B5EF4-FFF2-40B4-BE49-F238E27FC236}">
                <a16:creationId xmlns:a16="http://schemas.microsoft.com/office/drawing/2014/main" id="{87B2C98F-7522-4186-BA65-035C70C09D80}"/>
              </a:ext>
            </a:extLst>
          </p:cNvPr>
          <p:cNvSpPr/>
          <p:nvPr/>
        </p:nvSpPr>
        <p:spPr>
          <a:xfrm>
            <a:off x="11398652" y="327685"/>
            <a:ext cx="100013" cy="100013"/>
          </a:xfrm>
          <a:prstGeom prst="ellipse">
            <a:avLst/>
          </a:prstGeom>
          <a:solidFill>
            <a:srgbClr val="9F1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F1727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7;p1">
            <a:extLst>
              <a:ext uri="{FF2B5EF4-FFF2-40B4-BE49-F238E27FC236}">
                <a16:creationId xmlns:a16="http://schemas.microsoft.com/office/drawing/2014/main" id="{BE9DE5CF-0804-8216-D935-48216B941DAA}"/>
              </a:ext>
            </a:extLst>
          </p:cNvPr>
          <p:cNvSpPr/>
          <p:nvPr/>
        </p:nvSpPr>
        <p:spPr>
          <a:xfrm>
            <a:off x="11654872" y="327685"/>
            <a:ext cx="100013" cy="100013"/>
          </a:xfrm>
          <a:prstGeom prst="ellipse">
            <a:avLst/>
          </a:prstGeom>
          <a:solidFill>
            <a:srgbClr val="E523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F1727"/>
              </a:solidFill>
              <a:latin typeface="Outfit"/>
              <a:ea typeface="Arial"/>
              <a:cs typeface="Arial"/>
              <a:sym typeface="Arial"/>
            </a:endParaRPr>
          </a:p>
        </p:txBody>
      </p:sp>
      <p:pic>
        <p:nvPicPr>
          <p:cNvPr id="11" name="FoodJam wordmark" descr="FoodJa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5480" y="270000"/>
            <a:ext cx="1250000" cy="341314"/>
          </a:xfrm>
          <a:prstGeom prst="rect">
            <a:avLst/>
          </a:prstGeom>
        </p:spPr>
      </p:pic>
      <p:sp>
        <p:nvSpPr>
          <p:cNvPr id="12" name="Rounded Rectangle 128"/>
          <p:cNvSpPr/>
          <p:nvPr/>
        </p:nvSpPr>
        <p:spPr>
          <a:xfrm>
            <a:off x="777240" y="160020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C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100" b="1">
                <a:solidFill>
                  <a:srgbClr val="9F1727"/>
                </a:solidFill>
                <a:latin typeface="Outfit"/>
              </a:rPr>
              <a:t>APÊNDICE</a:t>
            </a:r>
          </a:p>
        </p:txBody>
      </p:sp>
      <p:graphicFrame>
        <p:nvGraphicFramePr>
          <p:cNvPr id="13" name="Table 129"/>
          <p:cNvGraphicFramePr>
            <a:graphicFrameLocks noGrp="1"/>
          </p:cNvGraphicFramePr>
          <p:nvPr/>
        </p:nvGraphicFramePr>
        <p:xfrm>
          <a:off x="777240" y="2148840"/>
          <a:ext cx="10652760" cy="4014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Outfit"/>
                        </a:rPr>
                        <a:t>Pergunta</a:t>
                      </a:r>
                    </a:p>
                  </a:txBody>
                  <a:tcPr marL="137160" marR="137160" anchor="ctr">
                    <a:solidFill>
                      <a:srgbClr val="E523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Outfit"/>
                        </a:rPr>
                        <a:t>Resposta curta</a:t>
                      </a:r>
                    </a:p>
                  </a:txBody>
                  <a:tcPr marL="137160" marR="137160" anchor="ctr">
                    <a:solidFill>
                      <a:srgbClr val="E523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9F1727"/>
                          </a:solidFill>
                          <a:latin typeface="Outfit"/>
                        </a:rPr>
                        <a:t>E se a IA errar o preço?</a:t>
                      </a:r>
                    </a:p>
                  </a:txBody>
                  <a:tcPr marL="137160" marR="137160" anchor="ctr">
                    <a:solidFill>
                      <a:srgbClr val="FC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82D30"/>
                          </a:solidFill>
                          <a:latin typeface="Outfit"/>
                        </a:rPr>
                        <a:t>Ela não toca em preço. O preço vem do iFood pelo MCP, e a conta é feita em código, em centavos.</a:t>
                      </a:r>
                    </a:p>
                  </a:txBody>
                  <a:tcPr marL="137160" marR="137160" anchor="ctr">
                    <a:solidFill>
                      <a:srgbClr val="FC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9F1727"/>
                          </a:solidFill>
                          <a:latin typeface="Outfit"/>
                        </a:rPr>
                        <a:t>Quais ferramentas do MCP vocês usam?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82D30"/>
                          </a:solidFill>
                          <a:latin typeface="Outfit"/>
                        </a:rPr>
                        <a:t>Busca de ofertas, cardápio, item, criação de carrinho e métodos de entrega.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9F1727"/>
                          </a:solidFill>
                          <a:latin typeface="Outfit"/>
                        </a:rPr>
                        <a:t>E se o item acabar na hora?</a:t>
                      </a:r>
                    </a:p>
                  </a:txBody>
                  <a:tcPr marL="137160" marR="137160" anchor="ctr">
                    <a:solidFill>
                      <a:srgbClr val="FC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82D30"/>
                          </a:solidFill>
                          <a:latin typeface="Outfit"/>
                        </a:rPr>
                        <a:t>No clique de confirmar, a Íris consulta o iFood de novo e não fecha com dado velho.</a:t>
                      </a:r>
                    </a:p>
                  </a:txBody>
                  <a:tcPr marL="137160" marR="137160" anchor="ctr">
                    <a:solidFill>
                      <a:srgbClr val="FC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9F1727"/>
                          </a:solidFill>
                          <a:latin typeface="Outfit"/>
                        </a:rPr>
                        <a:t>Como a pessoa paga?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82D30"/>
                          </a:solidFill>
                          <a:latin typeface="Outfit"/>
                        </a:rPr>
                        <a:t>O carrinho fica pronto no iFood para o organizador pagar, com o rateio de cada um já calculado.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9F1727"/>
                          </a:solidFill>
                          <a:latin typeface="Outfit"/>
                        </a:rPr>
                        <a:t>Por que Telegram?</a:t>
                      </a:r>
                    </a:p>
                  </a:txBody>
                  <a:tcPr marL="137160" marR="137160" anchor="ctr">
                    <a:solidFill>
                      <a:srgbClr val="FC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82D30"/>
                          </a:solidFill>
                          <a:latin typeface="Outfit"/>
                        </a:rPr>
                        <a:t>Bots e botões nativos, sem aprovação. O canal é isolado: WhatsApp seria uma opção futura.</a:t>
                      </a:r>
                    </a:p>
                  </a:txBody>
                  <a:tcPr marL="137160" marR="137160" anchor="ctr">
                    <a:solidFill>
                      <a:srgbClr val="FC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9F1727"/>
                          </a:solidFill>
                          <a:latin typeface="Outfit"/>
                        </a:rPr>
                        <a:t>Custo com grupo grande?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82D30"/>
                          </a:solidFill>
                          <a:latin typeface="Outfit"/>
                        </a:rPr>
                        <a:t>Lote: dez pessoas falando juntas viram uma chamada, com 70% menos tokens.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Rodapé"/>
          <p:cNvSpPr txBox="1"/>
          <p:nvPr/>
        </p:nvSpPr>
        <p:spPr>
          <a:xfrm>
            <a:off x="777240" y="642823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000">
                <a:solidFill>
                  <a:srgbClr val="9F1727"/>
                </a:solidFill>
              </a:rPr>
              <a:t>ÍRIS </a:t>
            </a:r>
            <a:r>
              <a:rPr sz="1000" b="0">
                <a:solidFill>
                  <a:srgbClr val="9F1727"/>
                </a:solidFill>
                <a:latin typeface="Outfit"/>
              </a:rPr>
              <a:t>· </a:t>
            </a:r>
            <a:r>
              <a:rPr lang="pt-BR" sz="1000" err="1">
                <a:solidFill>
                  <a:srgbClr val="9F1727"/>
                </a:solidFill>
              </a:rPr>
              <a:t>FOODJAM</a:t>
            </a:r>
            <a:r>
              <a:rPr lang="pt-BR" sz="1000">
                <a:solidFill>
                  <a:srgbClr val="9F1727"/>
                </a:solidFill>
              </a:rPr>
              <a:t> </a:t>
            </a:r>
            <a:r>
              <a:rPr sz="1000" b="0">
                <a:solidFill>
                  <a:srgbClr val="9F1727"/>
                </a:solidFill>
                <a:latin typeface="Outfit"/>
              </a:rPr>
              <a:t>· SEMCOMP × </a:t>
            </a:r>
            <a:r>
              <a:rPr lang="pt-BR" sz="1000" err="1">
                <a:solidFill>
                  <a:srgbClr val="9F1727"/>
                </a:solidFill>
              </a:rPr>
              <a:t>IFOOD</a:t>
            </a:r>
            <a:r>
              <a:rPr sz="1000" b="0">
                <a:solidFill>
                  <a:srgbClr val="9F1727"/>
                </a:solidFill>
                <a:latin typeface="Outfit"/>
              </a:rPr>
              <a:t> 2026</a:t>
            </a:r>
          </a:p>
        </p:txBody>
      </p:sp>
      <p:sp>
        <p:nvSpPr>
          <p:cNvPr id="15" name="Número"/>
          <p:cNvSpPr txBox="1"/>
          <p:nvPr/>
        </p:nvSpPr>
        <p:spPr>
          <a:xfrm>
            <a:off x="11292840" y="64282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9F1727"/>
                </a:solidFill>
                <a:latin typeface="Outfit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9F1727"/>
      </a:dk2>
      <a:lt2>
        <a:srgbClr val="FFFFFF"/>
      </a:lt2>
      <a:accent1>
        <a:srgbClr val="9F1727"/>
      </a:accent1>
      <a:accent2>
        <a:srgbClr val="E52334"/>
      </a:accent2>
      <a:accent3>
        <a:srgbClr val="FFFFFF"/>
      </a:accent3>
      <a:accent4>
        <a:srgbClr val="E52334"/>
      </a:accent4>
      <a:accent5>
        <a:srgbClr val="E52334"/>
      </a:accent5>
      <a:accent6>
        <a:srgbClr val="9F1727"/>
      </a:accent6>
      <a:hlink>
        <a:srgbClr val="9F1727"/>
      </a:hlink>
      <a:folHlink>
        <a:srgbClr val="E52334"/>
      </a:folHlink>
    </a:clrScheme>
    <a:fontScheme name="Office">
      <a:majorFont>
        <a:latin typeface="Outfi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utfi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9F1727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9F1727"/>
      </a:dk2>
      <a:lt2>
        <a:srgbClr val="FFFFFF"/>
      </a:lt2>
      <a:accent1>
        <a:srgbClr val="9F1727"/>
      </a:accent1>
      <a:accent2>
        <a:srgbClr val="E52334"/>
      </a:accent2>
      <a:accent3>
        <a:srgbClr val="FFFFFF"/>
      </a:accent3>
      <a:accent4>
        <a:srgbClr val="E52334"/>
      </a:accent4>
      <a:accent5>
        <a:srgbClr val="E52334"/>
      </a:accent5>
      <a:accent6>
        <a:srgbClr val="9F1727"/>
      </a:accent6>
      <a:hlink>
        <a:srgbClr val="9F1727"/>
      </a:hlink>
      <a:folHlink>
        <a:srgbClr val="E52334"/>
      </a:folHlink>
    </a:clrScheme>
    <a:fontScheme name="Office">
      <a:majorFont>
        <a:latin typeface="Outfi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utfi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9F1727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rayane silva</dc:creator>
  <cp:revision>19</cp:revision>
  <dcterms:created xsi:type="dcterms:W3CDTF">2025-04-29T14:16:03Z</dcterms:created>
  <dcterms:modified xsi:type="dcterms:W3CDTF">2026-10-18T15:06:21Z</dcterms:modified>
</cp:coreProperties>
</file>